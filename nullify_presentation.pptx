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morning, judges. Today we present NULLIFY, developed in partnership with EGATE Cybersecurity.</a:t>
            </a:r>
          </a:p>
          <a:p>
            <a:r>
              <a:t>Our mission is simple: 'See it. Trace it. Nullify it.'</a:t>
            </a:r>
          </a:p>
          <a:p>
            <a:r>
              <a:t>In modern cybersecurity, speed is everything. By the time a traditional security tool opens a file and spins up a sandbox, the damage is already done.</a:t>
            </a:r>
          </a:p>
          <a:p>
            <a:r>
              <a:t>Nullify combines the raw speed of native C code with six autonomous AI agents. It catches zero-day malware and writes ready-to-use defense rules in under 15 milliseconds.</a:t>
            </a:r>
          </a:p>
          <a:p>
            <a:r>
              <a:t>Let's start by introducing the vision behind EGATE and Nullify.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this slide, we introduce our brand identity: EGATE and Nullify.</a:t>
            </a:r>
          </a:p>
          <a:p>
            <a:r>
              <a:t>The EGATE logo represents the secure perimeter gateway. In a zero-trust organization, no binary runs until the gateway inspects it.</a:t>
            </a:r>
          </a:p>
          <a:p>
            <a:r>
              <a:t>Nullify is the autonomous algorithmic engine inside the gateway. It exists to reduce the threat dwell time to zero.</a:t>
            </a:r>
          </a:p>
          <a:p>
            <a:r>
              <a:t>Our design uses emerald green for active health and obsidian charcoal for air-gapped privacy.</a:t>
            </a:r>
          </a:p>
          <a:p>
            <a:r>
              <a:t>Now let's examine the acute problem modern security teams 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security team faces three huge problems today:</a:t>
            </a:r>
          </a:p>
          <a:p>
            <a:r>
              <a:t>1. New malware is invisible: 450,000 variants a day make static hashes obsolete.</a:t>
            </a:r>
          </a:p>
          <a:p>
            <a:r>
              <a:t>2. Sandboxes take 15 minutes to run a single test. Real-time traffic can't wait that long.</a:t>
            </a:r>
          </a:p>
          <a:p>
            <a:r>
              <a:t>3. Most modern tools use Python, which locks up and crashes under heavy traffic.</a:t>
            </a:r>
          </a:p>
          <a:p>
            <a:r>
              <a:t>Nullify changes this completely.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how Nullify works:</a:t>
            </a:r>
          </a:p>
          <a:p>
            <a:r>
              <a:t>1. It is fast: We moved the heavy lifting to pure C. It analyzes files in under 15 milliseconds.</a:t>
            </a:r>
          </a:p>
          <a:p>
            <a:r>
              <a:t>2. It is accurate: Six focused AI agents collaborate to trace the file's behavior.</a:t>
            </a:r>
          </a:p>
          <a:p>
            <a:r>
              <a:t>3. It takes action: It writes ready-to-deploy defense rules immediately.</a:t>
            </a:r>
          </a:p>
          <a:p>
            <a:r>
              <a:t>No waiting 15 minutes for a sandbox. No leaking sensitive files to cloud APIs.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Notice how our agents are structured:</a:t>
            </a:r>
          </a:p>
          <a:p>
            <a:r>
              <a:t>Stage 1 handles raw speed: Triage and Static Analysis run in native C code. They take less than a millisecond to dissect headers, hashes, and imports.</a:t>
            </a:r>
          </a:p>
          <a:p>
            <a:r>
              <a:t>Stage 2 handles intelligence: Behavioral analysis, 2,381-feature machine learning, human-readable reasoning, and automatic YARA rule generation.</a:t>
            </a:r>
          </a:p>
          <a:p>
            <a:r>
              <a:t>Each agent does one job perfectly, connected in a collaborative intelligence mesh.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is Nullify so fast? Because we identified the slowest parts of Python security tools and rewrote them in native C.</a:t>
            </a:r>
          </a:p>
          <a:p>
            <a:r>
              <a:t>- Parsing Windows PE imports used to take 50 milliseconds. In C, it takes 0.1 milliseconds. That is over 500x faster.</a:t>
            </a:r>
          </a:p>
          <a:p>
            <a:r>
              <a:t>- Pattern scanning is 18x faster.</a:t>
            </a:r>
          </a:p>
          <a:p>
            <a:r>
              <a:t>- Concurrent file hashing is 8x faster.</a:t>
            </a:r>
          </a:p>
          <a:p>
            <a:r>
              <a:t>And we built it with zero external C dependencies — no OpenSSL link issues, no memory leaks.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lot of security AI projects use large language models that make uncalibrated guesses.</a:t>
            </a:r>
          </a:p>
          <a:p>
            <a:r>
              <a:t>Nullify uses proven gradient-boosted trees trained on 1.1 million files from the EMBER benchmark.</a:t>
            </a:r>
          </a:p>
          <a:p>
            <a:r>
              <a:t>We look at 2,381 structural features. And we engineered a specific Linux guard so non-Windows binaries never trigger false positives.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Telling an analyst 'this file is bad' is only half the job.</a:t>
            </a:r>
          </a:p>
          <a:p>
            <a:r>
              <a:t>Nullify explains why: it maps the threat to MITRE ATT&amp;CK tactics.</a:t>
            </a:r>
          </a:p>
          <a:p>
            <a:r>
              <a:t>And then it writes the actual YARA rule shown on screen.</a:t>
            </a:r>
          </a:p>
          <a:p>
            <a:r>
              <a:t>You can copy this rule and deploy it to your firewalls and endpoints in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Look at the numbers on screen:</a:t>
            </a:r>
          </a:p>
          <a:p>
            <a:r>
              <a:t>A cloud sandbox takes 15 minutes.</a:t>
            </a:r>
          </a:p>
          <a:p>
            <a:r>
              <a:t>Standard Python tools take 85 milliseconds and crash under load.</a:t>
            </a:r>
          </a:p>
          <a:p>
            <a:r>
              <a:t>Traditional antivirus is fast, but blind to new malware.</a:t>
            </a:r>
          </a:p>
          <a:p>
            <a:r>
              <a:t>Nullify gives you the best of both: 13.2 millisecond speed, zero-day machine learning, and automated YARA rules.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built Nullify with two clean interfaces:</a:t>
            </a:r>
          </a:p>
          <a:p>
            <a:r>
              <a:t>On the left: A modern web console running at localhost:8000. Drag and drop any file, see live confidence scores, and copy YARA rules.</a:t>
            </a:r>
          </a:p>
          <a:p>
            <a:r>
              <a:t>On the right: A single-command terminal interface. Just type 'nullify' with no confusing arguments, and an interactive menu guides you through scanning.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enterprise security, data privacy is non-negotiable.</a:t>
            </a:r>
          </a:p>
          <a:p>
            <a:r>
              <a:t>When companies send files to VirusTotal or cloud sandboxes, proprietary source code and intellectual property leak out.</a:t>
            </a:r>
          </a:p>
          <a:p>
            <a:r>
              <a:t>Nullify runs 100% on-premise. It works in air-gapped environments with zero internet access, and connects easily to Splunk or Microsoft Sentinel via our REST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conclusion: Nullify is not a mock-up or a slide concept. It is a live, working, tested system.</a:t>
            </a:r>
          </a:p>
          <a:p>
            <a:r>
              <a:t>We invite the judges right now to give us any sample — a trojan, ransomware, or a safe binary — and watch Nullify classify it and generate defense rules live on screen.</a:t>
            </a:r>
          </a:p>
          <a:p>
            <a:r>
              <a:t>Thank you, and we welcome your questions!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1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48640"/>
            <a:ext cx="11094415" cy="5760720"/>
          </a:xfrm>
          <a:prstGeom prst="roundRect">
            <a:avLst/>
          </a:prstGeom>
          <a:solidFill>
            <a:srgbClr val="14110D"/>
          </a:solidFill>
          <a:ln w="19050">
            <a:solidFill>
              <a:srgbClr val="322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05840" y="914400"/>
            <a:ext cx="2194560" cy="822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gate_logo_cropp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960120"/>
            <a:ext cx="2011680" cy="165827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337560" y="1143000"/>
            <a:ext cx="2377440" cy="365760"/>
          </a:xfrm>
          <a:prstGeom prst="roundRect">
            <a:avLst/>
          </a:prstGeom>
          <a:solidFill>
            <a:srgbClr val="1F1A14"/>
          </a:solidFill>
          <a:ln w="12700">
            <a:solidFill>
              <a:srgbClr val="322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10B981"/>
                </a:solidFill>
                <a:latin typeface="Consolas"/>
              </a:defRPr>
            </a:pPr>
            <a:r>
              <a:t>●  EGATE CYBERSECURITY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52160" y="1143000"/>
            <a:ext cx="2011680" cy="365760"/>
          </a:xfrm>
          <a:prstGeom prst="roundRect">
            <a:avLst/>
          </a:prstGeom>
          <a:solidFill>
            <a:srgbClr val="1F1A14"/>
          </a:solidFill>
          <a:ln w="12700">
            <a:solidFill>
              <a:srgbClr val="322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BFB9AF"/>
                </a:solidFill>
                <a:latin typeface="Consolas"/>
              </a:defRPr>
            </a:pPr>
            <a:r>
              <a:t>PROJECT NULLIFY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011680"/>
            <a:ext cx="548640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5000" b="1">
                <a:solidFill>
                  <a:srgbClr val="FAF8F5"/>
                </a:solidFill>
                <a:latin typeface="Georgia"/>
              </a:defRPr>
            </a:pPr>
            <a:r>
              <a:t>See it. Trace it.</a:t>
            </a:r>
          </a:p>
          <a:p>
            <a:pPr>
              <a:defRPr i="1" sz="5000" b="1">
                <a:solidFill>
                  <a:srgbClr val="10B981"/>
                </a:solidFill>
                <a:latin typeface="Georgia"/>
              </a:defRPr>
            </a:pPr>
            <a:r>
              <a:t>Nullify it.</a:t>
            </a:r>
          </a:p>
          <a:p>
            <a:pPr>
              <a:spcBef>
                <a:spcPts val="1400"/>
              </a:spcBef>
              <a:defRPr sz="1700">
                <a:solidFill>
                  <a:srgbClr val="BFB9AF"/>
                </a:solidFill>
                <a:latin typeface="Segoe UI"/>
              </a:defRPr>
            </a:pPr>
            <a:r>
              <a:t>Autonomous AI Threat Defense — From Detection to Immunity in Under 15 Milliseconds.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4846320"/>
            <a:ext cx="1783080" cy="594360"/>
          </a:xfrm>
          <a:prstGeom prst="roundRect">
            <a:avLst/>
          </a:prstGeom>
          <a:solidFill>
            <a:srgbClr val="1F1A14"/>
          </a:solidFill>
          <a:ln w="12700">
            <a:solidFill>
              <a:srgbClr val="322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AF8F5"/>
                </a:solidFill>
                <a:latin typeface="Consolas"/>
              </a:defRPr>
            </a:pPr>
            <a:r>
              <a:t>[ 01 // CORE ]</a:t>
            </a:r>
            <a:br/>
            <a:r>
              <a:t>15ms Native C Engine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80360" y="4846320"/>
            <a:ext cx="1783080" cy="594360"/>
          </a:xfrm>
          <a:prstGeom prst="roundRect">
            <a:avLst/>
          </a:prstGeom>
          <a:solidFill>
            <a:srgbClr val="1F1A14"/>
          </a:solidFill>
          <a:ln w="12700">
            <a:solidFill>
              <a:srgbClr val="322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AF8F5"/>
                </a:solidFill>
                <a:latin typeface="Consolas"/>
              </a:defRPr>
            </a:pPr>
            <a:r>
              <a:t>[ 02 // MESH ]</a:t>
            </a:r>
            <a:br/>
            <a:r>
              <a:t>6 Collaborative AI Agents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79" y="4846320"/>
            <a:ext cx="1783080" cy="594360"/>
          </a:xfrm>
          <a:prstGeom prst="roundRect">
            <a:avLst/>
          </a:prstGeom>
          <a:solidFill>
            <a:srgbClr val="1F1A14"/>
          </a:solidFill>
          <a:ln w="12700">
            <a:solidFill>
              <a:srgbClr val="322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AF8F5"/>
                </a:solidFill>
                <a:latin typeface="Consolas"/>
              </a:defRPr>
            </a:pPr>
            <a:r>
              <a:t>[ 03 // YARA ]</a:t>
            </a:r>
            <a:br/>
            <a:r>
              <a:t>Instant Enterprise Rules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0" y="1005840"/>
            <a:ext cx="4572000" cy="4526280"/>
          </a:xfrm>
          <a:prstGeom prst="roundRect">
            <a:avLst/>
          </a:prstGeom>
          <a:solidFill>
            <a:srgbClr val="1F1A14"/>
          </a:solidFill>
          <a:ln w="12700">
            <a:solidFill>
              <a:srgbClr val="322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yber_shield_co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1097280"/>
            <a:ext cx="4389120" cy="2449741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822960" y="6263640"/>
            <a:ext cx="10545775" cy="9525"/>
          </a:xfrm>
          <a:prstGeom prst="rect">
            <a:avLst/>
          </a:prstGeom>
          <a:solidFill>
            <a:srgbClr val="322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27648"/>
            <a:ext cx="10545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50">
                <a:solidFill>
                  <a:srgbClr val="7D776E"/>
                </a:solidFill>
                <a:latin typeface="Consolas"/>
              </a:rPr>
              <a:t>EGATE  ●  NULLIFY AUTONOMOUS DEFENSE</a:t>
            </a:r>
            <a:r>
              <a:rPr i="1" sz="1000">
                <a:solidFill>
                  <a:srgbClr val="BFB9AF"/>
                </a:solidFill>
                <a:latin typeface="Georgia"/>
              </a:rPr>
              <a:t>                               See it. Trace it. Nullify it.                               </a:t>
            </a:r>
            <a:r>
              <a:rPr sz="950">
                <a:solidFill>
                  <a:srgbClr val="7D776E"/>
                </a:solidFill>
                <a:latin typeface="Consolas"/>
              </a:rPr>
              <a:t>01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Consolas"/>
              </a:defRPr>
            </a:pPr>
            <a:r>
              <a:t>●  BRAND IDENTITY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14110D"/>
                </a:solidFill>
                <a:latin typeface="Georgia"/>
              </a:defRPr>
            </a:pPr>
            <a:r>
              <a:t>EGATE &amp; Nullify: Built for Sovereign Security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645920"/>
            <a:ext cx="438912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gat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011680"/>
            <a:ext cx="3657600" cy="28284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7280" y="5120640"/>
            <a:ext cx="3840480" cy="7315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100" b="1">
                <a:solidFill>
                  <a:srgbClr val="059669"/>
                </a:solidFill>
                <a:latin typeface="Consolas"/>
              </a:defRPr>
            </a:pPr>
            <a:r>
              <a:t>EGATE CYBERSECURITY GATEWAY</a:t>
            </a:r>
          </a:p>
          <a:p>
            <a:pPr algn="ctr">
              <a:defRPr sz="1050">
                <a:solidFill>
                  <a:srgbClr val="555048"/>
                </a:solidFill>
                <a:latin typeface="Segoe UI"/>
              </a:defRPr>
            </a:pPr>
            <a:r>
              <a:t>Next-Generation Autonomous Threat Defense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645920"/>
            <a:ext cx="5882335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06440" y="1920240"/>
            <a:ext cx="525780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50" b="1">
                <a:solidFill>
                  <a:srgbClr val="14110D"/>
                </a:solidFill>
                <a:latin typeface="Segoe UI"/>
              </a:defRPr>
            </a:pPr>
            <a:r>
              <a:t>[ 01 ]  THE GATEWAY: EGATE</a:t>
            </a:r>
          </a:p>
          <a:p>
            <a:pPr>
              <a:spcBef>
                <a:spcPts val="400"/>
              </a:spcBef>
              <a:defRPr sz="1300">
                <a:solidFill>
                  <a:srgbClr val="555048"/>
                </a:solidFill>
                <a:latin typeface="Segoe UI"/>
              </a:defRPr>
            </a:pPr>
            <a:r>
              <a:t>The zero-trust gatekeeper standing at the network perimeter. Every executable, script, and document must pass through the EGATE before execution is permitted.</a:t>
            </a:r>
          </a:p>
          <a:p>
            <a:pPr>
              <a:spcBef>
                <a:spcPts val="1800"/>
              </a:spcBef>
              <a:defRPr sz="1550" b="1">
                <a:solidFill>
                  <a:srgbClr val="14110D"/>
                </a:solidFill>
                <a:latin typeface="Segoe UI"/>
              </a:defRPr>
            </a:pPr>
            <a:r>
              <a:t>[ 02 ]  THE ENGINE: NULLIFY</a:t>
            </a:r>
          </a:p>
          <a:p>
            <a:pPr>
              <a:spcBef>
                <a:spcPts val="400"/>
              </a:spcBef>
              <a:defRPr sz="1300">
                <a:solidFill>
                  <a:srgbClr val="555048"/>
                </a:solidFill>
                <a:latin typeface="Segoe UI"/>
              </a:defRPr>
            </a:pPr>
            <a:r>
              <a:t>The autonomous algorithmic brain. Built to reduce threat dwell time, attacker lateral movement, and incident triage latency to absolute zero (Nullify).</a:t>
            </a:r>
          </a:p>
          <a:p>
            <a:pPr>
              <a:spcBef>
                <a:spcPts val="1800"/>
              </a:spcBef>
              <a:defRPr sz="1550" b="1">
                <a:solidFill>
                  <a:srgbClr val="14110D"/>
                </a:solidFill>
                <a:latin typeface="Segoe UI"/>
              </a:defRPr>
            </a:pPr>
            <a:r>
              <a:t>[ 03 ]  THE VISUAL SYMBOLOGY</a:t>
            </a:r>
          </a:p>
          <a:p>
            <a:pPr>
              <a:spcBef>
                <a:spcPts val="400"/>
              </a:spcBef>
              <a:defRPr sz="1300">
                <a:solidFill>
                  <a:srgbClr val="555048"/>
                </a:solidFill>
                <a:latin typeface="Segoe UI"/>
              </a:defRPr>
            </a:pPr>
            <a:r>
              <a:t>Emerald Green represents active immunity and verified execution health. Obsidian Charcoal represents air-gapped sovereign privacy. Clean geometry represents mathematical certainty across 2,381 feature dimensions.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63640"/>
            <a:ext cx="10545775" cy="9525"/>
          </a:xfrm>
          <a:prstGeom prst="rect">
            <a:avLst/>
          </a:prstGeom>
          <a:solidFill>
            <a:srgbClr val="E2DC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27648"/>
            <a:ext cx="10545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50">
                <a:solidFill>
                  <a:srgbClr val="827C73"/>
                </a:solidFill>
                <a:latin typeface="Consolas"/>
              </a:rPr>
              <a:t>EGATE  ●  NULLIFY AUTONOMOUS DEFENSE</a:t>
            </a:r>
            <a:r>
              <a:rPr i="1" sz="1000">
                <a:solidFill>
                  <a:srgbClr val="555048"/>
                </a:solidFill>
                <a:latin typeface="Georgia"/>
              </a:rPr>
              <a:t>                               See it. Trace it. Nullify it.                               </a:t>
            </a:r>
            <a:r>
              <a:rPr sz="950">
                <a:solidFill>
                  <a:srgbClr val="827C73"/>
                </a:solidFill>
                <a:latin typeface="Consolas"/>
              </a:rPr>
              <a:t>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Consolas"/>
              </a:defRPr>
            </a:pPr>
            <a:r>
              <a:t>●  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14110D"/>
                </a:solidFill>
                <a:latin typeface="Georgia"/>
              </a:defRPr>
            </a:pPr>
            <a:r>
              <a:t>Traditional Antivirus Can't Keep 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645920"/>
            <a:ext cx="338328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97280" y="1874519"/>
            <a:ext cx="2011680" cy="320040"/>
          </a:xfrm>
          <a:prstGeom prst="round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DC2626"/>
                </a:solidFill>
                <a:latin typeface="Consolas"/>
              </a:defRPr>
            </a:pPr>
            <a:r>
              <a:t>[ CHALLENGE 01 ]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331720"/>
            <a:ext cx="283464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14110D"/>
                </a:solidFill>
                <a:latin typeface="Segoe UI"/>
              </a:defRPr>
            </a:pPr>
            <a:r>
              <a:t>New Malware is Invisible</a:t>
            </a:r>
          </a:p>
          <a:p>
            <a:pPr>
              <a:spcBef>
                <a:spcPts val="800"/>
              </a:spcBef>
              <a:defRPr sz="1350">
                <a:solidFill>
                  <a:srgbClr val="555048"/>
                </a:solidFill>
                <a:latin typeface="Segoe UI"/>
              </a:defRPr>
            </a:pPr>
            <a:r>
              <a:t>Traditional antivirus checks for known hashes. But attackers constantly change their code, so signature blacklists fail on day one.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4754880"/>
            <a:ext cx="2834640" cy="347472"/>
          </a:xfrm>
          <a:prstGeom prst="round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DC2626"/>
                </a:solidFill>
                <a:latin typeface="Consolas"/>
              </a:defRPr>
            </a:pPr>
            <a:r>
              <a:t>450,000+ new attacks every day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645920"/>
            <a:ext cx="338328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709160" y="1874519"/>
            <a:ext cx="2011680" cy="320040"/>
          </a:xfrm>
          <a:prstGeom prst="round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D97706"/>
                </a:solidFill>
                <a:latin typeface="Consolas"/>
              </a:defRPr>
            </a:pPr>
            <a:r>
              <a:t>[ CHALLENGE 02 ]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2331720"/>
            <a:ext cx="283464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14110D"/>
                </a:solidFill>
                <a:latin typeface="Segoe UI"/>
              </a:defRPr>
            </a:pPr>
            <a:r>
              <a:t>Sandboxes are Too Slow</a:t>
            </a:r>
          </a:p>
          <a:p>
            <a:pPr>
              <a:spcBef>
                <a:spcPts val="800"/>
              </a:spcBef>
              <a:defRPr sz="1350">
                <a:solidFill>
                  <a:srgbClr val="555048"/>
                </a:solidFill>
                <a:latin typeface="Segoe UI"/>
              </a:defRPr>
            </a:pPr>
            <a:r>
              <a:t>Testing a file in a virtual machine takes 5 to 15 minutes. Firewalls and email filters cannot put live traffic on hold that long.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09160" y="4754880"/>
            <a:ext cx="2834640" cy="347472"/>
          </a:xfrm>
          <a:prstGeom prst="round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D97706"/>
                </a:solidFill>
                <a:latin typeface="Consolas"/>
              </a:defRPr>
            </a:pPr>
            <a:r>
              <a:t>15-minute delay is dangerous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38328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321040" y="1874519"/>
            <a:ext cx="2011680" cy="320040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2563EB"/>
                </a:solidFill>
                <a:latin typeface="Consolas"/>
              </a:defRPr>
            </a:pPr>
            <a:r>
              <a:t>[ CHALLENGE 03 ]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331720"/>
            <a:ext cx="283464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14110D"/>
                </a:solidFill>
                <a:latin typeface="Segoe UI"/>
              </a:defRPr>
            </a:pPr>
            <a:r>
              <a:t>Security Tools Crash</a:t>
            </a:r>
          </a:p>
          <a:p>
            <a:pPr>
              <a:spcBef>
                <a:spcPts val="800"/>
              </a:spcBef>
              <a:defRPr sz="1350">
                <a:solidFill>
                  <a:srgbClr val="555048"/>
                </a:solidFill>
                <a:latin typeface="Segoe UI"/>
              </a:defRPr>
            </a:pPr>
            <a:r>
              <a:t>Most open-source security tools are written in Python. When thousands of files hit at once, they lag, freeze, and run out of memory.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4754880"/>
            <a:ext cx="2834640" cy="347472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2563EB"/>
                </a:solidFill>
                <a:latin typeface="Consolas"/>
              </a:defRPr>
            </a:pPr>
            <a:r>
              <a:t>Python runtime memory bottlenecks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486400"/>
            <a:ext cx="10545775" cy="594360"/>
          </a:xfrm>
          <a:prstGeom prst="roundRect">
            <a:avLst/>
          </a:prstGeom>
          <a:solidFill>
            <a:srgbClr val="F5F1EA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596128"/>
            <a:ext cx="10058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b="1" sz="1200">
                <a:solidFill>
                  <a:srgbClr val="DC2626"/>
                </a:solidFill>
                <a:latin typeface="Consolas"/>
              </a:rPr>
              <a:t>THE REALITY: </a:t>
            </a:r>
            <a:r>
              <a:rPr sz="1350">
                <a:solidFill>
                  <a:srgbClr val="14110D"/>
                </a:solidFill>
                <a:latin typeface="Segoe UI"/>
              </a:rPr>
              <a:t>Organizations are forced to choose between fast but blind antivirus, or slow 15-minute sandboxes.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6263640"/>
            <a:ext cx="10545775" cy="9525"/>
          </a:xfrm>
          <a:prstGeom prst="rect">
            <a:avLst/>
          </a:prstGeom>
          <a:solidFill>
            <a:srgbClr val="E2DC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6327648"/>
            <a:ext cx="10545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50">
                <a:solidFill>
                  <a:srgbClr val="827C73"/>
                </a:solidFill>
                <a:latin typeface="Consolas"/>
              </a:rPr>
              <a:t>EGATE  ●  NULLIFY AUTONOMOUS DEFENSE</a:t>
            </a:r>
            <a:r>
              <a:rPr i="1" sz="1000">
                <a:solidFill>
                  <a:srgbClr val="555048"/>
                </a:solidFill>
                <a:latin typeface="Georgia"/>
              </a:rPr>
              <a:t>                               See it. Trace it. Nullify it.                               </a:t>
            </a:r>
            <a:r>
              <a:rPr sz="950">
                <a:solidFill>
                  <a:srgbClr val="827C73"/>
                </a:solidFill>
                <a:latin typeface="Consolas"/>
              </a:rPr>
              <a:t>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Consolas"/>
              </a:defRPr>
            </a:pPr>
            <a:r>
              <a:t>●  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14110D"/>
                </a:solidFill>
                <a:latin typeface="Georgia"/>
              </a:defRPr>
            </a:pPr>
            <a:r>
              <a:t>Nullify: Real-Time Autonomous Defense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645920"/>
            <a:ext cx="621792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920240"/>
            <a:ext cx="566928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14110D"/>
                </a:solidFill>
                <a:latin typeface="Segoe UI"/>
              </a:defRPr>
            </a:pPr>
            <a:r>
              <a:t>[ 01 // SPEED ]  Sub-Millisecond Native C Triage</a:t>
            </a:r>
          </a:p>
          <a:p>
            <a:pPr>
              <a:spcBef>
                <a:spcPts val="400"/>
              </a:spcBef>
              <a:defRPr sz="1350">
                <a:solidFill>
                  <a:srgbClr val="555048"/>
                </a:solidFill>
                <a:latin typeface="Segoe UI"/>
              </a:defRPr>
            </a:pPr>
            <a:r>
              <a:t>We rewrote heavy file inspection in pure C. It analyzes binaries in under 15 milliseconds — fast enough for live network firewalls.</a:t>
            </a:r>
          </a:p>
          <a:p>
            <a:pPr>
              <a:spcBef>
                <a:spcPts val="1800"/>
              </a:spcBef>
              <a:defRPr sz="1700" b="1">
                <a:solidFill>
                  <a:srgbClr val="14110D"/>
                </a:solidFill>
                <a:latin typeface="Segoe UI"/>
              </a:defRPr>
            </a:pPr>
            <a:r>
              <a:t>[ 02 // COGNITION ]  6 Specialized Autonomous Agents</a:t>
            </a:r>
          </a:p>
          <a:p>
            <a:pPr>
              <a:spcBef>
                <a:spcPts val="400"/>
              </a:spcBef>
              <a:defRPr sz="1350">
                <a:solidFill>
                  <a:srgbClr val="555048"/>
                </a:solidFill>
                <a:latin typeface="Segoe UI"/>
              </a:defRPr>
            </a:pPr>
            <a:r>
              <a:t>Instead of a single clumsy chatbot, six focused agents handle file headers, code patterns, behavioral logs, and threat reasoning.</a:t>
            </a:r>
          </a:p>
          <a:p>
            <a:pPr>
              <a:spcBef>
                <a:spcPts val="1800"/>
              </a:spcBef>
              <a:defRPr sz="1700" b="1">
                <a:solidFill>
                  <a:srgbClr val="14110D"/>
                </a:solidFill>
                <a:latin typeface="Segoe UI"/>
              </a:defRPr>
            </a:pPr>
            <a:r>
              <a:t>[ 03 // ACTION ]  Instant Auto-Defense &amp; YARA</a:t>
            </a:r>
          </a:p>
          <a:p>
            <a:pPr>
              <a:spcBef>
                <a:spcPts val="400"/>
              </a:spcBef>
              <a:defRPr sz="1350">
                <a:solidFill>
                  <a:srgbClr val="555048"/>
                </a:solidFill>
                <a:latin typeface="Segoe UI"/>
              </a:defRPr>
            </a:pPr>
            <a:r>
              <a:t>Nullify doesn't just alert you. It automatically writes an enterprise YARA rule so you can block the threat across your entire network.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69480" y="1645920"/>
            <a:ext cx="4096512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79" y="1783080"/>
            <a:ext cx="365760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059669"/>
                </a:solidFill>
                <a:latin typeface="Georgia"/>
              </a:defRPr>
            </a:pPr>
            <a:r>
              <a:t>&lt; 15 ms</a:t>
            </a:r>
          </a:p>
          <a:p>
            <a:pPr>
              <a:spcBef>
                <a:spcPts val="200"/>
              </a:spcBef>
              <a:defRPr sz="1200" b="1">
                <a:solidFill>
                  <a:srgbClr val="14110D"/>
                </a:solidFill>
                <a:latin typeface="Segoe UI"/>
              </a:defRPr>
            </a:pPr>
            <a:r>
              <a:t>FULL TRIAGE SPEED  •  Analysis completed in milliseconds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69480" y="3182112"/>
            <a:ext cx="4096512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79" y="3319272"/>
            <a:ext cx="365760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2563EB"/>
                </a:solidFill>
                <a:latin typeface="Georgia"/>
              </a:defRPr>
            </a:pPr>
            <a:r>
              <a:t>500x</a:t>
            </a:r>
          </a:p>
          <a:p>
            <a:pPr>
              <a:spcBef>
                <a:spcPts val="200"/>
              </a:spcBef>
              <a:defRPr sz="1200" b="1">
                <a:solidFill>
                  <a:srgbClr val="14110D"/>
                </a:solidFill>
                <a:latin typeface="Segoe UI"/>
              </a:defRPr>
            </a:pPr>
            <a:r>
              <a:t>FASTER IN C  •  Native C engine vs standard Python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69480" y="4718304"/>
            <a:ext cx="4096512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79" y="4855464"/>
            <a:ext cx="365760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D97706"/>
                </a:solidFill>
                <a:latin typeface="Georgia"/>
              </a:defRPr>
            </a:pPr>
            <a:r>
              <a:t>100%</a:t>
            </a:r>
          </a:p>
          <a:p>
            <a:pPr>
              <a:spcBef>
                <a:spcPts val="200"/>
              </a:spcBef>
              <a:defRPr sz="1200" b="1">
                <a:solidFill>
                  <a:srgbClr val="14110D"/>
                </a:solidFill>
                <a:latin typeface="Segoe UI"/>
              </a:defRPr>
            </a:pPr>
            <a:r>
              <a:t>LOCAL &amp; PRIVATE  •  Zero telemetry leaves your 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63640"/>
            <a:ext cx="10545775" cy="9525"/>
          </a:xfrm>
          <a:prstGeom prst="rect">
            <a:avLst/>
          </a:prstGeom>
          <a:solidFill>
            <a:srgbClr val="E2DC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27648"/>
            <a:ext cx="10545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50">
                <a:solidFill>
                  <a:srgbClr val="827C73"/>
                </a:solidFill>
                <a:latin typeface="Consolas"/>
              </a:rPr>
              <a:t>EGATE  ●  NULLIFY AUTONOMOUS DEFENSE</a:t>
            </a:r>
            <a:r>
              <a:rPr i="1" sz="1000">
                <a:solidFill>
                  <a:srgbClr val="555048"/>
                </a:solidFill>
                <a:latin typeface="Georgia"/>
              </a:rPr>
              <a:t>                               See it. Trace it. Nullify it.                               </a:t>
            </a:r>
            <a:r>
              <a:rPr sz="950">
                <a:solidFill>
                  <a:srgbClr val="827C73"/>
                </a:solidFill>
                <a:latin typeface="Consolas"/>
              </a:rPr>
              <a:t>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Consolas"/>
              </a:defRPr>
            </a:pPr>
            <a:r>
              <a:t>● 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14110D"/>
                </a:solidFill>
                <a:latin typeface="Georgia"/>
              </a:defRPr>
            </a:pPr>
            <a:r>
              <a:t>How the 6 AI Agents Work Together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645920"/>
            <a:ext cx="621792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74519"/>
            <a:ext cx="56692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1400"/>
              </a:spcBef>
              <a:defRPr sz="1100" b="1">
                <a:solidFill>
                  <a:srgbClr val="059669"/>
                </a:solidFill>
                <a:latin typeface="Consolas"/>
              </a:defRPr>
            </a:pPr>
            <a:r>
              <a:t>[ STAGE 1: NATIVE C SPEED ]</a:t>
            </a:r>
          </a:p>
          <a:p>
            <a:pPr>
              <a:spcBef>
                <a:spcPts val="400"/>
              </a:spcBef>
              <a:defRPr sz="1200">
                <a:solidFill>
                  <a:srgbClr val="14110D"/>
                </a:solidFill>
                <a:latin typeface="Segoe UI"/>
              </a:defRPr>
            </a:pPr>
            <a:r>
              <a:t>• Agent 1: Triage Agent: Checks magic bytes, headers, and streams MD5/SHA-1/SHA-256 in &lt; 1ms.</a:t>
            </a:r>
          </a:p>
          <a:p>
            <a:pPr>
              <a:spcBef>
                <a:spcPts val="400"/>
              </a:spcBef>
              <a:defRPr sz="1200">
                <a:solidFill>
                  <a:srgbClr val="14110D"/>
                </a:solidFill>
                <a:latin typeface="Segoe UI"/>
              </a:defRPr>
            </a:pPr>
            <a:r>
              <a:t>• Agent 2: Static Analysis Agent: Traverses PE imports in memory, detecting dangerous APIs and backdoor keys.</a:t>
            </a:r>
          </a:p>
          <a:p>
            <a:pPr>
              <a:spcBef>
                <a:spcPts val="1400"/>
              </a:spcBef>
              <a:defRPr sz="1100" b="1">
                <a:solidFill>
                  <a:srgbClr val="2563EB"/>
                </a:solidFill>
                <a:latin typeface="Consolas"/>
              </a:defRPr>
            </a:pPr>
            <a:r>
              <a:t>[ STAGE 2: AI COGNITION &amp; DEFENSE ]</a:t>
            </a:r>
          </a:p>
          <a:p>
            <a:pPr>
              <a:spcBef>
                <a:spcPts val="400"/>
              </a:spcBef>
              <a:defRPr sz="1200">
                <a:solidFill>
                  <a:srgbClr val="14110D"/>
                </a:solidFill>
                <a:latin typeface="Segoe UI"/>
              </a:defRPr>
            </a:pPr>
            <a:r>
              <a:t>• Agent 3: Behavioral Agent: Traces process trees and correlates Sysmon JSONL logs.</a:t>
            </a:r>
          </a:p>
          <a:p>
            <a:pPr>
              <a:spcBef>
                <a:spcPts val="400"/>
              </a:spcBef>
              <a:defRPr sz="1200">
                <a:solidFill>
                  <a:srgbClr val="14110D"/>
                </a:solidFill>
                <a:latin typeface="Segoe UI"/>
              </a:defRPr>
            </a:pPr>
            <a:r>
              <a:t>• Agent 4: Classification Agent: Evaluates 2,381 features via EMBER 2017 machine learning.</a:t>
            </a:r>
          </a:p>
          <a:p>
            <a:pPr>
              <a:spcBef>
                <a:spcPts val="400"/>
              </a:spcBef>
              <a:defRPr sz="1200">
                <a:solidFill>
                  <a:srgbClr val="14110D"/>
                </a:solidFill>
                <a:latin typeface="Segoe UI"/>
              </a:defRPr>
            </a:pPr>
            <a:r>
              <a:t>• Agent 5: Reasoning Agent: Synthesizes plain-English explanations with MITRE ATT&amp;CK tags.</a:t>
            </a:r>
          </a:p>
          <a:p>
            <a:pPr>
              <a:spcBef>
                <a:spcPts val="400"/>
              </a:spcBef>
              <a:defRPr sz="1200">
                <a:solidFill>
                  <a:srgbClr val="14110D"/>
                </a:solidFill>
                <a:latin typeface="Segoe UI"/>
              </a:defRPr>
            </a:pPr>
            <a:r>
              <a:t>• Agent 6: Defense Agent: Auto-generates syntax-validated YARA rules ready for deployment.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69480" y="1645920"/>
            <a:ext cx="4096512" cy="4434840"/>
          </a:xfrm>
          <a:prstGeom prst="roundRect">
            <a:avLst/>
          </a:prstGeom>
          <a:solidFill>
            <a:srgbClr val="1F1A14"/>
          </a:solidFill>
          <a:ln w="12700">
            <a:solidFill>
              <a:srgbClr val="322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neural_agent_me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737360"/>
            <a:ext cx="3913632" cy="218435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52360" y="5349240"/>
            <a:ext cx="3749039" cy="5486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00" b="1">
                <a:solidFill>
                  <a:srgbClr val="10B981"/>
                </a:solidFill>
                <a:latin typeface="Consolas"/>
              </a:defRPr>
            </a:pPr>
            <a:r>
              <a:t>COLLABORATIVE AGENT LATTICE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63640"/>
            <a:ext cx="10545775" cy="9525"/>
          </a:xfrm>
          <a:prstGeom prst="rect">
            <a:avLst/>
          </a:prstGeom>
          <a:solidFill>
            <a:srgbClr val="E2DC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27648"/>
            <a:ext cx="10545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50">
                <a:solidFill>
                  <a:srgbClr val="827C73"/>
                </a:solidFill>
                <a:latin typeface="Consolas"/>
              </a:rPr>
              <a:t>EGATE  ●  NULLIFY AUTONOMOUS DEFENSE</a:t>
            </a:r>
            <a:r>
              <a:rPr i="1" sz="1000">
                <a:solidFill>
                  <a:srgbClr val="555048"/>
                </a:solidFill>
                <a:latin typeface="Georgia"/>
              </a:rPr>
              <a:t>                               See it. Trace it. Nullify it.                               </a:t>
            </a:r>
            <a:r>
              <a:rPr sz="950">
                <a:solidFill>
                  <a:srgbClr val="827C73"/>
                </a:solidFill>
                <a:latin typeface="Consolas"/>
              </a:rPr>
              <a:t>05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Consolas"/>
              </a:defRPr>
            </a:pPr>
            <a:r>
              <a:t>●  PERFORMANCE BREAKTHROUGH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14110D"/>
                </a:solidFill>
                <a:latin typeface="Georgia"/>
              </a:defRPr>
            </a:pPr>
            <a:r>
              <a:t>The Secret to Our Speed: Native C Code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645920"/>
            <a:ext cx="338328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283464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1800"/>
              </a:spcBef>
              <a:defRPr sz="3800" b="1">
                <a:solidFill>
                  <a:srgbClr val="059669"/>
                </a:solidFill>
                <a:latin typeface="Georgia"/>
              </a:defRPr>
            </a:pPr>
            <a:r>
              <a:t>500x Faster</a:t>
            </a:r>
          </a:p>
          <a:p>
            <a:pPr>
              <a:spcBef>
                <a:spcPts val="400"/>
              </a:spcBef>
              <a:defRPr sz="1800" b="1">
                <a:solidFill>
                  <a:srgbClr val="14110D"/>
                </a:solidFill>
                <a:latin typeface="Segoe UI"/>
              </a:defRPr>
            </a:pPr>
            <a:r>
              <a:t>PE Import Parsing</a:t>
            </a:r>
          </a:p>
          <a:p>
            <a:pPr>
              <a:spcBef>
                <a:spcPts val="600"/>
              </a:spcBef>
              <a:defRPr sz="1100" b="1">
                <a:solidFill>
                  <a:srgbClr val="059669"/>
                </a:solidFill>
                <a:latin typeface="Consolas"/>
              </a:defRPr>
            </a:pPr>
            <a:r>
              <a:t>Python: 50.0 ms  →  C: 0.1 ms</a:t>
            </a:r>
          </a:p>
          <a:p>
            <a:pPr>
              <a:spcBef>
                <a:spcPts val="800"/>
              </a:spcBef>
              <a:defRPr sz="1300">
                <a:solidFill>
                  <a:srgbClr val="555048"/>
                </a:solidFill>
                <a:latin typeface="Segoe UI"/>
              </a:defRPr>
            </a:pPr>
            <a:r>
              <a:t>Reads executable import tables directly in memory without slow Python libraries.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1828800"/>
            <a:ext cx="1828800" cy="292608"/>
          </a:xfrm>
          <a:prstGeom prst="roundRect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059669"/>
                </a:solidFill>
                <a:latin typeface="Consolas"/>
              </a:defRPr>
            </a:pPr>
            <a:r>
              <a:t>[ ENGINE // 01 ]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645920"/>
            <a:ext cx="338328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60" y="1828800"/>
            <a:ext cx="283464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1800"/>
              </a:spcBef>
              <a:defRPr sz="3800" b="1">
                <a:solidFill>
                  <a:srgbClr val="2563EB"/>
                </a:solidFill>
                <a:latin typeface="Georgia"/>
              </a:defRPr>
            </a:pPr>
            <a:r>
              <a:t>18x Faster</a:t>
            </a:r>
          </a:p>
          <a:p>
            <a:pPr>
              <a:spcBef>
                <a:spcPts val="400"/>
              </a:spcBef>
              <a:defRPr sz="1800" b="1">
                <a:solidFill>
                  <a:srgbClr val="14110D"/>
                </a:solidFill>
                <a:latin typeface="Segoe UI"/>
              </a:defRPr>
            </a:pPr>
            <a:r>
              <a:t>Pattern Scanner</a:t>
            </a:r>
          </a:p>
          <a:p>
            <a:pPr>
              <a:spcBef>
                <a:spcPts val="600"/>
              </a:spcBef>
              <a:defRPr sz="1100" b="1">
                <a:solidFill>
                  <a:srgbClr val="2563EB"/>
                </a:solidFill>
                <a:latin typeface="Consolas"/>
              </a:defRPr>
            </a:pPr>
            <a:r>
              <a:t>Python: 15.4 ms  →  C: 0.8 ms</a:t>
            </a:r>
          </a:p>
          <a:p>
            <a:pPr>
              <a:spcBef>
                <a:spcPts val="800"/>
              </a:spcBef>
              <a:defRPr sz="1300">
                <a:solidFill>
                  <a:srgbClr val="555048"/>
                </a:solidFill>
                <a:latin typeface="Segoe UI"/>
              </a:defRPr>
            </a:pPr>
            <a:r>
              <a:t>Finds hidden registry keys, download cradles, and backdoor strings in a single pass.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828800"/>
            <a:ext cx="1828800" cy="292608"/>
          </a:xfrm>
          <a:prstGeom prst="roundRect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2563EB"/>
                </a:solidFill>
                <a:latin typeface="Consolas"/>
              </a:defRPr>
            </a:pPr>
            <a:r>
              <a:t>[ ENGINE // 02 ]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45920"/>
            <a:ext cx="338328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828800"/>
            <a:ext cx="283464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1800"/>
              </a:spcBef>
              <a:defRPr sz="3800" b="1">
                <a:solidFill>
                  <a:srgbClr val="D97706"/>
                </a:solidFill>
                <a:latin typeface="Georgia"/>
              </a:defRPr>
            </a:pPr>
            <a:r>
              <a:t>8x Faster</a:t>
            </a:r>
          </a:p>
          <a:p>
            <a:pPr>
              <a:spcBef>
                <a:spcPts val="400"/>
              </a:spcBef>
              <a:defRPr sz="1800" b="1">
                <a:solidFill>
                  <a:srgbClr val="14110D"/>
                </a:solidFill>
                <a:latin typeface="Segoe UI"/>
              </a:defRPr>
            </a:pPr>
            <a:r>
              <a:t>File Multi-Hashing</a:t>
            </a:r>
          </a:p>
          <a:p>
            <a:pPr>
              <a:spcBef>
                <a:spcPts val="600"/>
              </a:spcBef>
              <a:defRPr sz="1100" b="1">
                <a:solidFill>
                  <a:srgbClr val="D97706"/>
                </a:solidFill>
                <a:latin typeface="Consolas"/>
              </a:defRPr>
            </a:pPr>
            <a:r>
              <a:t>Python: 8.9 ms  →  C: 1.1 ms</a:t>
            </a:r>
          </a:p>
          <a:p>
            <a:pPr>
              <a:spcBef>
                <a:spcPts val="800"/>
              </a:spcBef>
              <a:defRPr sz="1300">
                <a:solidFill>
                  <a:srgbClr val="555048"/>
                </a:solidFill>
                <a:latin typeface="Segoe UI"/>
              </a:defRPr>
            </a:pPr>
            <a:r>
              <a:t>Streams 64KB blocks, updating MD5, SHA-1, and SHA-256 at the exact same time.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1828800"/>
            <a:ext cx="1828800" cy="292608"/>
          </a:xfrm>
          <a:prstGeom prst="roundRect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D97706"/>
                </a:solidFill>
                <a:latin typeface="Consolas"/>
              </a:defRPr>
            </a:pPr>
            <a:r>
              <a:t>[ ENGINE // 03 ]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486400"/>
            <a:ext cx="10545775" cy="594360"/>
          </a:xfrm>
          <a:prstGeom prst="roundRect">
            <a:avLst/>
          </a:prstGeom>
          <a:solidFill>
            <a:srgbClr val="F5F1EA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5596128"/>
            <a:ext cx="10058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b="1" sz="1200">
                <a:solidFill>
                  <a:srgbClr val="059669"/>
                </a:solidFill>
                <a:latin typeface="Consolas"/>
              </a:rPr>
              <a:t>ZERO EXTERNAL DEPENDENCIES: </a:t>
            </a:r>
            <a:r>
              <a:rPr sz="1300">
                <a:solidFill>
                  <a:srgbClr val="14110D"/>
                </a:solidFill>
                <a:latin typeface="Segoe UI"/>
              </a:rPr>
              <a:t>Pure C11 (-O3) with built-in RFC 3174 SHA-1 and MD5. No OpenSSL link errors, plus automatic Python fallback.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63640"/>
            <a:ext cx="10545775" cy="9525"/>
          </a:xfrm>
          <a:prstGeom prst="rect">
            <a:avLst/>
          </a:prstGeom>
          <a:solidFill>
            <a:srgbClr val="E2DC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27648"/>
            <a:ext cx="10545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50">
                <a:solidFill>
                  <a:srgbClr val="827C73"/>
                </a:solidFill>
                <a:latin typeface="Consolas"/>
              </a:rPr>
              <a:t>EGATE  ●  NULLIFY AUTONOMOUS DEFENSE</a:t>
            </a:r>
            <a:r>
              <a:rPr i="1" sz="1000">
                <a:solidFill>
                  <a:srgbClr val="555048"/>
                </a:solidFill>
                <a:latin typeface="Georgia"/>
              </a:rPr>
              <a:t>                               See it. Trace it. Nullify it.                               </a:t>
            </a:r>
            <a:r>
              <a:rPr sz="950">
                <a:solidFill>
                  <a:srgbClr val="827C73"/>
                </a:solidFill>
                <a:latin typeface="Consolas"/>
              </a:rPr>
              <a:t>06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Consolas"/>
              </a:defRPr>
            </a:pPr>
            <a:r>
              <a:t>●  MACHINE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14110D"/>
                </a:solidFill>
                <a:latin typeface="Georgia"/>
              </a:defRPr>
            </a:pPr>
            <a:r>
              <a:t>Trained on 1.1 Million Real Binaries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645920"/>
            <a:ext cx="338328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97280" y="1920240"/>
            <a:ext cx="2011680" cy="320040"/>
          </a:xfrm>
          <a:prstGeom prst="roundRect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059669"/>
                </a:solidFill>
                <a:latin typeface="Consolas"/>
              </a:defRPr>
            </a:pPr>
            <a:r>
              <a:t>[ FEATURE SPACE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423160"/>
            <a:ext cx="283464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14110D"/>
                </a:solidFill>
                <a:latin typeface="Segoe UI"/>
              </a:defRPr>
            </a:pPr>
            <a:r>
              <a:t>2,381 Features Analyzed</a:t>
            </a:r>
          </a:p>
          <a:p>
            <a:pPr>
              <a:spcBef>
                <a:spcPts val="1400"/>
              </a:spcBef>
              <a:defRPr sz="1400">
                <a:solidFill>
                  <a:srgbClr val="555048"/>
                </a:solidFill>
                <a:latin typeface="Segoe UI"/>
              </a:defRPr>
            </a:pPr>
            <a:r>
              <a:t>Nullify analyzes 2,381 unique characteristics of each file: byte randomness (entropy), printable strings, section sizes, and header anomalies.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645920"/>
            <a:ext cx="338328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709160" y="1920240"/>
            <a:ext cx="2011680" cy="320040"/>
          </a:xfrm>
          <a:prstGeom prst="roundRect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2563EB"/>
                </a:solidFill>
                <a:latin typeface="Consolas"/>
              </a:defRPr>
            </a:pPr>
            <a:r>
              <a:t>[ VALIDATION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2423160"/>
            <a:ext cx="283464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14110D"/>
                </a:solidFill>
                <a:latin typeface="Segoe UI"/>
              </a:defRPr>
            </a:pPr>
            <a:r>
              <a:t>99.9% Proven Accuracy</a:t>
            </a:r>
          </a:p>
          <a:p>
            <a:pPr>
              <a:spcBef>
                <a:spcPts val="1400"/>
              </a:spcBef>
              <a:defRPr sz="1400">
                <a:solidFill>
                  <a:srgbClr val="555048"/>
                </a:solidFill>
                <a:latin typeface="Segoe UI"/>
              </a:defRPr>
            </a:pPr>
            <a:r>
              <a:t>Trained on 1.1 million verified benign and malicious files from the EMBER benchmark. Gradient-boosted trees classify threats without hallucinating.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45920"/>
            <a:ext cx="338328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321040" y="1920240"/>
            <a:ext cx="2011680" cy="320040"/>
          </a:xfrm>
          <a:prstGeom prst="roundRect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D97706"/>
                </a:solidFill>
                <a:latin typeface="Consolas"/>
              </a:defRPr>
            </a:pPr>
            <a:r>
              <a:t>[ SMART GUARD 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423160"/>
            <a:ext cx="283464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14110D"/>
                </a:solidFill>
                <a:latin typeface="Segoe UI"/>
              </a:defRPr>
            </a:pPr>
            <a:r>
              <a:t>Zero False Alarms on Linux</a:t>
            </a:r>
          </a:p>
          <a:p>
            <a:pPr>
              <a:spcBef>
                <a:spcPts val="1400"/>
              </a:spcBef>
              <a:defRPr sz="1400">
                <a:solidFill>
                  <a:srgbClr val="555048"/>
                </a:solidFill>
                <a:latin typeface="Segoe UI"/>
              </a:defRPr>
            </a:pPr>
            <a:r>
              <a:t>Most antivirus tools trigger false alarms on Linux files because they try to force Windows rules. Nullify detects file types accurately so safe code isn't flagged.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63640"/>
            <a:ext cx="10545775" cy="9525"/>
          </a:xfrm>
          <a:prstGeom prst="rect">
            <a:avLst/>
          </a:prstGeom>
          <a:solidFill>
            <a:srgbClr val="E2DC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27648"/>
            <a:ext cx="10545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50">
                <a:solidFill>
                  <a:srgbClr val="827C73"/>
                </a:solidFill>
                <a:latin typeface="Consolas"/>
              </a:rPr>
              <a:t>EGATE  ●  NULLIFY AUTONOMOUS DEFENSE</a:t>
            </a:r>
            <a:r>
              <a:rPr i="1" sz="1000">
                <a:solidFill>
                  <a:srgbClr val="555048"/>
                </a:solidFill>
                <a:latin typeface="Georgia"/>
              </a:rPr>
              <a:t>                               See it. Trace it. Nullify it.                               </a:t>
            </a:r>
            <a:r>
              <a:rPr sz="950">
                <a:solidFill>
                  <a:srgbClr val="827C73"/>
                </a:solidFill>
                <a:latin typeface="Consolas"/>
              </a:rPr>
              <a:t>07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Consolas"/>
              </a:defRPr>
            </a:pPr>
            <a:r>
              <a:t>●  ACTIVE DEFENSE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14110D"/>
                </a:solidFill>
                <a:latin typeface="Georgia"/>
              </a:defRPr>
            </a:pPr>
            <a:r>
              <a:t>From Threat Detection to Immunity in Seconds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645920"/>
            <a:ext cx="512064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920240"/>
            <a:ext cx="457200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2200"/>
              </a:spcBef>
              <a:defRPr sz="2000" b="1">
                <a:solidFill>
                  <a:srgbClr val="14110D"/>
                </a:solidFill>
                <a:latin typeface="Segoe UI"/>
              </a:defRPr>
            </a:pPr>
            <a:r>
              <a:t>Tells You What Happened &amp; Blocks It Everywhere</a:t>
            </a:r>
          </a:p>
          <a:p>
            <a:pPr>
              <a:spcBef>
                <a:spcPts val="1200"/>
              </a:spcBef>
              <a:defRPr sz="1500" b="1">
                <a:solidFill>
                  <a:srgbClr val="14110D"/>
                </a:solidFill>
                <a:latin typeface="Segoe UI"/>
              </a:defRPr>
            </a:pPr>
            <a:r>
              <a:t>• Explains the Threat Clearly:</a:t>
            </a:r>
          </a:p>
          <a:p>
            <a:pPr>
              <a:spcBef>
                <a:spcPts val="200"/>
              </a:spcBef>
              <a:defRPr sz="1300">
                <a:solidFill>
                  <a:srgbClr val="555048"/>
                </a:solidFill>
                <a:latin typeface="Segoe UI"/>
              </a:defRPr>
            </a:pPr>
            <a:r>
              <a:t>Identifies the exact techniques the attacker used (e.g. injecting code into processes or setting up secret auto-run keys).</a:t>
            </a:r>
          </a:p>
          <a:p>
            <a:pPr>
              <a:spcBef>
                <a:spcPts val="1200"/>
              </a:spcBef>
              <a:defRPr sz="1500" b="1">
                <a:solidFill>
                  <a:srgbClr val="14110D"/>
                </a:solidFill>
                <a:latin typeface="Segoe UI"/>
              </a:defRPr>
            </a:pPr>
            <a:r>
              <a:t>• Maps to MITRE ATT&amp;CK:</a:t>
            </a:r>
          </a:p>
          <a:p>
            <a:pPr>
              <a:spcBef>
                <a:spcPts val="200"/>
              </a:spcBef>
              <a:defRPr sz="1300">
                <a:solidFill>
                  <a:srgbClr val="555048"/>
                </a:solidFill>
                <a:latin typeface="Segoe UI"/>
              </a:defRPr>
            </a:pPr>
            <a:r>
              <a:t>Industry-standard tagging (T1055, T1547) so security teams understand the risk instantly.</a:t>
            </a:r>
          </a:p>
          <a:p>
            <a:pPr>
              <a:spcBef>
                <a:spcPts val="1200"/>
              </a:spcBef>
              <a:defRPr sz="1500" b="1">
                <a:solidFill>
                  <a:srgbClr val="14110D"/>
                </a:solidFill>
                <a:latin typeface="Segoe UI"/>
              </a:defRPr>
            </a:pPr>
            <a:r>
              <a:t>• Writes the Defense Rule:</a:t>
            </a:r>
          </a:p>
          <a:p>
            <a:pPr>
              <a:spcBef>
                <a:spcPts val="200"/>
              </a:spcBef>
              <a:defRPr sz="1300">
                <a:solidFill>
                  <a:srgbClr val="555048"/>
                </a:solidFill>
                <a:latin typeface="Segoe UI"/>
              </a:defRPr>
            </a:pPr>
            <a:r>
              <a:t>Generates a complete, ready-to-use YARA rule that your firewalls, EDR, and mail filters can apply right away.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1920240"/>
            <a:ext cx="3108960" cy="320040"/>
          </a:xfrm>
          <a:prstGeom prst="round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DC2626"/>
                </a:solidFill>
                <a:latin typeface="Consolas"/>
              </a:defRPr>
            </a:pPr>
            <a:r>
              <a:t>[ AUTOMATED IMMUNITY 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1645920"/>
            <a:ext cx="5120640" cy="4434840"/>
          </a:xfrm>
          <a:prstGeom prst="roundRect">
            <a:avLst/>
          </a:prstGeom>
          <a:solidFill>
            <a:srgbClr val="14110D"/>
          </a:solidFill>
          <a:ln w="12700">
            <a:solidFill>
              <a:srgbClr val="322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920240"/>
            <a:ext cx="457200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Consolas"/>
              </a:defRPr>
            </a:pPr>
            <a:r>
              <a:t>AUTO-GENERATED YARA DEFENSE RULE</a:t>
            </a:r>
          </a:p>
          <a:p>
            <a:pPr>
              <a:spcBef>
                <a:spcPts val="1200"/>
              </a:spcBef>
              <a:defRPr sz="1200">
                <a:solidFill>
                  <a:srgbClr val="BFB9AF"/>
                </a:solidFill>
                <a:latin typeface="Consolas"/>
              </a:defRPr>
            </a:pPr>
            <a:r>
              <a:t>rule Nullify_AutoDefense_Trojan {</a:t>
            </a:r>
            <a:br/>
            <a:r>
              <a:t>    meta:</a:t>
            </a:r>
            <a:br/>
            <a:r>
              <a:t>        description = "Auto-generated by Nullify"</a:t>
            </a:r>
            <a:br/>
            <a:r>
              <a:t>        threat      = "Trojan / Backdoor"</a:t>
            </a:r>
            <a:br/>
            <a:r>
              <a:t>        confidence  = "98.4%"</a:t>
            </a:r>
            <a:br/>
            <a:r>
              <a:t>    strings:</a:t>
            </a:r>
            <a:br/>
            <a:r>
              <a:t>        $run_key = "CurrentVersion\\Run" nocase</a:t>
            </a:r>
            <a:br/>
            <a:r>
              <a:t>        $ps_exec = "powershell -enc" nocase</a:t>
            </a:r>
            <a:br/>
            <a:r>
              <a:t>        $inject  = "VirtualAllocEx"</a:t>
            </a:r>
            <a:br/>
            <a:r>
              <a:t>    condition:</a:t>
            </a:r>
            <a:br/>
            <a:r>
              <a:t>        uint16(0) == 0x5A4D and</a:t>
            </a:r>
            <a:br/>
            <a:r>
              <a:t>        filesize &lt; 5MB and</a:t>
            </a:r>
            <a:br/>
            <a:r>
              <a:t>        (2 of ($*))</a:t>
            </a:r>
            <a:br/>
            <a:r>
              <a:t>}</a:t>
            </a:r>
          </a:p>
          <a:p>
            <a:pPr>
              <a:spcBef>
                <a:spcPts val="1600"/>
              </a:spcBef>
              <a:defRPr sz="1250" b="1">
                <a:solidFill>
                  <a:srgbClr val="10B981"/>
                </a:solidFill>
                <a:latin typeface="Segoe UI"/>
              </a:defRPr>
            </a:pPr>
            <a:r>
              <a:t>✓ Ready to push to CrowdStrike, SentinelOne, or Windows Defender.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63640"/>
            <a:ext cx="10545775" cy="9525"/>
          </a:xfrm>
          <a:prstGeom prst="rect">
            <a:avLst/>
          </a:prstGeom>
          <a:solidFill>
            <a:srgbClr val="E2DC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27648"/>
            <a:ext cx="10545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50">
                <a:solidFill>
                  <a:srgbClr val="827C73"/>
                </a:solidFill>
                <a:latin typeface="Consolas"/>
              </a:rPr>
              <a:t>EGATE  ●  NULLIFY AUTONOMOUS DEFENSE</a:t>
            </a:r>
            <a:r>
              <a:rPr i="1" sz="1000">
                <a:solidFill>
                  <a:srgbClr val="555048"/>
                </a:solidFill>
                <a:latin typeface="Georgia"/>
              </a:rPr>
              <a:t>                               See it. Trace it. Nullify it.                               </a:t>
            </a:r>
            <a:r>
              <a:rPr sz="950">
                <a:solidFill>
                  <a:srgbClr val="827C73"/>
                </a:solidFill>
                <a:latin typeface="Consolas"/>
              </a:rPr>
              <a:t>08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Consolas"/>
              </a:defRPr>
            </a:pPr>
            <a:r>
              <a:t>●  BENCHMARKS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14110D"/>
                </a:solidFill>
                <a:latin typeface="Georgia"/>
              </a:defRPr>
            </a:pPr>
            <a:r>
              <a:t>How Nullify Compares to the Rest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645920"/>
            <a:ext cx="338328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783080"/>
            <a:ext cx="29260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059669"/>
                </a:solidFill>
                <a:latin typeface="Georgia"/>
              </a:defRPr>
            </a:pPr>
            <a:r>
              <a:t>13.2 ms</a:t>
            </a:r>
          </a:p>
          <a:p>
            <a:pPr>
              <a:spcBef>
                <a:spcPts val="200"/>
              </a:spcBef>
              <a:defRPr sz="1300" b="1">
                <a:solidFill>
                  <a:srgbClr val="14110D"/>
                </a:solidFill>
                <a:latin typeface="Segoe UI"/>
              </a:defRPr>
            </a:pPr>
            <a:r>
              <a:t>FULL TRIAGE TIME</a:t>
            </a:r>
          </a:p>
          <a:p>
            <a:pPr>
              <a:defRPr sz="1100">
                <a:solidFill>
                  <a:srgbClr val="555048"/>
                </a:solidFill>
                <a:latin typeface="Segoe UI"/>
              </a:defRPr>
            </a:pPr>
            <a:r>
              <a:t>Complete static inspection &amp; hashing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645920"/>
            <a:ext cx="338328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3440" y="1783080"/>
            <a:ext cx="29260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2563EB"/>
                </a:solidFill>
                <a:latin typeface="Georgia"/>
              </a:defRPr>
            </a:pPr>
            <a:r>
              <a:t>75 files / sec</a:t>
            </a:r>
          </a:p>
          <a:p>
            <a:pPr>
              <a:spcBef>
                <a:spcPts val="200"/>
              </a:spcBef>
              <a:defRPr sz="1300" b="1">
                <a:solidFill>
                  <a:srgbClr val="14110D"/>
                </a:solidFill>
                <a:latin typeface="Segoe UI"/>
              </a:defRPr>
            </a:pPr>
            <a:r>
              <a:t>SINGLE-CORE THROUGHPUT</a:t>
            </a:r>
          </a:p>
          <a:p>
            <a:pPr>
              <a:defRPr sz="1100">
                <a:solidFill>
                  <a:srgbClr val="555048"/>
                </a:solidFill>
                <a:latin typeface="Segoe UI"/>
              </a:defRPr>
            </a:pPr>
            <a:r>
              <a:t>Millions of files processed daily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783080"/>
            <a:ext cx="29260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D97706"/>
                </a:solidFill>
                <a:latin typeface="Georgia"/>
              </a:defRPr>
            </a:pPr>
            <a:r>
              <a:t>62 / 62</a:t>
            </a:r>
          </a:p>
          <a:p>
            <a:pPr>
              <a:spcBef>
                <a:spcPts val="200"/>
              </a:spcBef>
              <a:defRPr sz="1300" b="1">
                <a:solidFill>
                  <a:srgbClr val="14110D"/>
                </a:solidFill>
                <a:latin typeface="Segoe UI"/>
              </a:defRPr>
            </a:pPr>
            <a:r>
              <a:t>AUTOMATED TESTS PASSING</a:t>
            </a:r>
          </a:p>
          <a:p>
            <a:pPr>
              <a:defRPr sz="1100">
                <a:solidFill>
                  <a:srgbClr val="555048"/>
                </a:solidFill>
                <a:latin typeface="Segoe UI"/>
              </a:defRPr>
            </a:pPr>
            <a:r>
              <a:t>100% test suite reliability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337560"/>
            <a:ext cx="10545775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520440"/>
            <a:ext cx="1005840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Consolas"/>
              </a:defRPr>
            </a:pPr>
            <a:r>
              <a:t>SPEED &amp; CAPABILITY SHOWDOWN</a:t>
            </a:r>
          </a:p>
          <a:p>
            <a:pPr>
              <a:spcBef>
                <a:spcPts val="1000"/>
              </a:spcBef>
              <a:defRPr sz="1300" b="1">
                <a:solidFill>
                  <a:srgbClr val="059669"/>
                </a:solidFill>
                <a:latin typeface="Consolas"/>
              </a:defRPr>
            </a:pPr>
            <a:r>
              <a:t>Nullify (Our System)         | 13.2 ms        | Catches Zero-Days          | Auto-Writes YARA Rules</a:t>
            </a:r>
          </a:p>
          <a:p>
            <a:pPr>
              <a:spcBef>
                <a:spcPts val="1000"/>
              </a:spcBef>
              <a:defRPr sz="1300" b="0">
                <a:solidFill>
                  <a:srgbClr val="555048"/>
                </a:solidFill>
                <a:latin typeface="Consolas"/>
              </a:defRPr>
            </a:pPr>
            <a:r>
              <a:t>Traditional Antivirus        | 5.0 ms         | Blind to New Malware       | No YARA Rules</a:t>
            </a:r>
          </a:p>
          <a:p>
            <a:pPr>
              <a:spcBef>
                <a:spcPts val="1000"/>
              </a:spcBef>
              <a:defRPr sz="1300" b="0">
                <a:solidFill>
                  <a:srgbClr val="555048"/>
                </a:solidFill>
                <a:latin typeface="Consolas"/>
              </a:defRPr>
            </a:pPr>
            <a:r>
              <a:t>Cloud Sandboxes (Cuckoo)     | 15 Minutes     | Too Slow for Edge Routers  | Raw Log Dumps Only</a:t>
            </a:r>
          </a:p>
          <a:p>
            <a:pPr>
              <a:spcBef>
                <a:spcPts val="1000"/>
              </a:spcBef>
              <a:defRPr sz="1300" b="0">
                <a:solidFill>
                  <a:srgbClr val="555048"/>
                </a:solidFill>
                <a:latin typeface="Consolas"/>
              </a:defRPr>
            </a:pPr>
            <a:r>
              <a:t>Standard Python Tools        | 85.0 ms        | High Memory / Crashes      | Manual Scripting Required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63640"/>
            <a:ext cx="10545775" cy="9525"/>
          </a:xfrm>
          <a:prstGeom prst="rect">
            <a:avLst/>
          </a:prstGeom>
          <a:solidFill>
            <a:srgbClr val="E2DC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27648"/>
            <a:ext cx="10545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50">
                <a:solidFill>
                  <a:srgbClr val="827C73"/>
                </a:solidFill>
                <a:latin typeface="Consolas"/>
              </a:rPr>
              <a:t>EGATE  ●  NULLIFY AUTONOMOUS DEFENSE</a:t>
            </a:r>
            <a:r>
              <a:rPr i="1" sz="1000">
                <a:solidFill>
                  <a:srgbClr val="555048"/>
                </a:solidFill>
                <a:latin typeface="Georgia"/>
              </a:rPr>
              <a:t>                               See it. Trace it. Nullify it.                               </a:t>
            </a:r>
            <a:r>
              <a:rPr sz="950">
                <a:solidFill>
                  <a:srgbClr val="827C73"/>
                </a:solidFill>
                <a:latin typeface="Consolas"/>
              </a:rPr>
              <a:t>09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Consolas"/>
              </a:defRPr>
            </a:pPr>
            <a:r>
              <a:t>●  USER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14110D"/>
                </a:solidFill>
                <a:latin typeface="Georgia"/>
              </a:defRPr>
            </a:pPr>
            <a:r>
              <a:t>Two Intuitive Ways to Use Nullify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645920"/>
            <a:ext cx="512064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920240"/>
            <a:ext cx="457200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2000"/>
              </a:spcBef>
              <a:defRPr sz="2000" b="1">
                <a:solidFill>
                  <a:srgbClr val="14110D"/>
                </a:solidFill>
                <a:latin typeface="Segoe UI"/>
              </a:defRPr>
            </a:pPr>
            <a:r>
              <a:t>Luxury Web Dashboard (localhost:8000)</a:t>
            </a:r>
          </a:p>
          <a:p>
            <a:pPr>
              <a:spcBef>
                <a:spcPts val="1000"/>
              </a:spcBef>
              <a:defRPr sz="1350">
                <a:solidFill>
                  <a:srgbClr val="555048"/>
                </a:solidFill>
                <a:latin typeface="Segoe UI"/>
              </a:defRPr>
            </a:pPr>
            <a:r>
              <a:t>• Drag-and-Drop Scanning: Drop any file to see real-time analysis in milliseconds.</a:t>
            </a:r>
          </a:p>
          <a:p>
            <a:pPr>
              <a:spcBef>
                <a:spcPts val="1000"/>
              </a:spcBef>
              <a:defRPr sz="1350">
                <a:solidFill>
                  <a:srgbClr val="555048"/>
                </a:solidFill>
                <a:latin typeface="Segoe UI"/>
              </a:defRPr>
            </a:pPr>
            <a:r>
              <a:t>• Live Confidence Radar: See risk percentage and threat family classification clearly.</a:t>
            </a:r>
          </a:p>
          <a:p>
            <a:pPr>
              <a:spcBef>
                <a:spcPts val="1000"/>
              </a:spcBef>
              <a:defRPr sz="1350">
                <a:solidFill>
                  <a:srgbClr val="555048"/>
                </a:solidFill>
                <a:latin typeface="Segoe UI"/>
              </a:defRPr>
            </a:pPr>
            <a:r>
              <a:t>• Built-in Demo Samples: One-click buttons to test safe trojans, ransomware, and benign files.</a:t>
            </a:r>
          </a:p>
          <a:p>
            <a:pPr>
              <a:spcBef>
                <a:spcPts val="1000"/>
              </a:spcBef>
              <a:defRPr sz="1350">
                <a:solidFill>
                  <a:srgbClr val="555048"/>
                </a:solidFill>
                <a:latin typeface="Segoe UI"/>
              </a:defRPr>
            </a:pPr>
            <a:r>
              <a:t>• 1-Click YARA Copy: Instantly copy auto-generated rules to your clipboard.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1920240"/>
            <a:ext cx="2926080" cy="32004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059669"/>
                </a:solidFill>
                <a:latin typeface="Consolas"/>
              </a:defRPr>
            </a:pPr>
            <a:r>
              <a:t>[ WEB INTERFACE 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1645920"/>
            <a:ext cx="5120640" cy="4434840"/>
          </a:xfrm>
          <a:prstGeom prst="roundRect">
            <a:avLst/>
          </a:prstGeom>
          <a:solidFill>
            <a:srgbClr val="14110D"/>
          </a:solidFill>
          <a:ln w="12700">
            <a:solidFill>
              <a:srgbClr val="322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920240"/>
            <a:ext cx="457200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Consolas"/>
              </a:defRPr>
            </a:pPr>
            <a:r>
              <a:t>[ TERMINAL INTERFACE ]</a:t>
            </a:r>
          </a:p>
          <a:p>
            <a:pPr>
              <a:spcBef>
                <a:spcPts val="600"/>
              </a:spcBef>
              <a:defRPr sz="2000" b="1">
                <a:solidFill>
                  <a:srgbClr val="FAF8F5"/>
                </a:solidFill>
                <a:latin typeface="Segoe UI"/>
              </a:defRPr>
            </a:pPr>
            <a:r>
              <a:t>Single-Command CLI ($ nullify)</a:t>
            </a:r>
          </a:p>
          <a:p>
            <a:pPr>
              <a:spcBef>
                <a:spcPts val="1200"/>
              </a:spcBef>
              <a:defRPr sz="1100">
                <a:solidFill>
                  <a:srgbClr val="BFB9AF"/>
                </a:solidFill>
                <a:latin typeface="Consolas"/>
              </a:defRPr>
            </a:pPr>
            <a:r>
              <a:t>$ nullify</a:t>
            </a:r>
            <a:br/>
            <a:r>
              <a:t>========================================</a:t>
            </a:r>
            <a:br/>
            <a:r>
              <a:t>   See it. Trace it. Nullify it.</a:t>
            </a:r>
            <a:br/>
            <a:r>
              <a:t>========================================</a:t>
            </a:r>
            <a:br/>
            <a:r>
              <a:t>[1] Quick Scan</a:t>
            </a:r>
            <a:br/>
            <a:r>
              <a:t>[2] Deep Detonation</a:t>
            </a:r>
            <a:br/>
            <a:r>
              <a:t>[3] Behavioral Log</a:t>
            </a:r>
            <a:br/>
            <a:r>
              <a:t>[4] Batch Scan Folder</a:t>
            </a:r>
            <a:br/>
            <a:r>
              <a:t>[5] Launch Web Console</a:t>
            </a:r>
            <a:br/>
            <a:r>
              <a:t>[0] Exit</a:t>
            </a:r>
            <a:br/>
            <a:br/>
            <a:r>
              <a:t>Select option: 1</a:t>
            </a:r>
            <a:br/>
            <a:r>
              <a:t>&gt; Scanning suspicious_binary.exe ...</a:t>
            </a:r>
            <a:br/>
            <a:r>
              <a:t>&gt; VERDICT: MALICIOUS (98.4% Confidence)</a:t>
            </a:r>
            <a:br/>
            <a:r>
              <a:t>&gt; Parsed in 0.1ms • YARA Rule Created!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63640"/>
            <a:ext cx="10545775" cy="9525"/>
          </a:xfrm>
          <a:prstGeom prst="rect">
            <a:avLst/>
          </a:prstGeom>
          <a:solidFill>
            <a:srgbClr val="E2DC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27648"/>
            <a:ext cx="10545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50">
                <a:solidFill>
                  <a:srgbClr val="827C73"/>
                </a:solidFill>
                <a:latin typeface="Consolas"/>
              </a:rPr>
              <a:t>EGATE  ●  NULLIFY AUTONOMOUS DEFENSE</a:t>
            </a:r>
            <a:r>
              <a:rPr i="1" sz="1000">
                <a:solidFill>
                  <a:srgbClr val="555048"/>
                </a:solidFill>
                <a:latin typeface="Georgia"/>
              </a:rPr>
              <a:t>                               See it. Trace it. Nullify it.                               </a:t>
            </a:r>
            <a:r>
              <a:rPr sz="950">
                <a:solidFill>
                  <a:srgbClr val="827C73"/>
                </a:solidFill>
                <a:latin typeface="Consolas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Consolas"/>
              </a:defRPr>
            </a:pPr>
            <a:r>
              <a:t>●  SECURITY &amp; PRIVACY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14110D"/>
                </a:solidFill>
                <a:latin typeface="Georgia"/>
              </a:defRPr>
            </a:pPr>
            <a:r>
              <a:t>Your Data Never Leaves Your Network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645920"/>
            <a:ext cx="338328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97280" y="1920240"/>
            <a:ext cx="2011680" cy="320040"/>
          </a:xfrm>
          <a:prstGeom prst="roundRect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059669"/>
                </a:solidFill>
                <a:latin typeface="Consolas"/>
              </a:defRPr>
            </a:pPr>
            <a:r>
              <a:t>[ PRIVACY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423160"/>
            <a:ext cx="283464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59669"/>
                </a:solidFill>
                <a:latin typeface="Segoe UI"/>
              </a:defRPr>
            </a:pPr>
            <a:r>
              <a:t>100% Local Execution</a:t>
            </a:r>
          </a:p>
          <a:p>
            <a:pPr>
              <a:spcBef>
                <a:spcPts val="600"/>
              </a:spcBef>
              <a:defRPr sz="1400" b="1">
                <a:solidFill>
                  <a:srgbClr val="14110D"/>
                </a:solidFill>
                <a:latin typeface="Segoe UI"/>
              </a:defRPr>
            </a:pPr>
            <a:r>
              <a:t>Zero Cloud Telemetry Leakage</a:t>
            </a:r>
          </a:p>
          <a:p>
            <a:pPr>
              <a:spcBef>
                <a:spcPts val="1200"/>
              </a:spcBef>
              <a:defRPr sz="1350">
                <a:solidFill>
                  <a:srgbClr val="555048"/>
                </a:solidFill>
                <a:latin typeface="Segoe UI"/>
              </a:defRPr>
            </a:pPr>
            <a:r>
              <a:t>Hospitals, defense contractors, and banks cannot upload confidential files to public cloud APIs. Nullify runs 100% on your hardware. Not a single byte is sent over the internet.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645920"/>
            <a:ext cx="338328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709160" y="1920240"/>
            <a:ext cx="2011680" cy="320040"/>
          </a:xfrm>
          <a:prstGeom prst="roundRect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2563EB"/>
                </a:solidFill>
                <a:latin typeface="Consolas"/>
              </a:defRPr>
            </a:pPr>
            <a:r>
              <a:t>[ INTEGRATION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2423160"/>
            <a:ext cx="283464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2563EB"/>
                </a:solidFill>
                <a:latin typeface="Segoe UI"/>
              </a:defRPr>
            </a:pPr>
            <a:r>
              <a:t>SIEM &amp; SOAR Ready</a:t>
            </a:r>
          </a:p>
          <a:p>
            <a:pPr>
              <a:spcBef>
                <a:spcPts val="600"/>
              </a:spcBef>
              <a:defRPr sz="1400" b="1">
                <a:solidFill>
                  <a:srgbClr val="14110D"/>
                </a:solidFill>
                <a:latin typeface="Segoe UI"/>
              </a:defRPr>
            </a:pPr>
            <a:r>
              <a:t>Production REST API Built In</a:t>
            </a:r>
          </a:p>
          <a:p>
            <a:pPr>
              <a:spcBef>
                <a:spcPts val="1200"/>
              </a:spcBef>
              <a:defRPr sz="1350">
                <a:solidFill>
                  <a:srgbClr val="555048"/>
                </a:solidFill>
                <a:latin typeface="Segoe UI"/>
              </a:defRPr>
            </a:pPr>
            <a:r>
              <a:t>Built with FastAPI and OpenAPI. Exposes clean REST endpoints so your security operations team can integrate it with Splunk, Microsoft Sentinel, or Cortex XSOAR in minutes.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45920"/>
            <a:ext cx="338328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321040" y="1920240"/>
            <a:ext cx="2011680" cy="320040"/>
          </a:xfrm>
          <a:prstGeom prst="roundRect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D97706"/>
                </a:solidFill>
                <a:latin typeface="Consolas"/>
              </a:defRPr>
            </a:pPr>
            <a:r>
              <a:t>[ DEPLOYMENT 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423160"/>
            <a:ext cx="283464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D97706"/>
                </a:solidFill>
                <a:latin typeface="Segoe UI"/>
              </a:defRPr>
            </a:pPr>
            <a:r>
              <a:t>Air-Gapped &amp; Offline</a:t>
            </a:r>
          </a:p>
          <a:p>
            <a:pPr>
              <a:spcBef>
                <a:spcPts val="600"/>
              </a:spcBef>
              <a:defRPr sz="1400" b="1">
                <a:solidFill>
                  <a:srgbClr val="14110D"/>
                </a:solidFill>
                <a:latin typeface="Segoe UI"/>
              </a:defRPr>
            </a:pPr>
            <a:r>
              <a:t>Docker &amp; Containerized Core</a:t>
            </a:r>
          </a:p>
          <a:p>
            <a:pPr>
              <a:spcBef>
                <a:spcPts val="1200"/>
              </a:spcBef>
              <a:defRPr sz="1350">
                <a:solidFill>
                  <a:srgbClr val="555048"/>
                </a:solidFill>
                <a:latin typeface="Segoe UI"/>
              </a:defRPr>
            </a:pPr>
            <a:r>
              <a:t>Ships as a lightweight Docker container or standalone binary. Operates seamlessly inside secure, offline, air-gapped data centers with zero external dependencies.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63640"/>
            <a:ext cx="10545775" cy="9525"/>
          </a:xfrm>
          <a:prstGeom prst="rect">
            <a:avLst/>
          </a:prstGeom>
          <a:solidFill>
            <a:srgbClr val="E2DC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27648"/>
            <a:ext cx="10545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50">
                <a:solidFill>
                  <a:srgbClr val="827C73"/>
                </a:solidFill>
                <a:latin typeface="Consolas"/>
              </a:rPr>
              <a:t>EGATE  ●  NULLIFY AUTONOMOUS DEFENSE</a:t>
            </a:r>
            <a:r>
              <a:rPr i="1" sz="1000">
                <a:solidFill>
                  <a:srgbClr val="555048"/>
                </a:solidFill>
                <a:latin typeface="Georgia"/>
              </a:rPr>
              <a:t>                               See it. Trace it. Nullify it.                               </a:t>
            </a:r>
            <a:r>
              <a:rPr sz="950">
                <a:solidFill>
                  <a:srgbClr val="827C73"/>
                </a:solidFill>
                <a:latin typeface="Consolas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1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48640"/>
            <a:ext cx="11094415" cy="5760720"/>
          </a:xfrm>
          <a:prstGeom prst="roundRect">
            <a:avLst/>
          </a:prstGeom>
          <a:solidFill>
            <a:srgbClr val="14110D"/>
          </a:solidFill>
          <a:ln w="19050">
            <a:solidFill>
              <a:srgbClr val="322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05840" y="914400"/>
            <a:ext cx="2194560" cy="822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gate_logo_cropp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960120"/>
            <a:ext cx="2011680" cy="165827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337560" y="1143000"/>
            <a:ext cx="2377440" cy="365760"/>
          </a:xfrm>
          <a:prstGeom prst="roundRect">
            <a:avLst/>
          </a:prstGeom>
          <a:solidFill>
            <a:srgbClr val="1F1A14"/>
          </a:solidFill>
          <a:ln w="12700">
            <a:solidFill>
              <a:srgbClr val="322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10B981"/>
                </a:solidFill>
                <a:latin typeface="Consolas"/>
              </a:defRPr>
            </a:pPr>
            <a:r>
              <a:t>●  READY FOR LIVE DEMO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52160" y="1143000"/>
            <a:ext cx="2194560" cy="365760"/>
          </a:xfrm>
          <a:prstGeom prst="roundRect">
            <a:avLst/>
          </a:prstGeom>
          <a:solidFill>
            <a:srgbClr val="1F1A14"/>
          </a:solidFill>
          <a:ln w="12700">
            <a:solidFill>
              <a:srgbClr val="322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BFB9AF"/>
                </a:solidFill>
                <a:latin typeface="Consolas"/>
              </a:defRPr>
            </a:pPr>
            <a:r>
              <a:t>EGATE &amp; NULLIFY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011680"/>
            <a:ext cx="1005840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5400" b="1">
                <a:solidFill>
                  <a:srgbClr val="FAF8F5"/>
                </a:solidFill>
                <a:latin typeface="Georgia"/>
              </a:defRPr>
            </a:pPr>
            <a:r>
              <a:t>Let's Run a Live Test.</a:t>
            </a:r>
          </a:p>
          <a:p>
            <a:pPr>
              <a:spcBef>
                <a:spcPts val="1000"/>
              </a:spcBef>
              <a:defRPr sz="2000">
                <a:solidFill>
                  <a:srgbClr val="BFB9AF"/>
                </a:solidFill>
                <a:latin typeface="Segoe UI"/>
              </a:defRPr>
            </a:pPr>
            <a:r>
              <a:t>Pick any file. Watch Nullify inspect, classify, and neutralize it in milliseconds.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931920"/>
            <a:ext cx="3291840" cy="1325880"/>
          </a:xfrm>
          <a:prstGeom prst="roundRect">
            <a:avLst/>
          </a:prstGeom>
          <a:solidFill>
            <a:srgbClr val="1F1A14"/>
          </a:solidFill>
          <a:ln w="12700">
            <a:solidFill>
              <a:srgbClr val="322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4069080"/>
            <a:ext cx="283464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10B981"/>
                </a:solidFill>
                <a:latin typeface="Consolas"/>
              </a:defRPr>
            </a:pPr>
            <a:r>
              <a:t>[ 01 // PRODUCTION ]</a:t>
            </a:r>
          </a:p>
          <a:p>
            <a:pPr>
              <a:spcBef>
                <a:spcPts val="200"/>
              </a:spcBef>
              <a:defRPr sz="1550" b="1">
                <a:solidFill>
                  <a:srgbClr val="FAF8F5"/>
                </a:solidFill>
                <a:latin typeface="Segoe UI"/>
              </a:defRPr>
            </a:pPr>
            <a:r>
              <a:t>Fully Functional Now</a:t>
            </a:r>
          </a:p>
          <a:p>
            <a:pPr>
              <a:spcBef>
                <a:spcPts val="400"/>
              </a:spcBef>
              <a:defRPr sz="1200">
                <a:solidFill>
                  <a:srgbClr val="BFB9AF"/>
                </a:solidFill>
                <a:latin typeface="Segoe UI"/>
              </a:defRPr>
            </a:pPr>
            <a:r>
              <a:t>Web console, CLI, and C-engine are compiled and running live right now.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3931920"/>
            <a:ext cx="3291840" cy="1325880"/>
          </a:xfrm>
          <a:prstGeom prst="roundRect">
            <a:avLst/>
          </a:prstGeom>
          <a:solidFill>
            <a:srgbClr val="1F1A14"/>
          </a:solidFill>
          <a:ln w="12700">
            <a:solidFill>
              <a:srgbClr val="322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9160" y="4069080"/>
            <a:ext cx="283464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10B981"/>
                </a:solidFill>
                <a:latin typeface="Consolas"/>
              </a:defRPr>
            </a:pPr>
            <a:r>
              <a:t>[ 02 // QUALITY ]</a:t>
            </a:r>
          </a:p>
          <a:p>
            <a:pPr>
              <a:spcBef>
                <a:spcPts val="200"/>
              </a:spcBef>
              <a:defRPr sz="1550" b="1">
                <a:solidFill>
                  <a:srgbClr val="FAF8F5"/>
                </a:solidFill>
                <a:latin typeface="Segoe UI"/>
              </a:defRPr>
            </a:pPr>
            <a:r>
              <a:t>62 / 62 Tests Green</a:t>
            </a:r>
          </a:p>
          <a:p>
            <a:pPr>
              <a:spcBef>
                <a:spcPts val="400"/>
              </a:spcBef>
              <a:defRPr sz="1200">
                <a:solidFill>
                  <a:srgbClr val="BFB9AF"/>
                </a:solidFill>
                <a:latin typeface="Segoe UI"/>
              </a:defRPr>
            </a:pPr>
            <a:r>
              <a:t>Comprehensive automated test suite guarantees zero regressions.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9" y="3931920"/>
            <a:ext cx="3291840" cy="1325880"/>
          </a:xfrm>
          <a:prstGeom prst="roundRect">
            <a:avLst/>
          </a:prstGeom>
          <a:solidFill>
            <a:srgbClr val="1F1A14"/>
          </a:solidFill>
          <a:ln w="12700">
            <a:solidFill>
              <a:srgbClr val="322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79" y="4069080"/>
            <a:ext cx="283464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10B981"/>
                </a:solidFill>
                <a:latin typeface="Consolas"/>
              </a:defRPr>
            </a:pPr>
            <a:r>
              <a:t>[ 03 // OPEN CODE ]</a:t>
            </a:r>
          </a:p>
          <a:p>
            <a:pPr>
              <a:spcBef>
                <a:spcPts val="200"/>
              </a:spcBef>
              <a:defRPr sz="1550" b="1">
                <a:solidFill>
                  <a:srgbClr val="FAF8F5"/>
                </a:solidFill>
                <a:latin typeface="Segoe UI"/>
              </a:defRPr>
            </a:pPr>
            <a:r>
              <a:t>Verified on GitHub</a:t>
            </a:r>
          </a:p>
          <a:p>
            <a:pPr>
              <a:spcBef>
                <a:spcPts val="400"/>
              </a:spcBef>
              <a:defRPr sz="1200">
                <a:solidFill>
                  <a:srgbClr val="BFB9AF"/>
                </a:solidFill>
                <a:latin typeface="Segoe UI"/>
              </a:defRPr>
            </a:pPr>
            <a:r>
              <a:t>Clean, documented, production-ready codebase ready for inspection.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5840" y="5394960"/>
            <a:ext cx="10180015" cy="685800"/>
          </a:xfrm>
          <a:prstGeom prst="roundRect">
            <a:avLst/>
          </a:prstGeom>
          <a:solidFill>
            <a:srgbClr val="1F1A14"/>
          </a:solidFill>
          <a:ln w="12700">
            <a:solidFill>
              <a:srgbClr val="322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5532120"/>
            <a:ext cx="978408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b="1" sz="1200">
                <a:solidFill>
                  <a:srgbClr val="10B981"/>
                </a:solidFill>
                <a:latin typeface="Consolas"/>
              </a:rPr>
              <a:t>TRY IT LIVE: </a:t>
            </a:r>
            <a:r>
              <a:rPr sz="1200">
                <a:solidFill>
                  <a:srgbClr val="FAF8F5"/>
                </a:solidFill>
                <a:latin typeface="Consolas"/>
              </a:rPr>
              <a:t>Terminal: $ nullify   |   Web: http://localhost:8000   |   GitHub: Nate-br/nullify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63640"/>
            <a:ext cx="10545775" cy="9525"/>
          </a:xfrm>
          <a:prstGeom prst="rect">
            <a:avLst/>
          </a:prstGeom>
          <a:solidFill>
            <a:srgbClr val="322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27648"/>
            <a:ext cx="10545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50">
                <a:solidFill>
                  <a:srgbClr val="7D776E"/>
                </a:solidFill>
                <a:latin typeface="Consolas"/>
              </a:rPr>
              <a:t>EGATE  ●  NULLIFY AUTONOMOUS DEFENSE</a:t>
            </a:r>
            <a:r>
              <a:rPr i="1" sz="1000">
                <a:solidFill>
                  <a:srgbClr val="BFB9AF"/>
                </a:solidFill>
                <a:latin typeface="Georgia"/>
              </a:rPr>
              <a:t>                               See it. Trace it. Nullify it.                               </a:t>
            </a:r>
            <a:r>
              <a:rPr sz="950">
                <a:solidFill>
                  <a:srgbClr val="7D776E"/>
                </a:solidFill>
                <a:latin typeface="Consolas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
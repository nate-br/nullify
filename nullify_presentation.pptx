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[JUDGES PRESENTATION SCRIPT - SLIDE 1: INTRO &amp; VISION]</a:t>
            </a:r>
          </a:p>
          <a:p>
            <a:r>
              <a:t>"Good morning, esteemed judges. Today, we are thrilled to present NULLIFY — an autonomous, multi-agent cybersecurity platform built to fundamentally change how organizations detect, dissect, and neutralize malware.</a:t>
            </a:r>
          </a:p>
          <a:p/>
          <a:p>
            <a:r>
              <a:t>Our guiding thesis is simple: 'See it. Trace it. Nullify it.' </a:t>
            </a:r>
          </a:p>
          <a:p/>
          <a:p>
            <a:r>
              <a:t>In modern cybersecurity, latency kills. By the time a traditional sandbox spins up a virtual machine, executes a suspicious binary, and waits for a timeout, an advanced threat has already traversed the network, exfiltrated credentials, or deployed ransomware. </a:t>
            </a:r>
          </a:p>
          <a:p/>
          <a:p>
            <a:r>
              <a:t>Nullify solves this by fusing an ultra-fast, native C-Core accelerator with a collaborative team of six specialized AI agents and the EMBER 2017 machine learning model. It delivers enterprise-grade threat classification and auto-synthesized YARA defense rules in under 15 milliseconds. </a:t>
            </a:r>
          </a:p>
          <a:p/>
          <a:p>
            <a:r>
              <a:t>Let's dive into the problem we are solving."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[JUDGES PRESENTATION SCRIPT - SLIDE 2: THE PROBLEM]</a:t>
            </a:r>
          </a:p>
          <a:p>
            <a:r>
              <a:t>"To understand why Nullify is necessary, consider the reality of a modern Security Operations Center (SOC).</a:t>
            </a:r>
          </a:p>
          <a:p/>
          <a:p>
            <a:r>
              <a:t>First, threat volume is overwhelming. Over 450,000 new malware strains appear daily. Threat actors use commercial crypters and polymorphic engines that alter every byte of a binary while retaining execution payload. Traditional MD5 and SHA256 blacklists fail on minute one.</a:t>
            </a:r>
          </a:p>
          <a:p/>
          <a:p>
            <a:r>
              <a:t>Second, the latency penalty. When a SOC needs deep behavioral insight, they send files to a sandbox. Booting a VM, waiting through anti-evasion sleeps, and analyzing API hooks takes anywhere from 5 to 20 minutes. You cannot put line-rate firewalls or email pipelines on pause for 15 minutes.</a:t>
            </a:r>
          </a:p>
          <a:p/>
          <a:p>
            <a:r>
              <a:t>Third, engineering fragility. Most open-source triage tools are built in interpreted Python. When subjected to thousands of files, they choke on GIL contention, memory fragmentation, and 50ms PE-parsing bottlenecks.</a:t>
            </a:r>
          </a:p>
          <a:p/>
          <a:p>
            <a:r>
              <a:t>Nullify was built from the ground up to solve all three issues."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[JUDGES PRESENTATION SCRIPT - SLIDE 3: THE SOLUTION]</a:t>
            </a:r>
          </a:p>
          <a:p>
            <a:r>
              <a:t>"Nullify bridges this gap through what we call the Autonomous Threat Defense Triad.</a:t>
            </a:r>
          </a:p>
          <a:p/>
          <a:p>
            <a:r>
              <a:t>First, the Native C Accelerator. We realized that file parsing, cryptographic hashing, and entropy calculations should never run in Python. We rewrote these performance bottlenecks in pure C11 compiled with -O3. The result is a standalone binary and ctypes shared library that triages binaries in under 15 milliseconds.</a:t>
            </a:r>
          </a:p>
          <a:p/>
          <a:p>
            <a:r>
              <a:t>Second, our 6-Agent Autonomous Architecture. Instead of an uncontrollable single prompt, we decouple threat analysis into six discrete, deterministic agents. From static header analysis to process-tree behavioral tracing and machine learning, each agent has one job and executes it with clinical precision.</a:t>
            </a:r>
          </a:p>
          <a:p/>
          <a:p>
            <a:r>
              <a:t>Third, Active Defense Synthesis. Nullify doesn't just alert you that a file is malicious. It translates observed attacker behavior into MITRE ATT&amp;CK techniques and writes a bespoke, syntactically validated YARA rule on the spot. In seconds, your entire enterprise fleet is inoculated against the new sample.</a:t>
            </a:r>
          </a:p>
          <a:p/>
          <a:p>
            <a:r>
              <a:t>Let's look at how these six agents collaborate."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[JUDGES PRESENTATION SCRIPT - SLIDE 4: THE 6 AGENTS]</a:t>
            </a:r>
          </a:p>
          <a:p>
            <a:r>
              <a:t>"Rather than a fragile prompt chain, Nullify's architecture is a coordinated mesh of six autonomous agents.</a:t>
            </a:r>
          </a:p>
          <a:p/>
          <a:p>
            <a:r>
              <a:t>Agent 1: Triage. The gatekeeper. Using our compiled C-core, it inspects file headers, computes cryptographic hashes in a single streaming pass, and checks Shannon entropy in microseconds.</a:t>
            </a:r>
          </a:p>
          <a:p/>
          <a:p>
            <a:r>
              <a:t>Agent 2: Static Analysis. It parses PE section headers and import directories directly in memory, flagging high-risk APIs like VirtualAllocEx and WriteProcessMemory, and scanning for persistence mechanisms like Registry Run keys.</a:t>
            </a:r>
          </a:p>
          <a:p/>
          <a:p>
            <a:r>
              <a:t>Agent 3: Behavioral Correlation. When log telemetry is available, this agent reconstructs execution trees from Sysmon JSONL or Windows EVTX events, exposing suspicious parent-child process chains and LOLBin execution.</a:t>
            </a:r>
          </a:p>
          <a:p/>
          <a:p>
            <a:r>
              <a:t>Agent 4: Classification. The quantitative core. It extracts 2,381 structural features matching the EMBER 2017 specification and scores the sample against our gradient-boosted decision trees.</a:t>
            </a:r>
          </a:p>
          <a:p/>
          <a:p>
            <a:r>
              <a:t>Agent 5: Explainable Reasoning. It evaluates the combined evidence from static heuristics, behavioral telemetry, and ML probabilities. It resolves ambiguities and writes a coherent, human-grade threat explanation.</a:t>
            </a:r>
          </a:p>
          <a:p/>
          <a:p>
            <a:r>
              <a:t>Agent 6: Defense Synthesis. Finally, this agent takes the findings and outputs a complete, deployable YARA rule, ensuring that security analysts don't just know what happened, but have the immediate means to block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[JUDGES PRESENTATION SCRIPT - SLIDE 5: C-CORE ACCELERATION]</a:t>
            </a:r>
          </a:p>
          <a:p>
            <a:r>
              <a:t>"Now, let's discuss a major engineering differentiator: our Native C-Core Accelerator.</a:t>
            </a:r>
          </a:p>
          <a:p/>
          <a:p>
            <a:r>
              <a:t>Most AI and security startups write everything in Python. While Python is great for rapid orchestration, it is fundamentally unsuitable for byte-level binary parsing and high-throughput hashing. </a:t>
            </a:r>
          </a:p>
          <a:p/>
          <a:p>
            <a:r>
              <a:t>Consider PE import directory parsing. In standard Python security stacks, pefile takes ~50 milliseconds per file just to walk the PE header and unpack import descriptors. In src/c/pe_imports.c, our native C routine maps the struct directly into memory and resolves RVAs in less than 0.1 milliseconds. That is over 500 times faster.</a:t>
            </a:r>
          </a:p>
          <a:p/>
          <a:p>
            <a:r>
              <a:t>For pattern scanning, instead of compiling heavy Python regular expressions, our C sliding-window scanner checks for registry keys, scheduled tasks, and PowerShell cradles in 0.8 milliseconds — an 18.7x speedup.</a:t>
            </a:r>
          </a:p>
          <a:p/>
          <a:p>
            <a:r>
              <a:t>For cryptographic hashing, Python's hashlib traditionally requires either reading the file three times or juggling multiple stream objects. In src/c/hash.c, we read in 64KB blocks and update MD5, SHA-1, and SHA-256 concurrently in a single IO pass.</a:t>
            </a:r>
          </a:p>
          <a:p/>
          <a:p>
            <a:r>
              <a:t>Best of all: zero external OpenSSL dependencies. It compiles into a standalone CLI binary nullify-core and a ctypes shared library with transparent fallback to pure Python if native compilation is unavailable."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[JUDGES PRESENTATION SCRIPT - SLIDE 6: MACHINE LEARNING]</a:t>
            </a:r>
          </a:p>
          <a:p>
            <a:r>
              <a:t>"Moving to our Machine Learning layer. Many AI security projects use black-box language models that hallucinate or make uncalibrated guesses on binary content.</a:t>
            </a:r>
          </a:p>
          <a:p/>
          <a:p>
            <a:r>
              <a:t>Nullify anchors its statistical classification in the EMBER 2017 v2 benchmark — the gold standard dataset comprising 1.1 million verified binaries.</a:t>
            </a:r>
          </a:p>
          <a:p/>
          <a:p>
            <a:r>
              <a:t>We extract a 2,381-dimensional feature vector capturing byte entropy, byte frequency distributions, printable string metrics, and PE structural headers. Our gradient-boosted decision trees deliver an ROC-AUC exceeding 0.9995 with microsecond inference times on a standard CPU.</a:t>
            </a:r>
          </a:p>
          <a:p/>
          <a:p>
            <a:r>
              <a:t>Crucially, we engineered a specific safeguard for non-Windows targets. When scanning Linux ELF binaries, standard PE classifiers fail, generating high false-positive alerts. Nullify's triage layer intercepts ELF headers and reroutes analysis to behavioral and static indicators rather than feeding malformed structures to a Windows model.</a:t>
            </a:r>
          </a:p>
          <a:p/>
          <a:p>
            <a:r>
              <a:t>Furthermore, we verified 100% numerical parity: our native C feature extractor produces the exact same numerical vectors as Python, guaranteeing identical model predictions at 7x higher speed."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[JUDGES PRESENTATION SCRIPT - SLIDE 7: EXPLAINABLE YARA DEFENSE]</a:t>
            </a:r>
          </a:p>
          <a:p>
            <a:r>
              <a:t>"Here is where Nullify transforms threat detection into active organizational immunity.</a:t>
            </a:r>
          </a:p>
          <a:p/>
          <a:p>
            <a:r>
              <a:t>Traditional antivirus flags a file and displays an obscure alert like 'Win32.Malware.Gen'. The SOC analyst has to manually reverse engineer the binary to understand what it does.</a:t>
            </a:r>
          </a:p>
          <a:p/>
          <a:p>
            <a:r>
              <a:t>Nullify's Reasoning Agent provides immediate MITRE ATT&amp;CK attribution. If a sample imports VirtualAllocEx and CreateRemoteThread, it explicitly tags T1055 Process Injection. If it contains registry keys, it tags T1547.001.</a:t>
            </a:r>
          </a:p>
          <a:p/>
          <a:p>
            <a:r>
              <a:t>Even more importantly, our Defense Synthesis Agent dynamically writes an enterprise-grade YARA rule tailored to the specimen. On the right, you can see actual output from Nullify: complete with metadata, extracted string signatures, hex byte opcodes, and PE header conditions. </a:t>
            </a:r>
          </a:p>
          <a:p/>
          <a:p>
            <a:r>
              <a:t>This rule can be instantly ingested by CrowdStrike, SentinelOne, or Suricata to quarantine variants across the entire enterprise in seconds."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[JUDGES PRESENTATION SCRIPT - SLIDE 8: BENCHMARKS]</a:t>
            </a:r>
          </a:p>
          <a:p>
            <a:r>
              <a:t>"Let's look at the hard empirical data.</a:t>
            </a:r>
          </a:p>
          <a:p/>
          <a:p>
            <a:r>
              <a:t>In software testing, we maintain a 100% automated test pass rate with 62 out of 62 pytest cases executing cleanly across Linux ELF and Windows PE targets.</a:t>
            </a:r>
          </a:p>
          <a:p/>
          <a:p>
            <a:r>
              <a:t>Look at the comparison table on screen:</a:t>
            </a:r>
          </a:p>
          <a:p>
            <a:r>
              <a:t>- A traditional cloud sandbox takes 180,000 milliseconds (3 full minutes) to deliver a verdict.</a:t>
            </a:r>
          </a:p>
          <a:p>
            <a:r>
              <a:t>- A commercial EDR takes several seconds and provides an opaque vendor alert.</a:t>
            </a:r>
          </a:p>
          <a:p>
            <a:r>
              <a:t>- Standard Python tooling takes ~85 milliseconds and consumes hundreds of megabytes of RAM.</a:t>
            </a:r>
          </a:p>
          <a:p>
            <a:r>
              <a:t>- Nullify delivers full static triage, cryptographic multi-hashing, EMBER ML feature extraction, and MITRE attribution in 13.2 milliseconds.</a:t>
            </a:r>
          </a:p>
          <a:p/>
          <a:p>
            <a:r>
              <a:t>That translates to roughly 75 files per second per CPU core. A single commodity server running Nullify can process millions of binaries daily at line-rate without breaking a sweat."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[JUDGES PRESENTATION SCRIPT - SLIDE 9: USER EXPERIENCE]</a:t>
            </a:r>
          </a:p>
          <a:p>
            <a:r>
              <a:t>"A powerful security engine is only as good as its usability. We designed Nullify to serve both executive analysts and hardcore command-line operators.</a:t>
            </a:r>
          </a:p>
          <a:p/>
          <a:p>
            <a:r>
              <a:t>On the left is our Web Console, running locally at localhost:8000. It follows the RAVN Minimalist Luxury design philosophy — high-contrast monochrome tones, Instrument Serif typography, and bento-box result cards. Analysts can drag and drop a suspicious file and watch the six agents run in real time, inspect confidence gauges, and copy auto-generated YARA rules in one click.</a:t>
            </a:r>
          </a:p>
          <a:p/>
          <a:p>
            <a:r>
              <a:t>On the right is our Terminal Console. Instead of forcing analysts to memorize complex flags, running 'nullify' with zero arguments boots an illuminated ASCII art console with an interactive numbered menu. Analysts can launch quick scans, batch analyze directories, or trigger sandboxed detonations with a single keystroke.</a:t>
            </a:r>
          </a:p>
          <a:p/>
          <a:p>
            <a:r>
              <a:t>Both interfaces sit on top of the exact same native C engine and agent pipeline."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[JUDGES PRESENTATION SCRIPT - SLIDE 10: ENTERPRISE ARCHITECTURE]</a:t>
            </a:r>
          </a:p>
          <a:p>
            <a:r>
              <a:t>"A frequent question from technical evaluators is: 'How does this deploy in a real enterprise?'</a:t>
            </a:r>
          </a:p>
          <a:p/>
          <a:p>
            <a:r>
              <a:t>First: Nullify is 100% air-gapped capable. If you are a defense contractor, a bank, or a hospital, you cannot upload proprietary binaries to VirusTotal or commercial cloud sandboxes without violating data compliance. Nullify runs on-premise without phoning home a single byte.</a:t>
            </a:r>
          </a:p>
          <a:p/>
          <a:p>
            <a:r>
              <a:t>Second: Out of the box, we provide a production FastAPI REST engine with full OpenAPI schemas. You can hook it into Splunk, Microsoft Sentinel, or Cortex XSOAR in an afternoon. When a suspicious attachment arrives, your SOAR playbook calls /api/v1/scan and receives a complete JSON verdict with YARA signatures in milliseconds.</a:t>
            </a:r>
          </a:p>
          <a:p/>
          <a:p>
            <a:r>
              <a:t>Third: Modular architecture. Our agent mesh is strictly decoupled. If a customer wants to integrate a private on-premise LLM, add custom YARA repositories, or hook into a local CAPEv2 cluster, the pluggable interfaces make it trivial."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[JUDGES PRESENTATION SCRIPT - SLIDE 11: COMPETITIVE ADVANTAGE]</a:t>
            </a:r>
          </a:p>
          <a:p>
            <a:r>
              <a:t>"Here is how Nullify stacks up against existing market solutions.</a:t>
            </a:r>
          </a:p>
          <a:p/>
          <a:p>
            <a:r>
              <a:t>Traditional Antivirus is fast, but it is blind to zero-day polymorphic threats because it relies on static hashes and signatures.</a:t>
            </a:r>
          </a:p>
          <a:p/>
          <a:p>
            <a:r>
              <a:t>Cloud Sandboxes offer deep behavioral visibility, but at an astronomical cost of 5 to 20 minutes per sample. That is completely unworkable for real-time edge filtering or email gateways.</a:t>
            </a:r>
          </a:p>
          <a:p/>
          <a:p>
            <a:r>
              <a:t>Ad-hoc Python tools like pefile or basic YARA scanners lack machine learning classification, lack multi-agent reasoning, and choke on high-throughput workloads.</a:t>
            </a:r>
          </a:p>
          <a:p/>
          <a:p>
            <a:r>
              <a:t>Nullify is the only platform that combines the microsecond speed of native C, the predictive accuracy of the 2,381-dimensional EMBER model, explainable MITRE attribution, and automated YARA rule synthesis in a single, air-gapped system."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[JUDGES PRESENTATION SCRIPT - SLIDE 12: CONCLUSION &amp; LIVE DEMO]</a:t>
            </a:r>
          </a:p>
          <a:p>
            <a:r>
              <a:t>"To conclude: Nullify represents a paradigm shift in threat intelligence.</a:t>
            </a:r>
          </a:p>
          <a:p/>
          <a:p>
            <a:r>
              <a:t>We are taking cybersecurity from slow, retroactive manual investigation to autonomous, sub-millisecond threat neutralization.</a:t>
            </a:r>
          </a:p>
          <a:p/>
          <a:p>
            <a:r>
              <a:t>On our roadmap:</a:t>
            </a:r>
          </a:p>
          <a:p>
            <a:r>
              <a:t>- v1.1 brings kernel-level eBPF monitoring for zero-overhead runtime process isolation.</a:t>
            </a:r>
          </a:p>
          <a:p>
            <a:r>
              <a:t>- v1.2 brings automated native C memory unpacking for commercial crypters.</a:t>
            </a:r>
          </a:p>
          <a:p>
            <a:r>
              <a:t>- v1.3 federates this intelligence into a distributed enterprise mesh.</a:t>
            </a:r>
          </a:p>
          <a:p/>
          <a:p>
            <a:r>
              <a:t>The entire system is fully functional right now. We invite the judges to witness a live scan of synthetic trojans, ransomware, and Linux binaries using our Web Console or our interactive CLI.</a:t>
            </a:r>
          </a:p>
          <a:p/>
          <a:p>
            <a:r>
              <a:t>Thank you for your time, and we now welcome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915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457200"/>
            <a:ext cx="11277295" cy="5943600"/>
          </a:xfrm>
          <a:prstGeom prst="roundRect">
            <a:avLst/>
          </a:prstGeom>
          <a:solidFill>
            <a:srgbClr val="191510"/>
          </a:solidFill>
          <a:ln w="12700">
            <a:solidFill>
              <a:srgbClr val="352F2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22960" y="822960"/>
            <a:ext cx="2377440" cy="320040"/>
          </a:xfrm>
          <a:prstGeom prst="roundRect">
            <a:avLst/>
          </a:prstGeom>
          <a:solidFill>
            <a:srgbClr val="221D17"/>
          </a:solidFill>
          <a:ln w="9525">
            <a:solidFill>
              <a:srgbClr val="352F27"/>
            </a:solidFill>
          </a:ln>
        </p:spPr>
        <p:style>
          <a:lnRef idx="1">
            <a:schemeClr val="accent1"/>
          </a:lnRef>
          <a:fillRef idx="3">
            <a:schemeClr val="accent1"/>
          </a:fillRef>
          <a:effectRef idx="2">
            <a:schemeClr val="accent1"/>
          </a:effectRef>
          <a:fontRef idx="minor">
            <a:schemeClr val="lt1"/>
          </a:fontRef>
        </p:style>
        <p:txBody>
          <a:bodyPr rtlCol="0" anchor="ctr" wrap="none" lIns="0" tIns="0" rIns="0" bIns="0"/>
          <a:lstStyle/>
          <a:p>
            <a:pPr algn="ctr">
              <a:defRPr sz="800" b="1">
                <a:solidFill>
                  <a:srgbClr val="10B981"/>
                </a:solidFill>
                <a:latin typeface="Consolas"/>
              </a:defRPr>
            </a:pPr>
            <a:r>
              <a:t>● AUTONOMOUS DEFENSE PLATFORM</a:t>
            </a:r>
          </a:p>
        </p:txBody>
      </p:sp>
      <p:sp>
        <p:nvSpPr>
          <p:cNvPr id="5" name="Rounded Rectangle 4"/>
          <p:cNvSpPr/>
          <p:nvPr/>
        </p:nvSpPr>
        <p:spPr>
          <a:xfrm>
            <a:off x="3337560" y="822960"/>
            <a:ext cx="2011680" cy="320040"/>
          </a:xfrm>
          <a:prstGeom prst="roundRect">
            <a:avLst/>
          </a:prstGeom>
          <a:solidFill>
            <a:srgbClr val="221D17"/>
          </a:solidFill>
          <a:ln w="9525">
            <a:solidFill>
              <a:srgbClr val="352F27"/>
            </a:solidFill>
          </a:ln>
        </p:spPr>
        <p:style>
          <a:lnRef idx="1">
            <a:schemeClr val="accent1"/>
          </a:lnRef>
          <a:fillRef idx="3">
            <a:schemeClr val="accent1"/>
          </a:fillRef>
          <a:effectRef idx="2">
            <a:schemeClr val="accent1"/>
          </a:effectRef>
          <a:fontRef idx="minor">
            <a:schemeClr val="lt1"/>
          </a:fontRef>
        </p:style>
        <p:txBody>
          <a:bodyPr rtlCol="0" anchor="ctr" wrap="none" lIns="0" tIns="0" rIns="0" bIns="0"/>
          <a:lstStyle/>
          <a:p>
            <a:pPr algn="ctr">
              <a:defRPr sz="800" b="1">
                <a:solidFill>
                  <a:srgbClr val="A39E93"/>
                </a:solidFill>
                <a:latin typeface="Consolas"/>
              </a:defRPr>
            </a:pPr>
            <a:r>
              <a:t>SUB-MILLISECOND C-CORE</a:t>
            </a:r>
          </a:p>
        </p:txBody>
      </p:sp>
      <p:sp>
        <p:nvSpPr>
          <p:cNvPr id="6" name="Rounded Rectangle 5"/>
          <p:cNvSpPr/>
          <p:nvPr/>
        </p:nvSpPr>
        <p:spPr>
          <a:xfrm>
            <a:off x="5486400" y="822960"/>
            <a:ext cx="1828800" cy="320040"/>
          </a:xfrm>
          <a:prstGeom prst="roundRect">
            <a:avLst/>
          </a:prstGeom>
          <a:solidFill>
            <a:srgbClr val="221D17"/>
          </a:solidFill>
          <a:ln w="9525">
            <a:solidFill>
              <a:srgbClr val="352F27"/>
            </a:solidFill>
          </a:ln>
        </p:spPr>
        <p:style>
          <a:lnRef idx="1">
            <a:schemeClr val="accent1"/>
          </a:lnRef>
          <a:fillRef idx="3">
            <a:schemeClr val="accent1"/>
          </a:fillRef>
          <a:effectRef idx="2">
            <a:schemeClr val="accent1"/>
          </a:effectRef>
          <a:fontRef idx="minor">
            <a:schemeClr val="lt1"/>
          </a:fontRef>
        </p:style>
        <p:txBody>
          <a:bodyPr rtlCol="0" anchor="ctr" wrap="none" lIns="0" tIns="0" rIns="0" bIns="0"/>
          <a:lstStyle/>
          <a:p>
            <a:pPr algn="ctr">
              <a:defRPr sz="800" b="1">
                <a:solidFill>
                  <a:srgbClr val="A39E93"/>
                </a:solidFill>
                <a:latin typeface="Consolas"/>
              </a:defRPr>
            </a:pPr>
            <a:r>
              <a:t>EMBER 2017 v2 ML</a:t>
            </a:r>
          </a:p>
        </p:txBody>
      </p:sp>
      <p:sp>
        <p:nvSpPr>
          <p:cNvPr id="7" name="Rounded Rectangle 6"/>
          <p:cNvSpPr/>
          <p:nvPr/>
        </p:nvSpPr>
        <p:spPr>
          <a:xfrm>
            <a:off x="7452360" y="822960"/>
            <a:ext cx="2103120" cy="320040"/>
          </a:xfrm>
          <a:prstGeom prst="roundRect">
            <a:avLst/>
          </a:prstGeom>
          <a:solidFill>
            <a:srgbClr val="221D17"/>
          </a:solidFill>
          <a:ln w="9525">
            <a:solidFill>
              <a:srgbClr val="352F27"/>
            </a:solidFill>
          </a:ln>
        </p:spPr>
        <p:style>
          <a:lnRef idx="1">
            <a:schemeClr val="accent1"/>
          </a:lnRef>
          <a:fillRef idx="3">
            <a:schemeClr val="accent1"/>
          </a:fillRef>
          <a:effectRef idx="2">
            <a:schemeClr val="accent1"/>
          </a:effectRef>
          <a:fontRef idx="minor">
            <a:schemeClr val="lt1"/>
          </a:fontRef>
        </p:style>
        <p:txBody>
          <a:bodyPr rtlCol="0" anchor="ctr" wrap="none" lIns="0" tIns="0" rIns="0" bIns="0"/>
          <a:lstStyle/>
          <a:p>
            <a:pPr algn="ctr">
              <a:defRPr sz="800" b="1">
                <a:solidFill>
                  <a:srgbClr val="A39E93"/>
                </a:solidFill>
                <a:latin typeface="Consolas"/>
              </a:defRPr>
            </a:pPr>
            <a:r>
              <a:t>EXPLAINABLE DEFENSE</a:t>
            </a:r>
          </a:p>
        </p:txBody>
      </p:sp>
      <p:pic>
        <p:nvPicPr>
          <p:cNvPr id="8" name="Picture 7" descr="ascii-art-fateget.png"/>
          <p:cNvPicPr>
            <a:picLocks noChangeAspect="1"/>
          </p:cNvPicPr>
          <p:nvPr/>
        </p:nvPicPr>
        <p:blipFill>
          <a:blip r:embed="rId2"/>
          <a:stretch>
            <a:fillRect/>
          </a:stretch>
        </p:blipFill>
        <p:spPr>
          <a:xfrm>
            <a:off x="822960" y="1371600"/>
            <a:ext cx="6217920" cy="1298448"/>
          </a:xfrm>
          <a:prstGeom prst="rect">
            <a:avLst/>
          </a:prstGeom>
        </p:spPr>
      </p:pic>
      <p:sp>
        <p:nvSpPr>
          <p:cNvPr id="9" name="TextBox 8"/>
          <p:cNvSpPr txBox="1"/>
          <p:nvPr/>
        </p:nvSpPr>
        <p:spPr>
          <a:xfrm>
            <a:off x="822960" y="2788920"/>
            <a:ext cx="10058400" cy="1280160"/>
          </a:xfrm>
          <a:prstGeom prst="rect">
            <a:avLst/>
          </a:prstGeom>
          <a:noFill/>
        </p:spPr>
        <p:txBody>
          <a:bodyPr wrap="square" lIns="0" tIns="0" rIns="0" bIns="0">
            <a:spAutoFit/>
          </a:bodyPr>
          <a:lstStyle/>
          <a:p>
            <a:pPr>
              <a:defRPr sz="4400" b="1">
                <a:solidFill>
                  <a:srgbClr val="FAF8F5"/>
                </a:solidFill>
                <a:latin typeface="Georgia"/>
              </a:defRPr>
            </a:pPr>
            <a:r>
              <a:t>See it. Trace it. Nullify it.</a:t>
            </a:r>
          </a:p>
          <a:p>
            <a:pPr>
              <a:spcBef>
                <a:spcPts val="800"/>
              </a:spcBef>
              <a:defRPr sz="1700">
                <a:solidFill>
                  <a:srgbClr val="A39E93"/>
                </a:solidFill>
                <a:latin typeface="Segoe UI"/>
              </a:defRPr>
            </a:pPr>
            <a:r>
              <a:t>Autonomous Multi-Agent Threat Intelligence &amp; Real-Time Binary Neutralization</a:t>
            </a:r>
          </a:p>
        </p:txBody>
      </p:sp>
      <p:sp>
        <p:nvSpPr>
          <p:cNvPr id="10" name="Rounded Rectangle 9"/>
          <p:cNvSpPr/>
          <p:nvPr/>
        </p:nvSpPr>
        <p:spPr>
          <a:xfrm>
            <a:off x="822960" y="4251960"/>
            <a:ext cx="3291840" cy="1325880"/>
          </a:xfrm>
          <a:prstGeom prst="roundRect">
            <a:avLst/>
          </a:prstGeom>
          <a:solidFill>
            <a:srgbClr val="221D17"/>
          </a:solidFill>
          <a:ln w="12700">
            <a:solidFill>
              <a:srgbClr val="352F2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370832"/>
            <a:ext cx="2926080" cy="1097280"/>
          </a:xfrm>
          <a:prstGeom prst="rect">
            <a:avLst/>
          </a:prstGeom>
          <a:noFill/>
        </p:spPr>
        <p:txBody>
          <a:bodyPr wrap="square" lIns="0" tIns="0" rIns="0" bIns="0">
            <a:spAutoFit/>
          </a:bodyPr>
          <a:lstStyle/>
          <a:p>
            <a:pPr>
              <a:defRPr sz="1300" b="1">
                <a:solidFill>
                  <a:srgbClr val="FAF8F5"/>
                </a:solidFill>
                <a:latin typeface="Segoe UI"/>
              </a:defRPr>
            </a:pPr>
            <a:r>
              <a:t>⚡ Ultra-Fast C-Core</a:t>
            </a:r>
          </a:p>
          <a:p>
            <a:pPr>
              <a:spcBef>
                <a:spcPts val="400"/>
              </a:spcBef>
              <a:defRPr sz="1050">
                <a:solidFill>
                  <a:srgbClr val="A39E93"/>
                </a:solidFill>
                <a:latin typeface="Calibri"/>
              </a:defRPr>
            </a:pPr>
            <a:r>
              <a:t>Pure C11 (-O3) standalone engine performing full PE/ELF static triage in under 15 milliseconds.</a:t>
            </a:r>
          </a:p>
        </p:txBody>
      </p:sp>
      <p:sp>
        <p:nvSpPr>
          <p:cNvPr id="12" name="Rounded Rectangle 11"/>
          <p:cNvSpPr/>
          <p:nvPr/>
        </p:nvSpPr>
        <p:spPr>
          <a:xfrm>
            <a:off x="4297680" y="4251960"/>
            <a:ext cx="3291840" cy="1325880"/>
          </a:xfrm>
          <a:prstGeom prst="roundRect">
            <a:avLst/>
          </a:prstGeom>
          <a:solidFill>
            <a:srgbClr val="221D17"/>
          </a:solidFill>
          <a:ln w="12700">
            <a:solidFill>
              <a:srgbClr val="352F2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80560" y="4370832"/>
            <a:ext cx="2926080" cy="1097280"/>
          </a:xfrm>
          <a:prstGeom prst="rect">
            <a:avLst/>
          </a:prstGeom>
          <a:noFill/>
        </p:spPr>
        <p:txBody>
          <a:bodyPr wrap="square" lIns="0" tIns="0" rIns="0" bIns="0">
            <a:spAutoFit/>
          </a:bodyPr>
          <a:lstStyle/>
          <a:p>
            <a:pPr>
              <a:defRPr sz="1300" b="1">
                <a:solidFill>
                  <a:srgbClr val="FAF8F5"/>
                </a:solidFill>
                <a:latin typeface="Segoe UI"/>
              </a:defRPr>
            </a:pPr>
            <a:r>
              <a:t>🤖 6 Collaborative Agents</a:t>
            </a:r>
          </a:p>
          <a:p>
            <a:pPr>
              <a:spcBef>
                <a:spcPts val="400"/>
              </a:spcBef>
              <a:defRPr sz="1050">
                <a:solidFill>
                  <a:srgbClr val="A39E93"/>
                </a:solidFill>
                <a:latin typeface="Calibri"/>
              </a:defRPr>
            </a:pPr>
            <a:r>
              <a:t>Triage, Static, Behavioral, EMBER ML, Reasoning, and Defense Synthesis working in harmony.</a:t>
            </a:r>
          </a:p>
        </p:txBody>
      </p:sp>
      <p:sp>
        <p:nvSpPr>
          <p:cNvPr id="14" name="Rounded Rectangle 13"/>
          <p:cNvSpPr/>
          <p:nvPr/>
        </p:nvSpPr>
        <p:spPr>
          <a:xfrm>
            <a:off x="7772400" y="4251960"/>
            <a:ext cx="3291840" cy="1325880"/>
          </a:xfrm>
          <a:prstGeom prst="roundRect">
            <a:avLst/>
          </a:prstGeom>
          <a:solidFill>
            <a:srgbClr val="221D17"/>
          </a:solidFill>
          <a:ln w="12700">
            <a:solidFill>
              <a:srgbClr val="352F2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55279" y="4370832"/>
            <a:ext cx="2926080" cy="1097280"/>
          </a:xfrm>
          <a:prstGeom prst="rect">
            <a:avLst/>
          </a:prstGeom>
          <a:noFill/>
        </p:spPr>
        <p:txBody>
          <a:bodyPr wrap="square" lIns="0" tIns="0" rIns="0" bIns="0">
            <a:spAutoFit/>
          </a:bodyPr>
          <a:lstStyle/>
          <a:p>
            <a:pPr>
              <a:defRPr sz="1300" b="1">
                <a:solidFill>
                  <a:srgbClr val="FAF8F5"/>
                </a:solidFill>
                <a:latin typeface="Segoe UI"/>
              </a:defRPr>
            </a:pPr>
            <a:r>
              <a:t>🛡️ Auto-Synthesizing YARA</a:t>
            </a:r>
          </a:p>
          <a:p>
            <a:pPr>
              <a:spcBef>
                <a:spcPts val="400"/>
              </a:spcBef>
              <a:defRPr sz="1050">
                <a:solidFill>
                  <a:srgbClr val="A39E93"/>
                </a:solidFill>
                <a:latin typeface="Calibri"/>
              </a:defRPr>
            </a:pPr>
            <a:r>
              <a:t>Translates observed threat heuristics directly into deployable enterprise detection rules.</a:t>
            </a:r>
          </a:p>
        </p:txBody>
      </p:sp>
      <p:sp>
        <p:nvSpPr>
          <p:cNvPr id="16" name="TextBox 15"/>
          <p:cNvSpPr txBox="1"/>
          <p:nvPr/>
        </p:nvSpPr>
        <p:spPr>
          <a:xfrm>
            <a:off x="822960" y="5760720"/>
            <a:ext cx="10058400" cy="365760"/>
          </a:xfrm>
          <a:prstGeom prst="rect">
            <a:avLst/>
          </a:prstGeom>
          <a:noFill/>
        </p:spPr>
        <p:txBody>
          <a:bodyPr wrap="none" lIns="0" tIns="0" rIns="0" bIns="0">
            <a:spAutoFit/>
          </a:bodyPr>
          <a:lstStyle/>
          <a:p>
            <a:pPr>
              <a:defRPr sz="950">
                <a:solidFill>
                  <a:srgbClr val="10B981"/>
                </a:solidFill>
                <a:latin typeface="Consolas"/>
              </a:defRPr>
            </a:pPr>
            <a:r>
              <a:t>PRESENTED TO THE PANEL OF JUDGES  ●  PROJECT NULLIFY  ●  OPEN-SOURCE ENTERPRISE DEFENSE</a:t>
            </a:r>
          </a:p>
        </p:txBody>
      </p:sp>
      <p:sp>
        <p:nvSpPr>
          <p:cNvPr id="17" name="Rectangle 16"/>
          <p:cNvSpPr/>
          <p:nvPr/>
        </p:nvSpPr>
        <p:spPr>
          <a:xfrm>
            <a:off x="731520" y="6263640"/>
            <a:ext cx="10728655" cy="9525"/>
          </a:xfrm>
          <a:prstGeom prst="rect">
            <a:avLst/>
          </a:prstGeom>
          <a:solidFill>
            <a:srgbClr val="352F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6327648"/>
            <a:ext cx="10728655" cy="320040"/>
          </a:xfrm>
          <a:prstGeom prst="rect">
            <a:avLst/>
          </a:prstGeom>
          <a:noFill/>
        </p:spPr>
        <p:txBody>
          <a:bodyPr wrap="none" lIns="0" tIns="0" rIns="0" bIns="0">
            <a:spAutoFit/>
          </a:bodyPr>
          <a:lstStyle/>
          <a:p>
            <a:r>
              <a:rPr sz="850">
                <a:solidFill>
                  <a:srgbClr val="736E65"/>
                </a:solidFill>
                <a:latin typeface="Consolas"/>
              </a:rPr>
              <a:t>NULLIFY  ●  AUTONOMOUS MULTI-AGENT DEFENSE</a:t>
            </a:r>
            <a:r>
              <a:rPr i="1" sz="900">
                <a:solidFill>
                  <a:srgbClr val="A39E93"/>
                </a:solidFill>
                <a:latin typeface="Georgia"/>
              </a:rPr>
              <a:t>                       See it. Trace it. Nullify it.                       </a:t>
            </a:r>
            <a:r>
              <a:rPr sz="850">
                <a:solidFill>
                  <a:srgbClr val="736E65"/>
                </a:solidFill>
                <a:latin typeface="Consolas"/>
              </a:rPr>
              <a:t>SLIDE 01 /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698480" cy="365760"/>
          </a:xfrm>
          <a:prstGeom prst="rect">
            <a:avLst/>
          </a:prstGeom>
          <a:noFill/>
        </p:spPr>
        <p:txBody>
          <a:bodyPr wrap="square" lIns="0" tIns="0" rIns="0" bIns="0">
            <a:spAutoFit/>
          </a:bodyPr>
          <a:lstStyle/>
          <a:p>
            <a:pPr>
              <a:defRPr sz="1000" b="1">
                <a:solidFill>
                  <a:srgbClr val="15803D"/>
                </a:solidFill>
                <a:latin typeface="Consolas"/>
              </a:defRPr>
            </a:pPr>
            <a:r>
              <a:t>01 // EXECUTIVE CONTEXT &amp; PROBLEM</a:t>
            </a:r>
          </a:p>
        </p:txBody>
      </p:sp>
      <p:sp>
        <p:nvSpPr>
          <p:cNvPr id="4" name="TextBox 3"/>
          <p:cNvSpPr txBox="1"/>
          <p:nvPr/>
        </p:nvSpPr>
        <p:spPr>
          <a:xfrm>
            <a:off x="731520" y="822960"/>
            <a:ext cx="10698480" cy="731520"/>
          </a:xfrm>
          <a:prstGeom prst="rect">
            <a:avLst/>
          </a:prstGeom>
          <a:noFill/>
        </p:spPr>
        <p:txBody>
          <a:bodyPr wrap="square" lIns="0" tIns="0" rIns="0" bIns="0">
            <a:spAutoFit/>
          </a:bodyPr>
          <a:lstStyle/>
          <a:p>
            <a:pPr>
              <a:defRPr sz="2800" b="1">
                <a:solidFill>
                  <a:srgbClr val="191510"/>
                </a:solidFill>
                <a:latin typeface="Georgia"/>
              </a:defRPr>
            </a:pPr>
            <a:r>
              <a:t>The Asymmetric Crisis in Modern Threat Defense</a:t>
            </a:r>
          </a:p>
        </p:txBody>
      </p:sp>
      <p:sp>
        <p:nvSpPr>
          <p:cNvPr id="5" name="Rounded Rectangle 4"/>
          <p:cNvSpPr/>
          <p:nvPr/>
        </p:nvSpPr>
        <p:spPr>
          <a:xfrm>
            <a:off x="731520" y="1645920"/>
            <a:ext cx="3429000" cy="3474720"/>
          </a:xfrm>
          <a:prstGeom prst="roundRect">
            <a:avLst/>
          </a:prstGeom>
          <a:solidFill>
            <a:srgbClr val="FFFFFF"/>
          </a:solidFill>
          <a:ln w="12700">
            <a:solidFill>
              <a:srgbClr val="E5E2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60120" y="1874519"/>
            <a:ext cx="1645920" cy="292608"/>
          </a:xfrm>
          <a:prstGeom prst="roundRect">
            <a:avLst/>
          </a:prstGeom>
          <a:solidFill>
            <a:srgbClr val="FEF2F2"/>
          </a:solidFill>
          <a:ln w="9525">
            <a:solidFill>
              <a:srgbClr val="FECACA"/>
            </a:solidFill>
          </a:ln>
        </p:spPr>
        <p:style>
          <a:lnRef idx="1">
            <a:schemeClr val="accent1"/>
          </a:lnRef>
          <a:fillRef idx="3">
            <a:schemeClr val="accent1"/>
          </a:fillRef>
          <a:effectRef idx="2">
            <a:schemeClr val="accent1"/>
          </a:effectRef>
          <a:fontRef idx="minor">
            <a:schemeClr val="lt1"/>
          </a:fontRef>
        </p:style>
        <p:txBody>
          <a:bodyPr rtlCol="0" anchor="ctr" wrap="none" lIns="0" tIns="0" rIns="0" bIns="0"/>
          <a:lstStyle/>
          <a:p>
            <a:pPr algn="ctr">
              <a:defRPr sz="800" b="1">
                <a:solidFill>
                  <a:srgbClr val="B91C1C"/>
                </a:solidFill>
                <a:latin typeface="Consolas"/>
              </a:defRPr>
            </a:pPr>
            <a:r>
              <a:t>450K+ daily variants</a:t>
            </a:r>
          </a:p>
        </p:txBody>
      </p:sp>
      <p:sp>
        <p:nvSpPr>
          <p:cNvPr id="7" name="TextBox 6"/>
          <p:cNvSpPr txBox="1"/>
          <p:nvPr/>
        </p:nvSpPr>
        <p:spPr>
          <a:xfrm>
            <a:off x="960120" y="2331720"/>
            <a:ext cx="2971800" cy="2651760"/>
          </a:xfrm>
          <a:prstGeom prst="rect">
            <a:avLst/>
          </a:prstGeom>
          <a:noFill/>
        </p:spPr>
        <p:txBody>
          <a:bodyPr wrap="square" lIns="0" tIns="0" rIns="0" bIns="0">
            <a:spAutoFit/>
          </a:bodyPr>
          <a:lstStyle/>
          <a:p>
            <a:pPr>
              <a:defRPr sz="2400">
                <a:solidFill>
                  <a:srgbClr val="B91C1C"/>
                </a:solidFill>
                <a:latin typeface="Georgia"/>
              </a:defRPr>
            </a:pPr>
            <a:r>
              <a:t>01</a:t>
            </a:r>
          </a:p>
          <a:p>
            <a:pPr>
              <a:spcBef>
                <a:spcPts val="400"/>
              </a:spcBef>
              <a:defRPr sz="1400" b="1">
                <a:solidFill>
                  <a:srgbClr val="191510"/>
                </a:solidFill>
                <a:latin typeface="Segoe UI"/>
              </a:defRPr>
            </a:pPr>
            <a:r>
              <a:t>Polymorphic Zero-Day Avalanche</a:t>
            </a:r>
          </a:p>
          <a:p>
            <a:pPr>
              <a:spcBef>
                <a:spcPts val="800"/>
              </a:spcBef>
              <a:defRPr sz="1100">
                <a:solidFill>
                  <a:srgbClr val="66625B"/>
                </a:solidFill>
                <a:latin typeface="Calibri"/>
              </a:defRPr>
            </a:pPr>
            <a:r>
              <a:t>Over 450,000 new malware samples emerge every single day. Attackers leverage polymorphic crypters, dynamic API unhooking, and packed payloads that render traditional static hash lists (MD5/SHA256) and signature-only antivirus utterly obsolete.</a:t>
            </a:r>
          </a:p>
        </p:txBody>
      </p:sp>
      <p:sp>
        <p:nvSpPr>
          <p:cNvPr id="8" name="Rounded Rectangle 7"/>
          <p:cNvSpPr/>
          <p:nvPr/>
        </p:nvSpPr>
        <p:spPr>
          <a:xfrm>
            <a:off x="4370832" y="1645920"/>
            <a:ext cx="3429000" cy="3474720"/>
          </a:xfrm>
          <a:prstGeom prst="roundRect">
            <a:avLst/>
          </a:prstGeom>
          <a:solidFill>
            <a:srgbClr val="FFFFFF"/>
          </a:solidFill>
          <a:ln w="12700">
            <a:solidFill>
              <a:srgbClr val="E5E2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599432" y="1874519"/>
            <a:ext cx="1645920" cy="292608"/>
          </a:xfrm>
          <a:prstGeom prst="roundRect">
            <a:avLst/>
          </a:prstGeom>
          <a:solidFill>
            <a:srgbClr val="FFFBEB"/>
          </a:solidFill>
          <a:ln w="9525">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wrap="none" lIns="0" tIns="0" rIns="0" bIns="0"/>
          <a:lstStyle/>
          <a:p>
            <a:pPr algn="ctr">
              <a:defRPr sz="800" b="1">
                <a:solidFill>
                  <a:srgbClr val="B45309"/>
                </a:solidFill>
                <a:latin typeface="Consolas"/>
              </a:defRPr>
            </a:pPr>
            <a:r>
              <a:t>300-1200s delay</a:t>
            </a:r>
          </a:p>
        </p:txBody>
      </p:sp>
      <p:sp>
        <p:nvSpPr>
          <p:cNvPr id="10" name="TextBox 9"/>
          <p:cNvSpPr txBox="1"/>
          <p:nvPr/>
        </p:nvSpPr>
        <p:spPr>
          <a:xfrm>
            <a:off x="4599432" y="2331720"/>
            <a:ext cx="2971800" cy="2651760"/>
          </a:xfrm>
          <a:prstGeom prst="rect">
            <a:avLst/>
          </a:prstGeom>
          <a:noFill/>
        </p:spPr>
        <p:txBody>
          <a:bodyPr wrap="square" lIns="0" tIns="0" rIns="0" bIns="0">
            <a:spAutoFit/>
          </a:bodyPr>
          <a:lstStyle/>
          <a:p>
            <a:pPr>
              <a:defRPr sz="2400">
                <a:solidFill>
                  <a:srgbClr val="B45309"/>
                </a:solidFill>
                <a:latin typeface="Georgia"/>
              </a:defRPr>
            </a:pPr>
            <a:r>
              <a:t>02</a:t>
            </a:r>
          </a:p>
          <a:p>
            <a:pPr>
              <a:spcBef>
                <a:spcPts val="400"/>
              </a:spcBef>
              <a:defRPr sz="1400" b="1">
                <a:solidFill>
                  <a:srgbClr val="191510"/>
                </a:solidFill>
                <a:latin typeface="Segoe UI"/>
              </a:defRPr>
            </a:pPr>
            <a:r>
              <a:t>The 15-Minute Sandbox Bottleneck</a:t>
            </a:r>
          </a:p>
          <a:p>
            <a:pPr>
              <a:spcBef>
                <a:spcPts val="800"/>
              </a:spcBef>
              <a:defRPr sz="1100">
                <a:solidFill>
                  <a:srgbClr val="66625B"/>
                </a:solidFill>
                <a:latin typeface="Calibri"/>
              </a:defRPr>
            </a:pPr>
            <a:r>
              <a:t>Traditional behavioral detonation sandboxes (e.g. Cuckoo, Joe Sandbox) take 5 to 20 minutes to boot a guest VM, wait for sleep evasions, and produce telemetry. High-throughput edge routers and email gateways cannot afford to wait minutes on hold.</a:t>
            </a:r>
          </a:p>
        </p:txBody>
      </p:sp>
      <p:sp>
        <p:nvSpPr>
          <p:cNvPr id="11" name="Rounded Rectangle 10"/>
          <p:cNvSpPr/>
          <p:nvPr/>
        </p:nvSpPr>
        <p:spPr>
          <a:xfrm>
            <a:off x="8010144" y="1645920"/>
            <a:ext cx="3429000" cy="3474720"/>
          </a:xfrm>
          <a:prstGeom prst="roundRect">
            <a:avLst/>
          </a:prstGeom>
          <a:solidFill>
            <a:srgbClr val="FFFFFF"/>
          </a:solidFill>
          <a:ln w="12700">
            <a:solidFill>
              <a:srgbClr val="E5E2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238744" y="1874519"/>
            <a:ext cx="1645920" cy="292608"/>
          </a:xfrm>
          <a:prstGeom prst="roundRect">
            <a:avLst/>
          </a:prstGeom>
          <a:solidFill>
            <a:srgbClr val="EFF6FF"/>
          </a:solidFill>
          <a:ln w="9525">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lIns="0" tIns="0" rIns="0" bIns="0"/>
          <a:lstStyle/>
          <a:p>
            <a:pPr algn="ctr">
              <a:defRPr sz="800" b="1">
                <a:solidFill>
                  <a:srgbClr val="2563EB"/>
                </a:solidFill>
                <a:latin typeface="Consolas"/>
              </a:defRPr>
            </a:pPr>
            <a:r>
              <a:t>100ms+ GIL lockup</a:t>
            </a:r>
          </a:p>
        </p:txBody>
      </p:sp>
      <p:sp>
        <p:nvSpPr>
          <p:cNvPr id="13" name="TextBox 12"/>
          <p:cNvSpPr txBox="1"/>
          <p:nvPr/>
        </p:nvSpPr>
        <p:spPr>
          <a:xfrm>
            <a:off x="8238744" y="2331720"/>
            <a:ext cx="2971800" cy="2651760"/>
          </a:xfrm>
          <a:prstGeom prst="rect">
            <a:avLst/>
          </a:prstGeom>
          <a:noFill/>
        </p:spPr>
        <p:txBody>
          <a:bodyPr wrap="square" lIns="0" tIns="0" rIns="0" bIns="0">
            <a:spAutoFit/>
          </a:bodyPr>
          <a:lstStyle/>
          <a:p>
            <a:pPr>
              <a:defRPr sz="2400">
                <a:solidFill>
                  <a:srgbClr val="2563EB"/>
                </a:solidFill>
                <a:latin typeface="Georgia"/>
              </a:defRPr>
            </a:pPr>
            <a:r>
              <a:t>03</a:t>
            </a:r>
          </a:p>
          <a:p>
            <a:pPr>
              <a:spcBef>
                <a:spcPts val="400"/>
              </a:spcBef>
              <a:defRPr sz="1400" b="1">
                <a:solidFill>
                  <a:srgbClr val="191510"/>
                </a:solidFill>
                <a:latin typeface="Segoe UI"/>
              </a:defRPr>
            </a:pPr>
            <a:r>
              <a:t>Python Tooling Bloat &amp; Memory Leaks</a:t>
            </a:r>
          </a:p>
          <a:p>
            <a:pPr>
              <a:spcBef>
                <a:spcPts val="800"/>
              </a:spcBef>
              <a:defRPr sz="1100">
                <a:solidFill>
                  <a:srgbClr val="66625B"/>
                </a:solidFill>
                <a:latin typeface="Calibri"/>
              </a:defRPr>
            </a:pPr>
            <a:r>
              <a:t>Most open-source security tools (pefile, volatility, regex scanners) are written in high-level interpreted Python. They suffer from GIL locking, excessive memory consumption, and 50–100ms per-file overhead, causing fatal bottlenecks at scale.</a:t>
            </a:r>
          </a:p>
        </p:txBody>
      </p:sp>
      <p:sp>
        <p:nvSpPr>
          <p:cNvPr id="14" name="Rounded Rectangle 13"/>
          <p:cNvSpPr/>
          <p:nvPr/>
        </p:nvSpPr>
        <p:spPr>
          <a:xfrm>
            <a:off x="731520" y="5303520"/>
            <a:ext cx="10728655" cy="777240"/>
          </a:xfrm>
          <a:prstGeom prst="roundRect">
            <a:avLst/>
          </a:prstGeom>
          <a:solidFill>
            <a:srgbClr val="FAF8F5"/>
          </a:solidFill>
          <a:ln w="12700">
            <a:solidFill>
              <a:srgbClr val="E5E2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5440680"/>
            <a:ext cx="10241280" cy="548640"/>
          </a:xfrm>
          <a:prstGeom prst="rect">
            <a:avLst/>
          </a:prstGeom>
          <a:noFill/>
        </p:spPr>
        <p:txBody>
          <a:bodyPr wrap="square" lIns="0" tIns="0" rIns="0" bIns="0">
            <a:spAutoFit/>
          </a:bodyPr>
          <a:lstStyle/>
          <a:p>
            <a:r>
              <a:rPr b="1" sz="1100">
                <a:solidFill>
                  <a:srgbClr val="B91C1C"/>
                </a:solidFill>
                <a:latin typeface="Consolas"/>
              </a:rPr>
              <a:t>THE SECURITY GAP: </a:t>
            </a:r>
            <a:r>
              <a:rPr sz="1150">
                <a:solidFill>
                  <a:srgbClr val="191510"/>
                </a:solidFill>
                <a:latin typeface="Calibri"/>
              </a:rPr>
              <a:t>SOC analysts and automated perimeter defenses are forced to choose between fast but blind static heuristics, or deep but impossibly sluggish cloud sandboxes. Nullify destroys this compromise.</a:t>
            </a:r>
          </a:p>
        </p:txBody>
      </p:sp>
      <p:sp>
        <p:nvSpPr>
          <p:cNvPr id="16" name="Rectangle 15"/>
          <p:cNvSpPr/>
          <p:nvPr/>
        </p:nvSpPr>
        <p:spPr>
          <a:xfrm>
            <a:off x="731520" y="6263640"/>
            <a:ext cx="10728655" cy="9525"/>
          </a:xfrm>
          <a:prstGeom prst="rect">
            <a:avLst/>
          </a:prstGeom>
          <a:solidFill>
            <a:srgbClr val="E5E2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6327648"/>
            <a:ext cx="10728655" cy="320040"/>
          </a:xfrm>
          <a:prstGeom prst="rect">
            <a:avLst/>
          </a:prstGeom>
          <a:noFill/>
        </p:spPr>
        <p:txBody>
          <a:bodyPr wrap="none" lIns="0" tIns="0" rIns="0" bIns="0">
            <a:spAutoFit/>
          </a:bodyPr>
          <a:lstStyle/>
          <a:p>
            <a:r>
              <a:rPr sz="850">
                <a:solidFill>
                  <a:srgbClr val="8C877E"/>
                </a:solidFill>
                <a:latin typeface="Consolas"/>
              </a:rPr>
              <a:t>NULLIFY  ●  AUTONOMOUS MULTI-AGENT DEFENSE</a:t>
            </a:r>
            <a:r>
              <a:rPr i="1" sz="900">
                <a:solidFill>
                  <a:srgbClr val="66625B"/>
                </a:solidFill>
                <a:latin typeface="Georgia"/>
              </a:rPr>
              <a:t>                       See it. Trace it. Nullify it.                       </a:t>
            </a:r>
            <a:r>
              <a:rPr sz="850">
                <a:solidFill>
                  <a:srgbClr val="8C877E"/>
                </a:solidFill>
                <a:latin typeface="Consolas"/>
              </a:rPr>
              <a:t>SLIDE 02 /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698480" cy="365760"/>
          </a:xfrm>
          <a:prstGeom prst="rect">
            <a:avLst/>
          </a:prstGeom>
          <a:noFill/>
        </p:spPr>
        <p:txBody>
          <a:bodyPr wrap="square" lIns="0" tIns="0" rIns="0" bIns="0">
            <a:spAutoFit/>
          </a:bodyPr>
          <a:lstStyle/>
          <a:p>
            <a:pPr>
              <a:defRPr sz="1000" b="1">
                <a:solidFill>
                  <a:srgbClr val="15803D"/>
                </a:solidFill>
                <a:latin typeface="Consolas"/>
              </a:defRPr>
            </a:pPr>
            <a:r>
              <a:t>02 // PRODUCT INNOVATION</a:t>
            </a:r>
          </a:p>
        </p:txBody>
      </p:sp>
      <p:sp>
        <p:nvSpPr>
          <p:cNvPr id="4" name="TextBox 3"/>
          <p:cNvSpPr txBox="1"/>
          <p:nvPr/>
        </p:nvSpPr>
        <p:spPr>
          <a:xfrm>
            <a:off x="731520" y="822960"/>
            <a:ext cx="10698480" cy="731520"/>
          </a:xfrm>
          <a:prstGeom prst="rect">
            <a:avLst/>
          </a:prstGeom>
          <a:noFill/>
        </p:spPr>
        <p:txBody>
          <a:bodyPr wrap="square" lIns="0" tIns="0" rIns="0" bIns="0">
            <a:spAutoFit/>
          </a:bodyPr>
          <a:lstStyle/>
          <a:p>
            <a:pPr>
              <a:defRPr sz="2800" b="1">
                <a:solidFill>
                  <a:srgbClr val="191510"/>
                </a:solidFill>
                <a:latin typeface="Georgia"/>
              </a:defRPr>
            </a:pPr>
            <a:r>
              <a:t>Nullify: The Autonomous Threat Defense Triad</a:t>
            </a:r>
          </a:p>
        </p:txBody>
      </p:sp>
      <p:sp>
        <p:nvSpPr>
          <p:cNvPr id="5" name="Rounded Rectangle 4"/>
          <p:cNvSpPr/>
          <p:nvPr/>
        </p:nvSpPr>
        <p:spPr>
          <a:xfrm>
            <a:off x="731520" y="1645920"/>
            <a:ext cx="3429000" cy="4434840"/>
          </a:xfrm>
          <a:prstGeom prst="roundRect">
            <a:avLst/>
          </a:prstGeom>
          <a:solidFill>
            <a:srgbClr val="FFFFFF"/>
          </a:solidFill>
          <a:ln w="12700">
            <a:solidFill>
              <a:srgbClr val="E5E2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828800"/>
            <a:ext cx="2971800" cy="4114800"/>
          </a:xfrm>
          <a:prstGeom prst="rect">
            <a:avLst/>
          </a:prstGeom>
          <a:noFill/>
        </p:spPr>
        <p:txBody>
          <a:bodyPr wrap="square" lIns="0" tIns="0" rIns="0" bIns="0">
            <a:spAutoFit/>
          </a:bodyPr>
          <a:lstStyle/>
          <a:p>
            <a:pPr>
              <a:defRPr sz="850" b="1">
                <a:solidFill>
                  <a:srgbClr val="15803D"/>
                </a:solidFill>
                <a:latin typeface="Consolas"/>
              </a:defRPr>
            </a:pPr>
            <a:r>
              <a:t>SUB-MILLISECOND TRIAGE</a:t>
            </a:r>
          </a:p>
          <a:p>
            <a:pPr>
              <a:spcBef>
                <a:spcPts val="400"/>
              </a:spcBef>
              <a:defRPr sz="1400" b="1">
                <a:solidFill>
                  <a:srgbClr val="191510"/>
                </a:solidFill>
                <a:latin typeface="Segoe UI"/>
              </a:defRPr>
            </a:pPr>
            <a:r>
              <a:t>⚡ 01. Native C Accelerator</a:t>
            </a:r>
          </a:p>
          <a:p>
            <a:pPr>
              <a:spcBef>
                <a:spcPts val="800"/>
              </a:spcBef>
              <a:defRPr sz="1100">
                <a:solidFill>
                  <a:srgbClr val="66625B"/>
                </a:solidFill>
                <a:latin typeface="Calibri"/>
              </a:defRPr>
            </a:pPr>
            <a:r>
              <a:t>Bypasses interpreted runtimes entirely. Standalone C11 compiled with -O3 executes PE/ELF header dissection, Shannon entropy, 256-bin histograms, multi-pattern regex matching, and single-pass 64KB multi-hashing in &lt; 15 milliseconds.</a:t>
            </a:r>
          </a:p>
          <a:p>
            <a:pPr>
              <a:spcBef>
                <a:spcPts val="1400"/>
              </a:spcBef>
              <a:defRPr sz="850" b="1">
                <a:solidFill>
                  <a:srgbClr val="191510"/>
                </a:solidFill>
                <a:latin typeface="Consolas"/>
              </a:defRPr>
            </a:pPr>
            <a:r>
              <a:t>CORE CAPABILITIES:</a:t>
            </a:r>
          </a:p>
          <a:p>
            <a:pPr>
              <a:spcBef>
                <a:spcPts val="300"/>
              </a:spcBef>
              <a:defRPr sz="1000">
                <a:solidFill>
                  <a:srgbClr val="66625B"/>
                </a:solidFill>
                <a:latin typeface="Calibri"/>
              </a:defRPr>
            </a:pPr>
            <a:r>
              <a:t>• PE Import Parser: &lt; 0.10 ms (500x faster)</a:t>
            </a:r>
          </a:p>
          <a:p>
            <a:pPr>
              <a:spcBef>
                <a:spcPts val="300"/>
              </a:spcBef>
              <a:defRPr sz="1000">
                <a:solidFill>
                  <a:srgbClr val="66625B"/>
                </a:solidFill>
                <a:latin typeface="Calibri"/>
              </a:defRPr>
            </a:pPr>
            <a:r>
              <a:t>• Pattern Scanner: 0.82 ms (18.7x faster)</a:t>
            </a:r>
          </a:p>
          <a:p>
            <a:pPr>
              <a:spcBef>
                <a:spcPts val="300"/>
              </a:spcBef>
              <a:defRPr sz="1000">
                <a:solidFill>
                  <a:srgbClr val="66625B"/>
                </a:solidFill>
                <a:latin typeface="Calibri"/>
              </a:defRPr>
            </a:pPr>
            <a:r>
              <a:t>• Concurrent Multi-Hash: 1.15 ms (7.7x faster)</a:t>
            </a:r>
          </a:p>
        </p:txBody>
      </p:sp>
      <p:sp>
        <p:nvSpPr>
          <p:cNvPr id="7" name="Rounded Rectangle 6"/>
          <p:cNvSpPr/>
          <p:nvPr/>
        </p:nvSpPr>
        <p:spPr>
          <a:xfrm>
            <a:off x="4370832" y="1645920"/>
            <a:ext cx="3429000" cy="4434840"/>
          </a:xfrm>
          <a:prstGeom prst="roundRect">
            <a:avLst/>
          </a:prstGeom>
          <a:solidFill>
            <a:srgbClr val="FFFFFF"/>
          </a:solidFill>
          <a:ln w="12700">
            <a:solidFill>
              <a:srgbClr val="E5E2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9432" y="1828800"/>
            <a:ext cx="2971800" cy="4114800"/>
          </a:xfrm>
          <a:prstGeom prst="rect">
            <a:avLst/>
          </a:prstGeom>
          <a:noFill/>
        </p:spPr>
        <p:txBody>
          <a:bodyPr wrap="square" lIns="0" tIns="0" rIns="0" bIns="0">
            <a:spAutoFit/>
          </a:bodyPr>
          <a:lstStyle/>
          <a:p>
            <a:pPr>
              <a:defRPr sz="850" b="1">
                <a:solidFill>
                  <a:srgbClr val="15803D"/>
                </a:solidFill>
                <a:latin typeface="Consolas"/>
              </a:defRPr>
            </a:pPr>
            <a:r>
              <a:t>6 SPECIALIZED COOPERATIVE AGENTS</a:t>
            </a:r>
          </a:p>
          <a:p>
            <a:pPr>
              <a:spcBef>
                <a:spcPts val="400"/>
              </a:spcBef>
              <a:defRPr sz="1400" b="1">
                <a:solidFill>
                  <a:srgbClr val="191510"/>
                </a:solidFill>
                <a:latin typeface="Segoe UI"/>
              </a:defRPr>
            </a:pPr>
            <a:r>
              <a:t>🤖 02. Multi-Agent AI Pipeline</a:t>
            </a:r>
          </a:p>
          <a:p>
            <a:pPr>
              <a:spcBef>
                <a:spcPts val="800"/>
              </a:spcBef>
              <a:defRPr sz="1100">
                <a:solidFill>
                  <a:srgbClr val="66625B"/>
                </a:solidFill>
                <a:latin typeface="Calibri"/>
              </a:defRPr>
            </a:pPr>
            <a:r>
              <a:t>Rather than relying on an opaque monolithic LLM, Nullify deploys six specialized autonomous agents: Triage, Static Analysis, Behavioral Log Correlation, EMBER ML Classification, Explainable Reasoning, and Defense Synthesis.</a:t>
            </a:r>
          </a:p>
          <a:p>
            <a:pPr>
              <a:spcBef>
                <a:spcPts val="1400"/>
              </a:spcBef>
              <a:defRPr sz="850" b="1">
                <a:solidFill>
                  <a:srgbClr val="191510"/>
                </a:solidFill>
                <a:latin typeface="Consolas"/>
              </a:defRPr>
            </a:pPr>
            <a:r>
              <a:t>CORE CAPABILITIES:</a:t>
            </a:r>
          </a:p>
          <a:p>
            <a:pPr>
              <a:spcBef>
                <a:spcPts val="300"/>
              </a:spcBef>
              <a:defRPr sz="1000">
                <a:solidFill>
                  <a:srgbClr val="66625B"/>
                </a:solidFill>
                <a:latin typeface="Calibri"/>
              </a:defRPr>
            </a:pPr>
            <a:r>
              <a:t>• EMBER 2017 v2 ML: 2,381 feature dimensions</a:t>
            </a:r>
          </a:p>
          <a:p>
            <a:pPr>
              <a:spcBef>
                <a:spcPts val="300"/>
              </a:spcBef>
              <a:defRPr sz="1000">
                <a:solidFill>
                  <a:srgbClr val="66625B"/>
                </a:solidFill>
                <a:latin typeface="Calibri"/>
              </a:defRPr>
            </a:pPr>
            <a:r>
              <a:t>• Process Tree Tracing: Sysmon &amp; Windows EVTX</a:t>
            </a:r>
          </a:p>
          <a:p>
            <a:pPr>
              <a:spcBef>
                <a:spcPts val="300"/>
              </a:spcBef>
              <a:defRPr sz="1000">
                <a:solidFill>
                  <a:srgbClr val="66625B"/>
                </a:solidFill>
                <a:latin typeface="Calibri"/>
              </a:defRPr>
            </a:pPr>
            <a:r>
              <a:t>• Calibrated Reasoning: Explainable verdict &amp; rationale</a:t>
            </a:r>
          </a:p>
        </p:txBody>
      </p:sp>
      <p:sp>
        <p:nvSpPr>
          <p:cNvPr id="9" name="Rounded Rectangle 8"/>
          <p:cNvSpPr/>
          <p:nvPr/>
        </p:nvSpPr>
        <p:spPr>
          <a:xfrm>
            <a:off x="8010144" y="1645920"/>
            <a:ext cx="3429000" cy="4434840"/>
          </a:xfrm>
          <a:prstGeom prst="roundRect">
            <a:avLst/>
          </a:prstGeom>
          <a:solidFill>
            <a:srgbClr val="FFFFFF"/>
          </a:solidFill>
          <a:ln w="12700">
            <a:solidFill>
              <a:srgbClr val="E5E2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38744" y="1828800"/>
            <a:ext cx="2971800" cy="4114800"/>
          </a:xfrm>
          <a:prstGeom prst="rect">
            <a:avLst/>
          </a:prstGeom>
          <a:noFill/>
        </p:spPr>
        <p:txBody>
          <a:bodyPr wrap="square" lIns="0" tIns="0" rIns="0" bIns="0">
            <a:spAutoFit/>
          </a:bodyPr>
          <a:lstStyle/>
          <a:p>
            <a:pPr>
              <a:defRPr sz="850" b="1">
                <a:solidFill>
                  <a:srgbClr val="15803D"/>
                </a:solidFill>
                <a:latin typeface="Consolas"/>
              </a:defRPr>
            </a:pPr>
            <a:r>
              <a:t>ZERO TO IMMUNITY IN SECONDS</a:t>
            </a:r>
          </a:p>
          <a:p>
            <a:pPr>
              <a:spcBef>
                <a:spcPts val="400"/>
              </a:spcBef>
              <a:defRPr sz="1400" b="1">
                <a:solidFill>
                  <a:srgbClr val="191510"/>
                </a:solidFill>
                <a:latin typeface="Segoe UI"/>
              </a:defRPr>
            </a:pPr>
            <a:r>
              <a:t>🛡️ 03. Active Defense Synthesis</a:t>
            </a:r>
          </a:p>
          <a:p>
            <a:pPr>
              <a:spcBef>
                <a:spcPts val="800"/>
              </a:spcBef>
              <a:defRPr sz="1100">
                <a:solidFill>
                  <a:srgbClr val="66625B"/>
                </a:solidFill>
                <a:latin typeface="Calibri"/>
              </a:defRPr>
            </a:pPr>
            <a:r>
              <a:t>Detection is incomplete without mitigation. Nullify maps threat indicators directly to MITRE ATT&amp;CK techniques (T1055, T1547, T1059) and automatically synthesizes syntax-validated enterprise YARA detection rules ready for SIEM/EDR push.</a:t>
            </a:r>
          </a:p>
          <a:p>
            <a:pPr>
              <a:spcBef>
                <a:spcPts val="1400"/>
              </a:spcBef>
              <a:defRPr sz="850" b="1">
                <a:solidFill>
                  <a:srgbClr val="191510"/>
                </a:solidFill>
                <a:latin typeface="Consolas"/>
              </a:defRPr>
            </a:pPr>
            <a:r>
              <a:t>CORE CAPABILITIES:</a:t>
            </a:r>
          </a:p>
          <a:p>
            <a:pPr>
              <a:spcBef>
                <a:spcPts val="300"/>
              </a:spcBef>
              <a:defRPr sz="1000">
                <a:solidFill>
                  <a:srgbClr val="66625B"/>
                </a:solidFill>
                <a:latin typeface="Calibri"/>
              </a:defRPr>
            </a:pPr>
            <a:r>
              <a:t>• MITRE ATT&amp;CK Mapping: Exact tactic &amp; technique attribution</a:t>
            </a:r>
          </a:p>
          <a:p>
            <a:pPr>
              <a:spcBef>
                <a:spcPts val="300"/>
              </a:spcBef>
              <a:defRPr sz="1000">
                <a:solidFill>
                  <a:srgbClr val="66625B"/>
                </a:solidFill>
                <a:latin typeface="Calibri"/>
              </a:defRPr>
            </a:pPr>
            <a:r>
              <a:t>• Auto-Generated YARA: Synthesized hex &amp; string signatures</a:t>
            </a:r>
          </a:p>
          <a:p>
            <a:pPr>
              <a:spcBef>
                <a:spcPts val="300"/>
              </a:spcBef>
              <a:defRPr sz="1000">
                <a:solidFill>
                  <a:srgbClr val="66625B"/>
                </a:solidFill>
                <a:latin typeface="Calibri"/>
              </a:defRPr>
            </a:pPr>
            <a:r>
              <a:t>• 100% Air-Gapped: Zero telemetry leakage to cloud</a:t>
            </a:r>
          </a:p>
        </p:txBody>
      </p:sp>
      <p:sp>
        <p:nvSpPr>
          <p:cNvPr id="11" name="Rectangle 10"/>
          <p:cNvSpPr/>
          <p:nvPr/>
        </p:nvSpPr>
        <p:spPr>
          <a:xfrm>
            <a:off x="731520" y="6263640"/>
            <a:ext cx="10728655" cy="9525"/>
          </a:xfrm>
          <a:prstGeom prst="rect">
            <a:avLst/>
          </a:prstGeom>
          <a:solidFill>
            <a:srgbClr val="E5E2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6327648"/>
            <a:ext cx="10728655" cy="320040"/>
          </a:xfrm>
          <a:prstGeom prst="rect">
            <a:avLst/>
          </a:prstGeom>
          <a:noFill/>
        </p:spPr>
        <p:txBody>
          <a:bodyPr wrap="none" lIns="0" tIns="0" rIns="0" bIns="0">
            <a:spAutoFit/>
          </a:bodyPr>
          <a:lstStyle/>
          <a:p>
            <a:r>
              <a:rPr sz="850">
                <a:solidFill>
                  <a:srgbClr val="8C877E"/>
                </a:solidFill>
                <a:latin typeface="Consolas"/>
              </a:rPr>
              <a:t>NULLIFY  ●  AUTONOMOUS MULTI-AGENT DEFENSE</a:t>
            </a:r>
            <a:r>
              <a:rPr i="1" sz="900">
                <a:solidFill>
                  <a:srgbClr val="66625B"/>
                </a:solidFill>
                <a:latin typeface="Georgia"/>
              </a:rPr>
              <a:t>                       See it. Trace it. Nullify it.                       </a:t>
            </a:r>
            <a:r>
              <a:rPr sz="850">
                <a:solidFill>
                  <a:srgbClr val="8C877E"/>
                </a:solidFill>
                <a:latin typeface="Consolas"/>
              </a:rPr>
              <a:t>SLIDE 03 /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698480" cy="365760"/>
          </a:xfrm>
          <a:prstGeom prst="rect">
            <a:avLst/>
          </a:prstGeom>
          <a:noFill/>
        </p:spPr>
        <p:txBody>
          <a:bodyPr wrap="square" lIns="0" tIns="0" rIns="0" bIns="0">
            <a:spAutoFit/>
          </a:bodyPr>
          <a:lstStyle/>
          <a:p>
            <a:pPr>
              <a:defRPr sz="1000" b="1">
                <a:solidFill>
                  <a:srgbClr val="15803D"/>
                </a:solidFill>
                <a:latin typeface="Consolas"/>
              </a:defRPr>
            </a:pPr>
            <a:r>
              <a:t>03 // PIPELINE ARCHITECTURE</a:t>
            </a:r>
          </a:p>
        </p:txBody>
      </p:sp>
      <p:sp>
        <p:nvSpPr>
          <p:cNvPr id="4" name="TextBox 3"/>
          <p:cNvSpPr txBox="1"/>
          <p:nvPr/>
        </p:nvSpPr>
        <p:spPr>
          <a:xfrm>
            <a:off x="731520" y="822960"/>
            <a:ext cx="10698480" cy="731520"/>
          </a:xfrm>
          <a:prstGeom prst="rect">
            <a:avLst/>
          </a:prstGeom>
          <a:noFill/>
        </p:spPr>
        <p:txBody>
          <a:bodyPr wrap="square" lIns="0" tIns="0" rIns="0" bIns="0">
            <a:spAutoFit/>
          </a:bodyPr>
          <a:lstStyle/>
          <a:p>
            <a:pPr>
              <a:defRPr sz="2800" b="1">
                <a:solidFill>
                  <a:srgbClr val="191510"/>
                </a:solidFill>
                <a:latin typeface="Georgia"/>
              </a:defRPr>
            </a:pPr>
            <a:r>
              <a:t>The 6-Agent Collaborative Intelligence Mesh</a:t>
            </a:r>
          </a:p>
        </p:txBody>
      </p:sp>
      <p:sp>
        <p:nvSpPr>
          <p:cNvPr id="5" name="Rounded Rectangle 4"/>
          <p:cNvSpPr/>
          <p:nvPr/>
        </p:nvSpPr>
        <p:spPr>
          <a:xfrm>
            <a:off x="731520" y="1645920"/>
            <a:ext cx="3429000" cy="2103120"/>
          </a:xfrm>
          <a:prstGeom prst="roundRect">
            <a:avLst/>
          </a:prstGeom>
          <a:solidFill>
            <a:srgbClr val="FFFFFF"/>
          </a:solidFill>
          <a:ln w="12700">
            <a:solidFill>
              <a:srgbClr val="E5E2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783080"/>
            <a:ext cx="2971800" cy="1828800"/>
          </a:xfrm>
          <a:prstGeom prst="rect">
            <a:avLst/>
          </a:prstGeom>
          <a:noFill/>
        </p:spPr>
        <p:txBody>
          <a:bodyPr wrap="square" lIns="0" tIns="0" rIns="0" bIns="0">
            <a:spAutoFit/>
          </a:bodyPr>
          <a:lstStyle/>
          <a:p>
            <a:r>
              <a:rPr sz="850" b="1">
                <a:solidFill>
                  <a:srgbClr val="15803D"/>
                </a:solidFill>
                <a:latin typeface="Consolas"/>
              </a:rPr>
              <a:t>AGENT 01  </a:t>
            </a:r>
            <a:r>
              <a:rPr sz="800">
                <a:solidFill>
                  <a:srgbClr val="8C877E"/>
                </a:solidFill>
                <a:latin typeface="Consolas"/>
              </a:rPr>
              <a:t>FAST BYTE SNIFFING &amp; HASHES</a:t>
            </a:r>
          </a:p>
          <a:p>
            <a:pPr>
              <a:spcBef>
                <a:spcPts val="200"/>
              </a:spcBef>
              <a:defRPr sz="1300" b="1">
                <a:solidFill>
                  <a:srgbClr val="191510"/>
                </a:solidFill>
                <a:latin typeface="Segoe UI"/>
              </a:defRPr>
            </a:pPr>
            <a:r>
              <a:t>Triage Agent</a:t>
            </a:r>
          </a:p>
          <a:p>
            <a:pPr>
              <a:spcBef>
                <a:spcPts val="600"/>
              </a:spcBef>
              <a:defRPr sz="1050">
                <a:solidFill>
                  <a:srgbClr val="66625B"/>
                </a:solidFill>
                <a:latin typeface="Calibri"/>
              </a:defRPr>
            </a:pPr>
            <a:r>
              <a:t>Executes sub-millisecond C-core triage. Computes single-pass concurrent MD5, SHA-1, SHA-256, Shannon entropy, and validates PE/ELF magic bytes.</a:t>
            </a:r>
          </a:p>
        </p:txBody>
      </p:sp>
      <p:sp>
        <p:nvSpPr>
          <p:cNvPr id="7" name="Rounded Rectangle 6"/>
          <p:cNvSpPr/>
          <p:nvPr/>
        </p:nvSpPr>
        <p:spPr>
          <a:xfrm>
            <a:off x="4370832" y="1645920"/>
            <a:ext cx="3429000" cy="2103120"/>
          </a:xfrm>
          <a:prstGeom prst="roundRect">
            <a:avLst/>
          </a:prstGeom>
          <a:solidFill>
            <a:srgbClr val="FFFFFF"/>
          </a:solidFill>
          <a:ln w="12700">
            <a:solidFill>
              <a:srgbClr val="E5E2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9432" y="1783080"/>
            <a:ext cx="2971800" cy="1828800"/>
          </a:xfrm>
          <a:prstGeom prst="rect">
            <a:avLst/>
          </a:prstGeom>
          <a:noFill/>
        </p:spPr>
        <p:txBody>
          <a:bodyPr wrap="square" lIns="0" tIns="0" rIns="0" bIns="0">
            <a:spAutoFit/>
          </a:bodyPr>
          <a:lstStyle/>
          <a:p>
            <a:r>
              <a:rPr sz="850" b="1">
                <a:solidFill>
                  <a:srgbClr val="15803D"/>
                </a:solidFill>
                <a:latin typeface="Consolas"/>
              </a:rPr>
              <a:t>AGENT 02  </a:t>
            </a:r>
            <a:r>
              <a:rPr sz="800">
                <a:solidFill>
                  <a:srgbClr val="8C877E"/>
                </a:solidFill>
                <a:latin typeface="Consolas"/>
              </a:rPr>
              <a:t>IMPORT DIRECTORY &amp; PATTERN RADAR</a:t>
            </a:r>
          </a:p>
          <a:p>
            <a:pPr>
              <a:spcBef>
                <a:spcPts val="200"/>
              </a:spcBef>
              <a:defRPr sz="1300" b="1">
                <a:solidFill>
                  <a:srgbClr val="191510"/>
                </a:solidFill>
                <a:latin typeface="Segoe UI"/>
              </a:defRPr>
            </a:pPr>
            <a:r>
              <a:t>Static Analysis Agent</a:t>
            </a:r>
          </a:p>
          <a:p>
            <a:pPr>
              <a:spcBef>
                <a:spcPts val="600"/>
              </a:spcBef>
              <a:defRPr sz="1050">
                <a:solidFill>
                  <a:srgbClr val="66625B"/>
                </a:solidFill>
                <a:latin typeface="Calibri"/>
              </a:defRPr>
            </a:pPr>
            <a:r>
              <a:t>Dissects Windows PE imports in C (&lt; 0.1ms) across 25+ malicious APIs. Scans for registry run keys, PowerShell cradles, and IPv4 C2 indicators.</a:t>
            </a:r>
          </a:p>
        </p:txBody>
      </p:sp>
      <p:sp>
        <p:nvSpPr>
          <p:cNvPr id="9" name="Rounded Rectangle 8"/>
          <p:cNvSpPr/>
          <p:nvPr/>
        </p:nvSpPr>
        <p:spPr>
          <a:xfrm>
            <a:off x="8010144" y="1645920"/>
            <a:ext cx="3429000" cy="2103120"/>
          </a:xfrm>
          <a:prstGeom prst="roundRect">
            <a:avLst/>
          </a:prstGeom>
          <a:solidFill>
            <a:srgbClr val="FFFFFF"/>
          </a:solidFill>
          <a:ln w="12700">
            <a:solidFill>
              <a:srgbClr val="E5E2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38744" y="1783080"/>
            <a:ext cx="2971800" cy="1828800"/>
          </a:xfrm>
          <a:prstGeom prst="rect">
            <a:avLst/>
          </a:prstGeom>
          <a:noFill/>
        </p:spPr>
        <p:txBody>
          <a:bodyPr wrap="square" lIns="0" tIns="0" rIns="0" bIns="0">
            <a:spAutoFit/>
          </a:bodyPr>
          <a:lstStyle/>
          <a:p>
            <a:r>
              <a:rPr sz="850" b="1">
                <a:solidFill>
                  <a:srgbClr val="15803D"/>
                </a:solidFill>
                <a:latin typeface="Consolas"/>
              </a:rPr>
              <a:t>AGENT 03  </a:t>
            </a:r>
            <a:r>
              <a:rPr sz="800">
                <a:solidFill>
                  <a:srgbClr val="8C877E"/>
                </a:solidFill>
                <a:latin typeface="Consolas"/>
              </a:rPr>
              <a:t>PROCESS TREE &amp; LOG CORRELATION</a:t>
            </a:r>
          </a:p>
          <a:p>
            <a:pPr>
              <a:spcBef>
                <a:spcPts val="200"/>
              </a:spcBef>
              <a:defRPr sz="1300" b="1">
                <a:solidFill>
                  <a:srgbClr val="191510"/>
                </a:solidFill>
                <a:latin typeface="Segoe UI"/>
              </a:defRPr>
            </a:pPr>
            <a:r>
              <a:t>Behavioral Agent</a:t>
            </a:r>
          </a:p>
          <a:p>
            <a:pPr>
              <a:spcBef>
                <a:spcPts val="600"/>
              </a:spcBef>
              <a:defRPr sz="1050">
                <a:solidFill>
                  <a:srgbClr val="66625B"/>
                </a:solidFill>
                <a:latin typeface="Calibri"/>
              </a:defRPr>
            </a:pPr>
            <a:r>
              <a:t>Ingests Sysmon JSONL and Windows EVTX logs. Reconstructs parent-child execution lineages, detecting credential dumping, LOLBins, and privilege escalation.</a:t>
            </a:r>
          </a:p>
        </p:txBody>
      </p:sp>
      <p:sp>
        <p:nvSpPr>
          <p:cNvPr id="11" name="Rounded Rectangle 10"/>
          <p:cNvSpPr/>
          <p:nvPr/>
        </p:nvSpPr>
        <p:spPr>
          <a:xfrm>
            <a:off x="731520" y="3886200"/>
            <a:ext cx="3429000" cy="2103120"/>
          </a:xfrm>
          <a:prstGeom prst="roundRect">
            <a:avLst/>
          </a:prstGeom>
          <a:solidFill>
            <a:srgbClr val="FFFFFF"/>
          </a:solidFill>
          <a:ln w="12700">
            <a:solidFill>
              <a:srgbClr val="E5E2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4023360"/>
            <a:ext cx="2971800" cy="1828800"/>
          </a:xfrm>
          <a:prstGeom prst="rect">
            <a:avLst/>
          </a:prstGeom>
          <a:noFill/>
        </p:spPr>
        <p:txBody>
          <a:bodyPr wrap="square" lIns="0" tIns="0" rIns="0" bIns="0">
            <a:spAutoFit/>
          </a:bodyPr>
          <a:lstStyle/>
          <a:p>
            <a:r>
              <a:rPr sz="850" b="1">
                <a:solidFill>
                  <a:srgbClr val="15803D"/>
                </a:solidFill>
                <a:latin typeface="Consolas"/>
              </a:rPr>
              <a:t>AGENT 04  </a:t>
            </a:r>
            <a:r>
              <a:rPr sz="800">
                <a:solidFill>
                  <a:srgbClr val="8C877E"/>
                </a:solidFill>
                <a:latin typeface="Consolas"/>
              </a:rPr>
              <a:t>2,381-DIM EMBER GRADIENT BOOST</a:t>
            </a:r>
          </a:p>
          <a:p>
            <a:pPr>
              <a:spcBef>
                <a:spcPts val="200"/>
              </a:spcBef>
              <a:defRPr sz="1300" b="1">
                <a:solidFill>
                  <a:srgbClr val="191510"/>
                </a:solidFill>
                <a:latin typeface="Segoe UI"/>
              </a:defRPr>
            </a:pPr>
            <a:r>
              <a:t>Classification Agent</a:t>
            </a:r>
          </a:p>
          <a:p>
            <a:pPr>
              <a:spcBef>
                <a:spcPts val="600"/>
              </a:spcBef>
              <a:defRPr sz="1050">
                <a:solidFill>
                  <a:srgbClr val="66625B"/>
                </a:solidFill>
                <a:latin typeface="Calibri"/>
              </a:defRPr>
            </a:pPr>
            <a:r>
              <a:t>Transforms raw binaries into 2,381 EMBER v2 feature vectors. Predicts calibrated malicious probability using LightGBM/XGBoost with Linux ELF bypass.</a:t>
            </a:r>
          </a:p>
        </p:txBody>
      </p:sp>
      <p:sp>
        <p:nvSpPr>
          <p:cNvPr id="13" name="Rounded Rectangle 12"/>
          <p:cNvSpPr/>
          <p:nvPr/>
        </p:nvSpPr>
        <p:spPr>
          <a:xfrm>
            <a:off x="4370832" y="3886200"/>
            <a:ext cx="3429000" cy="2103120"/>
          </a:xfrm>
          <a:prstGeom prst="roundRect">
            <a:avLst/>
          </a:prstGeom>
          <a:solidFill>
            <a:srgbClr val="FFFFFF"/>
          </a:solidFill>
          <a:ln w="12700">
            <a:solidFill>
              <a:srgbClr val="E5E2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9432" y="4023360"/>
            <a:ext cx="2971800" cy="1828800"/>
          </a:xfrm>
          <a:prstGeom prst="rect">
            <a:avLst/>
          </a:prstGeom>
          <a:noFill/>
        </p:spPr>
        <p:txBody>
          <a:bodyPr wrap="square" lIns="0" tIns="0" rIns="0" bIns="0">
            <a:spAutoFit/>
          </a:bodyPr>
          <a:lstStyle/>
          <a:p>
            <a:r>
              <a:rPr sz="850" b="1">
                <a:solidFill>
                  <a:srgbClr val="15803D"/>
                </a:solidFill>
                <a:latin typeface="Consolas"/>
              </a:rPr>
              <a:t>AGENT 05  </a:t>
            </a:r>
            <a:r>
              <a:rPr sz="800">
                <a:solidFill>
                  <a:srgbClr val="8C877E"/>
                </a:solidFill>
                <a:latin typeface="Consolas"/>
              </a:rPr>
              <a:t>EXPLAINABLE THREAT ATTRIBUTION</a:t>
            </a:r>
          </a:p>
          <a:p>
            <a:pPr>
              <a:spcBef>
                <a:spcPts val="200"/>
              </a:spcBef>
              <a:defRPr sz="1300" b="1">
                <a:solidFill>
                  <a:srgbClr val="191510"/>
                </a:solidFill>
                <a:latin typeface="Segoe UI"/>
              </a:defRPr>
            </a:pPr>
            <a:r>
              <a:t>Reasoning Agent</a:t>
            </a:r>
          </a:p>
          <a:p>
            <a:pPr>
              <a:spcBef>
                <a:spcPts val="600"/>
              </a:spcBef>
              <a:defRPr sz="1050">
                <a:solidFill>
                  <a:srgbClr val="66625B"/>
                </a:solidFill>
                <a:latin typeface="Calibri"/>
              </a:defRPr>
            </a:pPr>
            <a:r>
              <a:t>Synthesizes heuristic and ML evidence across all upstream agents. Produces human-readable threat rationale, severity ratings, and malware family attribution.</a:t>
            </a:r>
          </a:p>
        </p:txBody>
      </p:sp>
      <p:sp>
        <p:nvSpPr>
          <p:cNvPr id="15" name="Rounded Rectangle 14"/>
          <p:cNvSpPr/>
          <p:nvPr/>
        </p:nvSpPr>
        <p:spPr>
          <a:xfrm>
            <a:off x="8010144" y="3886200"/>
            <a:ext cx="3429000" cy="2103120"/>
          </a:xfrm>
          <a:prstGeom prst="roundRect">
            <a:avLst/>
          </a:prstGeom>
          <a:solidFill>
            <a:srgbClr val="FFFFFF"/>
          </a:solidFill>
          <a:ln w="12700">
            <a:solidFill>
              <a:srgbClr val="E5E2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38744" y="4023360"/>
            <a:ext cx="2971800" cy="1828800"/>
          </a:xfrm>
          <a:prstGeom prst="rect">
            <a:avLst/>
          </a:prstGeom>
          <a:noFill/>
        </p:spPr>
        <p:txBody>
          <a:bodyPr wrap="square" lIns="0" tIns="0" rIns="0" bIns="0">
            <a:spAutoFit/>
          </a:bodyPr>
          <a:lstStyle/>
          <a:p>
            <a:r>
              <a:rPr sz="850" b="1">
                <a:solidFill>
                  <a:srgbClr val="15803D"/>
                </a:solidFill>
                <a:latin typeface="Consolas"/>
              </a:rPr>
              <a:t>AGENT 06  </a:t>
            </a:r>
            <a:r>
              <a:rPr sz="800">
                <a:solidFill>
                  <a:srgbClr val="8C877E"/>
                </a:solidFill>
                <a:latin typeface="Consolas"/>
              </a:rPr>
              <a:t>AUTOMATED ENTERPRISE YARA RULES</a:t>
            </a:r>
          </a:p>
          <a:p>
            <a:pPr>
              <a:spcBef>
                <a:spcPts val="200"/>
              </a:spcBef>
              <a:defRPr sz="1300" b="1">
                <a:solidFill>
                  <a:srgbClr val="191510"/>
                </a:solidFill>
                <a:latin typeface="Segoe UI"/>
              </a:defRPr>
            </a:pPr>
            <a:r>
              <a:t>Defense Synthesis</a:t>
            </a:r>
          </a:p>
          <a:p>
            <a:pPr>
              <a:spcBef>
                <a:spcPts val="600"/>
              </a:spcBef>
              <a:defRPr sz="1050">
                <a:solidFill>
                  <a:srgbClr val="66625B"/>
                </a:solidFill>
                <a:latin typeface="Calibri"/>
              </a:defRPr>
            </a:pPr>
            <a:r>
              <a:t>Closes the detection loop. Auto-generates enterprise-ready YARA detection rules with cryptographic hashes, extracted strings, and opcode hex conditions.</a:t>
            </a:r>
          </a:p>
        </p:txBody>
      </p:sp>
      <p:sp>
        <p:nvSpPr>
          <p:cNvPr id="17" name="Rectangle 16"/>
          <p:cNvSpPr/>
          <p:nvPr/>
        </p:nvSpPr>
        <p:spPr>
          <a:xfrm>
            <a:off x="731520" y="6263640"/>
            <a:ext cx="10728655" cy="9525"/>
          </a:xfrm>
          <a:prstGeom prst="rect">
            <a:avLst/>
          </a:prstGeom>
          <a:solidFill>
            <a:srgbClr val="E5E2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6327648"/>
            <a:ext cx="10728655" cy="320040"/>
          </a:xfrm>
          <a:prstGeom prst="rect">
            <a:avLst/>
          </a:prstGeom>
          <a:noFill/>
        </p:spPr>
        <p:txBody>
          <a:bodyPr wrap="none" lIns="0" tIns="0" rIns="0" bIns="0">
            <a:spAutoFit/>
          </a:bodyPr>
          <a:lstStyle/>
          <a:p>
            <a:r>
              <a:rPr sz="850">
                <a:solidFill>
                  <a:srgbClr val="8C877E"/>
                </a:solidFill>
                <a:latin typeface="Consolas"/>
              </a:rPr>
              <a:t>NULLIFY  ●  AUTONOMOUS MULTI-AGENT DEFENSE</a:t>
            </a:r>
            <a:r>
              <a:rPr i="1" sz="900">
                <a:solidFill>
                  <a:srgbClr val="66625B"/>
                </a:solidFill>
                <a:latin typeface="Georgia"/>
              </a:rPr>
              <a:t>                       See it. Trace it. Nullify it.                       </a:t>
            </a:r>
            <a:r>
              <a:rPr sz="850">
                <a:solidFill>
                  <a:srgbClr val="8C877E"/>
                </a:solidFill>
                <a:latin typeface="Consolas"/>
              </a:rPr>
              <a:t>SLIDE 04 /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698480" cy="365760"/>
          </a:xfrm>
          <a:prstGeom prst="rect">
            <a:avLst/>
          </a:prstGeom>
          <a:noFill/>
        </p:spPr>
        <p:txBody>
          <a:bodyPr wrap="square" lIns="0" tIns="0" rIns="0" bIns="0">
            <a:spAutoFit/>
          </a:bodyPr>
          <a:lstStyle/>
          <a:p>
            <a:pPr>
              <a:defRPr sz="1000" b="1">
                <a:solidFill>
                  <a:srgbClr val="15803D"/>
                </a:solidFill>
                <a:latin typeface="Consolas"/>
              </a:defRPr>
            </a:pPr>
            <a:r>
              <a:t>04 // ENGINEERING DEEP DIVE</a:t>
            </a:r>
          </a:p>
        </p:txBody>
      </p:sp>
      <p:sp>
        <p:nvSpPr>
          <p:cNvPr id="4" name="TextBox 3"/>
          <p:cNvSpPr txBox="1"/>
          <p:nvPr/>
        </p:nvSpPr>
        <p:spPr>
          <a:xfrm>
            <a:off x="731520" y="822960"/>
            <a:ext cx="10698480" cy="731520"/>
          </a:xfrm>
          <a:prstGeom prst="rect">
            <a:avLst/>
          </a:prstGeom>
          <a:noFill/>
        </p:spPr>
        <p:txBody>
          <a:bodyPr wrap="square" lIns="0" tIns="0" rIns="0" bIns="0">
            <a:spAutoFit/>
          </a:bodyPr>
          <a:lstStyle/>
          <a:p>
            <a:pPr>
              <a:defRPr sz="2800" b="1">
                <a:solidFill>
                  <a:srgbClr val="191510"/>
                </a:solidFill>
                <a:latin typeface="Georgia"/>
              </a:defRPr>
            </a:pPr>
            <a:r>
              <a:t>Sub-Millisecond Native C-Core Acceleration</a:t>
            </a:r>
          </a:p>
        </p:txBody>
      </p:sp>
      <p:sp>
        <p:nvSpPr>
          <p:cNvPr id="5" name="Rounded Rectangle 4"/>
          <p:cNvSpPr/>
          <p:nvPr/>
        </p:nvSpPr>
        <p:spPr>
          <a:xfrm>
            <a:off x="731520" y="1645920"/>
            <a:ext cx="2560320" cy="1325880"/>
          </a:xfrm>
          <a:prstGeom prst="roundRect">
            <a:avLst/>
          </a:prstGeom>
          <a:solidFill>
            <a:srgbClr val="FFFFFF"/>
          </a:solidFill>
          <a:ln w="12700">
            <a:solidFill>
              <a:srgbClr val="E5E2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737360"/>
            <a:ext cx="2286000" cy="1143000"/>
          </a:xfrm>
          <a:prstGeom prst="rect">
            <a:avLst/>
          </a:prstGeom>
          <a:noFill/>
        </p:spPr>
        <p:txBody>
          <a:bodyPr wrap="square" lIns="0" tIns="0" rIns="0" bIns="0">
            <a:spAutoFit/>
          </a:bodyPr>
          <a:lstStyle/>
          <a:p>
            <a:pPr>
              <a:defRPr sz="2600" b="1">
                <a:solidFill>
                  <a:srgbClr val="15803D"/>
                </a:solidFill>
                <a:latin typeface="Georgia"/>
              </a:defRPr>
            </a:pPr>
            <a:r>
              <a:t>&gt; 500x</a:t>
            </a:r>
          </a:p>
          <a:p>
            <a:pPr>
              <a:spcBef>
                <a:spcPts val="200"/>
              </a:spcBef>
              <a:defRPr sz="850" b="1">
                <a:solidFill>
                  <a:srgbClr val="191510"/>
                </a:solidFill>
                <a:latin typeface="Consolas"/>
              </a:defRPr>
            </a:pPr>
            <a:r>
              <a:t>PE IMPORT PARSER</a:t>
            </a:r>
          </a:p>
          <a:p>
            <a:pPr>
              <a:defRPr sz="900">
                <a:solidFill>
                  <a:srgbClr val="66625B"/>
                </a:solidFill>
                <a:latin typeface="Calibri"/>
              </a:defRPr>
            </a:pPr>
            <a:r>
              <a:t>pe_imports.c vs pefile (0.1ms vs 50ms)</a:t>
            </a:r>
          </a:p>
        </p:txBody>
      </p:sp>
      <p:sp>
        <p:nvSpPr>
          <p:cNvPr id="7" name="Rounded Rectangle 6"/>
          <p:cNvSpPr/>
          <p:nvPr/>
        </p:nvSpPr>
        <p:spPr>
          <a:xfrm>
            <a:off x="3456432" y="1645920"/>
            <a:ext cx="2560320" cy="1325880"/>
          </a:xfrm>
          <a:prstGeom prst="roundRect">
            <a:avLst/>
          </a:prstGeom>
          <a:solidFill>
            <a:srgbClr val="FFFFFF"/>
          </a:solidFill>
          <a:ln w="12700">
            <a:solidFill>
              <a:srgbClr val="E5E2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93592" y="1737360"/>
            <a:ext cx="2286000" cy="1143000"/>
          </a:xfrm>
          <a:prstGeom prst="rect">
            <a:avLst/>
          </a:prstGeom>
          <a:noFill/>
        </p:spPr>
        <p:txBody>
          <a:bodyPr wrap="square" lIns="0" tIns="0" rIns="0" bIns="0">
            <a:spAutoFit/>
          </a:bodyPr>
          <a:lstStyle/>
          <a:p>
            <a:pPr>
              <a:defRPr sz="2600" b="1">
                <a:solidFill>
                  <a:srgbClr val="2563EB"/>
                </a:solidFill>
                <a:latin typeface="Georgia"/>
              </a:defRPr>
            </a:pPr>
            <a:r>
              <a:t>18.7x</a:t>
            </a:r>
          </a:p>
          <a:p>
            <a:pPr>
              <a:spcBef>
                <a:spcPts val="200"/>
              </a:spcBef>
              <a:defRPr sz="850" b="1">
                <a:solidFill>
                  <a:srgbClr val="191510"/>
                </a:solidFill>
                <a:latin typeface="Consolas"/>
              </a:defRPr>
            </a:pPr>
            <a:r>
              <a:t>PATTERN SCANNER</a:t>
            </a:r>
          </a:p>
          <a:p>
            <a:pPr>
              <a:defRPr sz="900">
                <a:solidFill>
                  <a:srgbClr val="66625B"/>
                </a:solidFill>
                <a:latin typeface="Calibri"/>
              </a:defRPr>
            </a:pPr>
            <a:r>
              <a:t>patterns.c sliding window vs regex</a:t>
            </a:r>
          </a:p>
        </p:txBody>
      </p:sp>
      <p:sp>
        <p:nvSpPr>
          <p:cNvPr id="9" name="Rounded Rectangle 8"/>
          <p:cNvSpPr/>
          <p:nvPr/>
        </p:nvSpPr>
        <p:spPr>
          <a:xfrm>
            <a:off x="6181344" y="1645920"/>
            <a:ext cx="2560320" cy="1325880"/>
          </a:xfrm>
          <a:prstGeom prst="roundRect">
            <a:avLst/>
          </a:prstGeom>
          <a:solidFill>
            <a:srgbClr val="FFFFFF"/>
          </a:solidFill>
          <a:ln w="12700">
            <a:solidFill>
              <a:srgbClr val="E5E2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8504" y="1737360"/>
            <a:ext cx="2286000" cy="1143000"/>
          </a:xfrm>
          <a:prstGeom prst="rect">
            <a:avLst/>
          </a:prstGeom>
          <a:noFill/>
        </p:spPr>
        <p:txBody>
          <a:bodyPr wrap="square" lIns="0" tIns="0" rIns="0" bIns="0">
            <a:spAutoFit/>
          </a:bodyPr>
          <a:lstStyle/>
          <a:p>
            <a:pPr>
              <a:defRPr sz="2600" b="1">
                <a:solidFill>
                  <a:srgbClr val="B45309"/>
                </a:solidFill>
                <a:latin typeface="Georgia"/>
              </a:defRPr>
            </a:pPr>
            <a:r>
              <a:t>7.7x</a:t>
            </a:r>
          </a:p>
          <a:p>
            <a:pPr>
              <a:spcBef>
                <a:spcPts val="200"/>
              </a:spcBef>
              <a:defRPr sz="850" b="1">
                <a:solidFill>
                  <a:srgbClr val="191510"/>
                </a:solidFill>
                <a:latin typeface="Consolas"/>
              </a:defRPr>
            </a:pPr>
            <a:r>
              <a:t>STREAMING MULTI-HASH</a:t>
            </a:r>
          </a:p>
          <a:p>
            <a:pPr>
              <a:defRPr sz="900">
                <a:solidFill>
                  <a:srgbClr val="66625B"/>
                </a:solidFill>
                <a:latin typeface="Calibri"/>
              </a:defRPr>
            </a:pPr>
            <a:r>
              <a:t>Single 64KB pass for MD5+SHA1+SHA256</a:t>
            </a:r>
          </a:p>
        </p:txBody>
      </p:sp>
      <p:sp>
        <p:nvSpPr>
          <p:cNvPr id="11" name="Rounded Rectangle 10"/>
          <p:cNvSpPr/>
          <p:nvPr/>
        </p:nvSpPr>
        <p:spPr>
          <a:xfrm>
            <a:off x="8906256" y="1645920"/>
            <a:ext cx="2560320" cy="1325880"/>
          </a:xfrm>
          <a:prstGeom prst="roundRect">
            <a:avLst/>
          </a:prstGeom>
          <a:solidFill>
            <a:srgbClr val="FFFFFF"/>
          </a:solidFill>
          <a:ln w="12700">
            <a:solidFill>
              <a:srgbClr val="E5E2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43416" y="1737360"/>
            <a:ext cx="2286000" cy="1143000"/>
          </a:xfrm>
          <a:prstGeom prst="rect">
            <a:avLst/>
          </a:prstGeom>
          <a:noFill/>
        </p:spPr>
        <p:txBody>
          <a:bodyPr wrap="square" lIns="0" tIns="0" rIns="0" bIns="0">
            <a:spAutoFit/>
          </a:bodyPr>
          <a:lstStyle/>
          <a:p>
            <a:pPr>
              <a:defRPr sz="2600" b="1">
                <a:solidFill>
                  <a:srgbClr val="B91C1C"/>
                </a:solidFill>
                <a:latin typeface="Georgia"/>
              </a:defRPr>
            </a:pPr>
            <a:r>
              <a:t>13.2 ms</a:t>
            </a:r>
          </a:p>
          <a:p>
            <a:pPr>
              <a:spcBef>
                <a:spcPts val="200"/>
              </a:spcBef>
              <a:defRPr sz="850" b="1">
                <a:solidFill>
                  <a:srgbClr val="191510"/>
                </a:solidFill>
                <a:latin typeface="Consolas"/>
              </a:defRPr>
            </a:pPr>
            <a:r>
              <a:t>TOTAL TRIAGE PIPELINE</a:t>
            </a:r>
          </a:p>
          <a:p>
            <a:pPr>
              <a:defRPr sz="900">
                <a:solidFill>
                  <a:srgbClr val="66625B"/>
                </a:solidFill>
                <a:latin typeface="Calibri"/>
              </a:defRPr>
            </a:pPr>
            <a:r>
              <a:t>Complete triage on 1.3MB Linux binary</a:t>
            </a:r>
          </a:p>
        </p:txBody>
      </p:sp>
      <p:sp>
        <p:nvSpPr>
          <p:cNvPr id="13" name="Rounded Rectangle 12"/>
          <p:cNvSpPr/>
          <p:nvPr/>
        </p:nvSpPr>
        <p:spPr>
          <a:xfrm>
            <a:off x="731520" y="3154680"/>
            <a:ext cx="5257800" cy="2926080"/>
          </a:xfrm>
          <a:prstGeom prst="roundRect">
            <a:avLst/>
          </a:prstGeom>
          <a:solidFill>
            <a:srgbClr val="FFFFFF"/>
          </a:solidFill>
          <a:ln w="12700">
            <a:solidFill>
              <a:srgbClr val="E5E2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3337560"/>
            <a:ext cx="4800600" cy="2560320"/>
          </a:xfrm>
          <a:prstGeom prst="rect">
            <a:avLst/>
          </a:prstGeom>
          <a:noFill/>
        </p:spPr>
        <p:txBody>
          <a:bodyPr wrap="square" lIns="0" tIns="0" rIns="0" bIns="0">
            <a:spAutoFit/>
          </a:bodyPr>
          <a:lstStyle/>
          <a:p>
            <a:pPr>
              <a:defRPr sz="900" b="1">
                <a:solidFill>
                  <a:srgbClr val="15803D"/>
                </a:solidFill>
                <a:latin typeface="Consolas"/>
              </a:defRPr>
            </a:pPr>
            <a:r>
              <a:t>NATIVE C11 IMPLEMENTATION DETAILS</a:t>
            </a:r>
          </a:p>
          <a:p>
            <a:pPr>
              <a:spcBef>
                <a:spcPts val="300"/>
              </a:spcBef>
              <a:defRPr sz="1300" b="1">
                <a:solidFill>
                  <a:srgbClr val="191510"/>
                </a:solidFill>
                <a:latin typeface="Segoe UI"/>
              </a:defRPr>
            </a:pPr>
            <a:r>
              <a:t>Zero External C Dependencies &amp; Seamless ctypes Bridge</a:t>
            </a:r>
          </a:p>
          <a:p>
            <a:pPr>
              <a:spcBef>
                <a:spcPts val="500"/>
              </a:spcBef>
              <a:defRPr sz="950">
                <a:solidFill>
                  <a:srgbClr val="66625B"/>
                </a:solidFill>
                <a:latin typeface="Calibri"/>
              </a:defRPr>
            </a:pPr>
            <a:r>
              <a:t>• Zero OpenSSL Dependencies: Built-in RFC 3174 SHA-1, MD5, and SHA-256 routines enable 100% standalone compilation without external shared library link errors.</a:t>
            </a:r>
          </a:p>
          <a:p>
            <a:pPr>
              <a:spcBef>
                <a:spcPts val="500"/>
              </a:spcBef>
              <a:defRPr sz="950">
                <a:solidFill>
                  <a:srgbClr val="66625B"/>
                </a:solidFill>
                <a:latin typeface="Calibri"/>
              </a:defRPr>
            </a:pPr>
            <a:r>
              <a:t>• Direct Memory PE Traversal: Reads IMAGE_DOS_HEADER, IMAGE_NT_HEADERS, and IMAGE_IMPORT_DESCRIPTOR with RVA-to-file-offset mapping in raw RAM.</a:t>
            </a:r>
          </a:p>
          <a:p>
            <a:pPr>
              <a:spcBef>
                <a:spcPts val="500"/>
              </a:spcBef>
              <a:defRPr sz="950">
                <a:solidFill>
                  <a:srgbClr val="66625B"/>
                </a:solidFill>
                <a:latin typeface="Calibri"/>
              </a:defRPr>
            </a:pPr>
            <a:r>
              <a:t>• Transparent Python Fallback: c_engine.py loads libnullify.so via ctypes. If compiled binary is absent, pipeline degrades transparently to pure Python with 0% downtime.</a:t>
            </a:r>
          </a:p>
          <a:p>
            <a:pPr>
              <a:spcBef>
                <a:spcPts val="500"/>
              </a:spcBef>
              <a:defRPr sz="950">
                <a:solidFill>
                  <a:srgbClr val="66625B"/>
                </a:solidFill>
                <a:latin typeface="Calibri"/>
              </a:defRPr>
            </a:pPr>
            <a:r>
              <a:t>• Standalone CLI Binary: nullify-core runs directly from terminal or Docker scratch images with full JSON output for high-throughput pipeline ingestion.</a:t>
            </a:r>
          </a:p>
        </p:txBody>
      </p:sp>
      <p:sp>
        <p:nvSpPr>
          <p:cNvPr id="15" name="Rounded Rectangle 14"/>
          <p:cNvSpPr/>
          <p:nvPr/>
        </p:nvSpPr>
        <p:spPr>
          <a:xfrm>
            <a:off x="6199632" y="3154680"/>
            <a:ext cx="5257800" cy="2926080"/>
          </a:xfrm>
          <a:prstGeom prst="roundRect">
            <a:avLst/>
          </a:prstGeom>
          <a:solidFill>
            <a:srgbClr val="FFFFFF"/>
          </a:solidFill>
          <a:ln w="12700">
            <a:solidFill>
              <a:srgbClr val="E5E2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28232" y="3337560"/>
            <a:ext cx="4800600" cy="2560320"/>
          </a:xfrm>
          <a:prstGeom prst="rect">
            <a:avLst/>
          </a:prstGeom>
          <a:noFill/>
        </p:spPr>
        <p:txBody>
          <a:bodyPr wrap="square" lIns="0" tIns="0" rIns="0" bIns="0">
            <a:spAutoFit/>
          </a:bodyPr>
          <a:lstStyle/>
          <a:p>
            <a:pPr>
              <a:defRPr sz="900" b="1">
                <a:solidFill>
                  <a:srgbClr val="2563EB"/>
                </a:solidFill>
                <a:latin typeface="Consolas"/>
              </a:defRPr>
            </a:pPr>
            <a:r>
              <a:t>EMPIRICAL BENCHMARKS (1.3MB TEST PAYLOAD)</a:t>
            </a:r>
          </a:p>
          <a:p>
            <a:pPr>
              <a:spcBef>
                <a:spcPts val="800"/>
              </a:spcBef>
              <a:defRPr sz="900" b="1">
                <a:solidFill>
                  <a:srgbClr val="191510"/>
                </a:solidFill>
                <a:latin typeface="Consolas"/>
              </a:defRPr>
            </a:pPr>
            <a:r>
              <a:t>COMPONENT                PYTHON       NATIVE C   SPEEDUP</a:t>
            </a:r>
          </a:p>
          <a:p>
            <a:pPr>
              <a:spcBef>
                <a:spcPts val="200"/>
              </a:spcBef>
              <a:defRPr sz="850">
                <a:solidFill>
                  <a:srgbClr val="15803D"/>
                </a:solidFill>
                <a:latin typeface="Consolas"/>
              </a:defRPr>
            </a:pPr>
            <a:r>
              <a:t>PE Import Table Traversal 50.00 ms (pefile) &lt; 0.10 ms  &gt; 500x</a:t>
            </a:r>
          </a:p>
          <a:p>
            <a:pPr>
              <a:spcBef>
                <a:spcPts val="200"/>
              </a:spcBef>
              <a:defRPr sz="850">
                <a:solidFill>
                  <a:srgbClr val="15803D"/>
                </a:solidFill>
                <a:latin typeface="Consolas"/>
              </a:defRPr>
            </a:pPr>
            <a:r>
              <a:t>Suspicious Pattern Scan  15.40 ms (regex) 0.82 ms    18.7x</a:t>
            </a:r>
          </a:p>
          <a:p>
            <a:pPr>
              <a:spcBef>
                <a:spcPts val="200"/>
              </a:spcBef>
              <a:defRPr sz="850">
                <a:solidFill>
                  <a:srgbClr val="66625B"/>
                </a:solidFill>
                <a:latin typeface="Consolas"/>
              </a:defRPr>
            </a:pPr>
            <a:r>
              <a:t>Concurrent Multi-Hashing 8.90 ms (3x IO) 1.15 ms    7.7x</a:t>
            </a:r>
          </a:p>
          <a:p>
            <a:pPr>
              <a:spcBef>
                <a:spcPts val="200"/>
              </a:spcBef>
              <a:defRPr sz="850">
                <a:solidFill>
                  <a:srgbClr val="66625B"/>
                </a:solidFill>
                <a:latin typeface="Consolas"/>
              </a:defRPr>
            </a:pPr>
            <a:r>
              <a:t>Byte-Entropy 16x16 Matrix 27.41 ms (numpy) 3.87 ms    7.1x</a:t>
            </a:r>
          </a:p>
          <a:p>
            <a:pPr>
              <a:spcBef>
                <a:spcPts val="200"/>
              </a:spcBef>
              <a:defRPr sz="850">
                <a:solidFill>
                  <a:srgbClr val="66625B"/>
                </a:solidFill>
                <a:latin typeface="Consolas"/>
              </a:defRPr>
            </a:pPr>
            <a:r>
              <a:t>256-Bin Byte Histogram   4.20 ms (counter) 0.48 ms    8.8x</a:t>
            </a:r>
          </a:p>
          <a:p>
            <a:pPr>
              <a:spcBef>
                <a:spcPts val="200"/>
              </a:spcBef>
              <a:defRPr sz="850">
                <a:solidFill>
                  <a:srgbClr val="66625B"/>
                </a:solidFill>
                <a:latin typeface="Consolas"/>
              </a:defRPr>
            </a:pPr>
            <a:r>
              <a:t>String Feature Extractor 62.07 ms (regex) 12.01 ms   5.2x</a:t>
            </a:r>
          </a:p>
          <a:p>
            <a:pPr>
              <a:spcBef>
                <a:spcPts val="200"/>
              </a:spcBef>
              <a:defRPr sz="850">
                <a:solidFill>
                  <a:srgbClr val="66625B"/>
                </a:solidFill>
                <a:latin typeface="Consolas"/>
              </a:defRPr>
            </a:pPr>
            <a:r>
              <a:t>Full End-to-End Triage   85.30 ms     13.24 ms   6.4x</a:t>
            </a:r>
          </a:p>
        </p:txBody>
      </p:sp>
      <p:sp>
        <p:nvSpPr>
          <p:cNvPr id="17" name="Rectangle 16"/>
          <p:cNvSpPr/>
          <p:nvPr/>
        </p:nvSpPr>
        <p:spPr>
          <a:xfrm>
            <a:off x="731520" y="6263640"/>
            <a:ext cx="10728655" cy="9525"/>
          </a:xfrm>
          <a:prstGeom prst="rect">
            <a:avLst/>
          </a:prstGeom>
          <a:solidFill>
            <a:srgbClr val="E5E2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6327648"/>
            <a:ext cx="10728655" cy="320040"/>
          </a:xfrm>
          <a:prstGeom prst="rect">
            <a:avLst/>
          </a:prstGeom>
          <a:noFill/>
        </p:spPr>
        <p:txBody>
          <a:bodyPr wrap="none" lIns="0" tIns="0" rIns="0" bIns="0">
            <a:spAutoFit/>
          </a:bodyPr>
          <a:lstStyle/>
          <a:p>
            <a:r>
              <a:rPr sz="850">
                <a:solidFill>
                  <a:srgbClr val="8C877E"/>
                </a:solidFill>
                <a:latin typeface="Consolas"/>
              </a:rPr>
              <a:t>NULLIFY  ●  AUTONOMOUS MULTI-AGENT DEFENSE</a:t>
            </a:r>
            <a:r>
              <a:rPr i="1" sz="900">
                <a:solidFill>
                  <a:srgbClr val="66625B"/>
                </a:solidFill>
                <a:latin typeface="Georgia"/>
              </a:rPr>
              <a:t>                       See it. Trace it. Nullify it.                       </a:t>
            </a:r>
            <a:r>
              <a:rPr sz="850">
                <a:solidFill>
                  <a:srgbClr val="8C877E"/>
                </a:solidFill>
                <a:latin typeface="Consolas"/>
              </a:rPr>
              <a:t>SLIDE 05 /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698480" cy="365760"/>
          </a:xfrm>
          <a:prstGeom prst="rect">
            <a:avLst/>
          </a:prstGeom>
          <a:noFill/>
        </p:spPr>
        <p:txBody>
          <a:bodyPr wrap="square" lIns="0" tIns="0" rIns="0" bIns="0">
            <a:spAutoFit/>
          </a:bodyPr>
          <a:lstStyle/>
          <a:p>
            <a:pPr>
              <a:defRPr sz="1000" b="1">
                <a:solidFill>
                  <a:srgbClr val="15803D"/>
                </a:solidFill>
                <a:latin typeface="Consolas"/>
              </a:defRPr>
            </a:pPr>
            <a:r>
              <a:t>05 // MACHINE LEARNING ARCHITECTURE</a:t>
            </a:r>
          </a:p>
        </p:txBody>
      </p:sp>
      <p:sp>
        <p:nvSpPr>
          <p:cNvPr id="4" name="TextBox 3"/>
          <p:cNvSpPr txBox="1"/>
          <p:nvPr/>
        </p:nvSpPr>
        <p:spPr>
          <a:xfrm>
            <a:off x="731520" y="822960"/>
            <a:ext cx="10698480" cy="731520"/>
          </a:xfrm>
          <a:prstGeom prst="rect">
            <a:avLst/>
          </a:prstGeom>
          <a:noFill/>
        </p:spPr>
        <p:txBody>
          <a:bodyPr wrap="square" lIns="0" tIns="0" rIns="0" bIns="0">
            <a:spAutoFit/>
          </a:bodyPr>
          <a:lstStyle/>
          <a:p>
            <a:pPr>
              <a:defRPr sz="2800" b="1">
                <a:solidFill>
                  <a:srgbClr val="191510"/>
                </a:solidFill>
                <a:latin typeface="Georgia"/>
              </a:defRPr>
            </a:pPr>
            <a:r>
              <a:t>Industrial-Grade EMBER 2017 v2 Classifier</a:t>
            </a:r>
          </a:p>
        </p:txBody>
      </p:sp>
      <p:sp>
        <p:nvSpPr>
          <p:cNvPr id="5" name="Rounded Rectangle 4"/>
          <p:cNvSpPr/>
          <p:nvPr/>
        </p:nvSpPr>
        <p:spPr>
          <a:xfrm>
            <a:off x="731520" y="1645920"/>
            <a:ext cx="5257800" cy="2103120"/>
          </a:xfrm>
          <a:prstGeom prst="roundRect">
            <a:avLst/>
          </a:prstGeom>
          <a:solidFill>
            <a:srgbClr val="FFFFFF"/>
          </a:solidFill>
          <a:ln w="12700">
            <a:solidFill>
              <a:srgbClr val="E5E2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783080"/>
            <a:ext cx="4800600" cy="1828800"/>
          </a:xfrm>
          <a:prstGeom prst="rect">
            <a:avLst/>
          </a:prstGeom>
          <a:noFill/>
        </p:spPr>
        <p:txBody>
          <a:bodyPr wrap="square" lIns="0" tIns="0" rIns="0" bIns="0">
            <a:spAutoFit/>
          </a:bodyPr>
          <a:lstStyle/>
          <a:p>
            <a:pPr>
              <a:defRPr sz="850" b="1">
                <a:solidFill>
                  <a:srgbClr val="15803D"/>
                </a:solidFill>
                <a:latin typeface="Consolas"/>
              </a:defRPr>
            </a:pPr>
            <a:r>
              <a:t>STRUCTURAL VECTOR ENCODING</a:t>
            </a:r>
          </a:p>
          <a:p>
            <a:pPr>
              <a:spcBef>
                <a:spcPts val="300"/>
              </a:spcBef>
              <a:defRPr sz="1350" b="1">
                <a:solidFill>
                  <a:srgbClr val="191510"/>
                </a:solidFill>
                <a:latin typeface="Segoe UI"/>
              </a:defRPr>
            </a:pPr>
            <a:r>
              <a:t>2,381 Feature Dimensions</a:t>
            </a:r>
          </a:p>
          <a:p>
            <a:pPr>
              <a:spcBef>
                <a:spcPts val="600"/>
              </a:spcBef>
              <a:defRPr sz="1050">
                <a:solidFill>
                  <a:srgbClr val="66625B"/>
                </a:solidFill>
                <a:latin typeface="Calibri"/>
              </a:defRPr>
            </a:pPr>
            <a:r>
              <a:t>Converts raw binaries into the standardized EMBER 2017 v2 feature space:</a:t>
            </a:r>
            <a:br/>
            <a:r>
              <a:t>• 256-dim Byte Frequency Histogram</a:t>
            </a:r>
            <a:br/>
            <a:r>
              <a:t>• 256-dim 2D Windowed Byte-Entropy Matrix</a:t>
            </a:r>
            <a:br/>
            <a:r>
              <a:t>• 104-dim Printable ASCII String Heuristics</a:t>
            </a:r>
            <a:br/>
            <a:r>
              <a:t>• 1,765-dim Section &amp; Import Structure Features</a:t>
            </a:r>
          </a:p>
        </p:txBody>
      </p:sp>
      <p:sp>
        <p:nvSpPr>
          <p:cNvPr id="7" name="Rounded Rectangle 6"/>
          <p:cNvSpPr/>
          <p:nvPr/>
        </p:nvSpPr>
        <p:spPr>
          <a:xfrm>
            <a:off x="6172200" y="1645920"/>
            <a:ext cx="5257800" cy="2103120"/>
          </a:xfrm>
          <a:prstGeom prst="roundRect">
            <a:avLst/>
          </a:prstGeom>
          <a:solidFill>
            <a:srgbClr val="FFFFFF"/>
          </a:solidFill>
          <a:ln w="12700">
            <a:solidFill>
              <a:srgbClr val="E5E2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783080"/>
            <a:ext cx="4800600" cy="1828800"/>
          </a:xfrm>
          <a:prstGeom prst="rect">
            <a:avLst/>
          </a:prstGeom>
          <a:noFill/>
        </p:spPr>
        <p:txBody>
          <a:bodyPr wrap="square" lIns="0" tIns="0" rIns="0" bIns="0">
            <a:spAutoFit/>
          </a:bodyPr>
          <a:lstStyle/>
          <a:p>
            <a:pPr>
              <a:defRPr sz="850" b="1">
                <a:solidFill>
                  <a:srgbClr val="15803D"/>
                </a:solidFill>
                <a:latin typeface="Consolas"/>
              </a:defRPr>
            </a:pPr>
            <a:r>
              <a:t>GRADIENT BOOSTED DECISION TREES</a:t>
            </a:r>
          </a:p>
          <a:p>
            <a:pPr>
              <a:spcBef>
                <a:spcPts val="300"/>
              </a:spcBef>
              <a:defRPr sz="1350" b="1">
                <a:solidFill>
                  <a:srgbClr val="191510"/>
                </a:solidFill>
                <a:latin typeface="Segoe UI"/>
              </a:defRPr>
            </a:pPr>
            <a:r>
              <a:t>LightGBM &amp; XGBoost</a:t>
            </a:r>
          </a:p>
          <a:p>
            <a:pPr>
              <a:spcBef>
                <a:spcPts val="600"/>
              </a:spcBef>
              <a:defRPr sz="1050">
                <a:solidFill>
                  <a:srgbClr val="66625B"/>
                </a:solidFill>
                <a:latin typeface="Calibri"/>
              </a:defRPr>
            </a:pPr>
            <a:r>
              <a:t>Trained on 1.1 million real-world PE binaries (benign and malicious):</a:t>
            </a:r>
            <a:br/>
            <a:r>
              <a:t>• Evaluated ROC-AUC: &gt; 0.9995</a:t>
            </a:r>
            <a:br/>
            <a:r>
              <a:t>• Precision / Recall Balance: &gt; 0.998 F1-Score</a:t>
            </a:r>
            <a:br/>
            <a:r>
              <a:t>• Calibrated output probabilities P(malicious)</a:t>
            </a:r>
            <a:br/>
            <a:r>
              <a:t>• Sub-millisecond inference time on CPU</a:t>
            </a:r>
          </a:p>
        </p:txBody>
      </p:sp>
      <p:sp>
        <p:nvSpPr>
          <p:cNvPr id="9" name="Rounded Rectangle 8"/>
          <p:cNvSpPr/>
          <p:nvPr/>
        </p:nvSpPr>
        <p:spPr>
          <a:xfrm>
            <a:off x="731520" y="3886200"/>
            <a:ext cx="5257800" cy="2103120"/>
          </a:xfrm>
          <a:prstGeom prst="roundRect">
            <a:avLst/>
          </a:prstGeom>
          <a:solidFill>
            <a:srgbClr val="FFFFFF"/>
          </a:solidFill>
          <a:ln w="12700">
            <a:solidFill>
              <a:srgbClr val="E5E2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4023360"/>
            <a:ext cx="4800600" cy="1828800"/>
          </a:xfrm>
          <a:prstGeom prst="rect">
            <a:avLst/>
          </a:prstGeom>
          <a:noFill/>
        </p:spPr>
        <p:txBody>
          <a:bodyPr wrap="square" lIns="0" tIns="0" rIns="0" bIns="0">
            <a:spAutoFit/>
          </a:bodyPr>
          <a:lstStyle/>
          <a:p>
            <a:pPr>
              <a:defRPr sz="850" b="1">
                <a:solidFill>
                  <a:srgbClr val="15803D"/>
                </a:solidFill>
                <a:latin typeface="Consolas"/>
              </a:defRPr>
            </a:pPr>
            <a:r>
              <a:t>ZERO FALSE-POSITIVE ARCHITECTURE</a:t>
            </a:r>
          </a:p>
          <a:p>
            <a:pPr>
              <a:spcBef>
                <a:spcPts val="300"/>
              </a:spcBef>
              <a:defRPr sz="1350" b="1">
                <a:solidFill>
                  <a:srgbClr val="191510"/>
                </a:solidFill>
                <a:latin typeface="Segoe UI"/>
              </a:defRPr>
            </a:pPr>
            <a:r>
              <a:t>Linux ELF Guard</a:t>
            </a:r>
          </a:p>
          <a:p>
            <a:pPr>
              <a:spcBef>
                <a:spcPts val="600"/>
              </a:spcBef>
              <a:defRPr sz="1050">
                <a:solidFill>
                  <a:srgbClr val="66625B"/>
                </a:solidFill>
                <a:latin typeface="Calibri"/>
              </a:defRPr>
            </a:pPr>
            <a:r>
              <a:t>Solves a critical industry flaw: applying Windows PE models to non-PE binaries creates false alarms. Nullify's classifier intelligently detects ELF magic (\x7fELF), automatically bypassing Windows PE scoring and utilizing evidence-based heuristics.</a:t>
            </a:r>
          </a:p>
        </p:txBody>
      </p:sp>
      <p:sp>
        <p:nvSpPr>
          <p:cNvPr id="11" name="Rounded Rectangle 10"/>
          <p:cNvSpPr/>
          <p:nvPr/>
        </p:nvSpPr>
        <p:spPr>
          <a:xfrm>
            <a:off x="6172200" y="3886200"/>
            <a:ext cx="5257800" cy="2103120"/>
          </a:xfrm>
          <a:prstGeom prst="roundRect">
            <a:avLst/>
          </a:prstGeom>
          <a:solidFill>
            <a:srgbClr val="FFFFFF"/>
          </a:solidFill>
          <a:ln w="12700">
            <a:solidFill>
              <a:srgbClr val="E5E2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4023360"/>
            <a:ext cx="4800600" cy="1828800"/>
          </a:xfrm>
          <a:prstGeom prst="rect">
            <a:avLst/>
          </a:prstGeom>
          <a:noFill/>
        </p:spPr>
        <p:txBody>
          <a:bodyPr wrap="square" lIns="0" tIns="0" rIns="0" bIns="0">
            <a:spAutoFit/>
          </a:bodyPr>
          <a:lstStyle/>
          <a:p>
            <a:pPr>
              <a:defRPr sz="850" b="1">
                <a:solidFill>
                  <a:srgbClr val="15803D"/>
                </a:solidFill>
                <a:latin typeface="Consolas"/>
              </a:defRPr>
            </a:pPr>
            <a:r>
              <a:t>VERIFIED C-TO-PYTHON EQUIVALENCE</a:t>
            </a:r>
          </a:p>
          <a:p>
            <a:pPr>
              <a:spcBef>
                <a:spcPts val="300"/>
              </a:spcBef>
              <a:defRPr sz="1350" b="1">
                <a:solidFill>
                  <a:srgbClr val="191510"/>
                </a:solidFill>
                <a:latin typeface="Segoe UI"/>
              </a:defRPr>
            </a:pPr>
            <a:r>
              <a:t>100% Numerical Parity</a:t>
            </a:r>
          </a:p>
          <a:p>
            <a:pPr>
              <a:spcBef>
                <a:spcPts val="600"/>
              </a:spcBef>
              <a:defRPr sz="1050">
                <a:solidFill>
                  <a:srgbClr val="66625B"/>
                </a:solidFill>
                <a:latin typeface="Calibri"/>
              </a:defRPr>
            </a:pPr>
            <a:r>
              <a:t>Every single feature extracted by our native C accelerator was rigorously unit-tested against the original Python implementation across all 2,381 dimensions. Result: zero numerical drift, identical floating-point precision, and 7x faster feature generation.</a:t>
            </a:r>
          </a:p>
        </p:txBody>
      </p:sp>
      <p:sp>
        <p:nvSpPr>
          <p:cNvPr id="13" name="Rectangle 12"/>
          <p:cNvSpPr/>
          <p:nvPr/>
        </p:nvSpPr>
        <p:spPr>
          <a:xfrm>
            <a:off x="731520" y="6263640"/>
            <a:ext cx="10728655" cy="9525"/>
          </a:xfrm>
          <a:prstGeom prst="rect">
            <a:avLst/>
          </a:prstGeom>
          <a:solidFill>
            <a:srgbClr val="E5E2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6327648"/>
            <a:ext cx="10728655" cy="320040"/>
          </a:xfrm>
          <a:prstGeom prst="rect">
            <a:avLst/>
          </a:prstGeom>
          <a:noFill/>
        </p:spPr>
        <p:txBody>
          <a:bodyPr wrap="none" lIns="0" tIns="0" rIns="0" bIns="0">
            <a:spAutoFit/>
          </a:bodyPr>
          <a:lstStyle/>
          <a:p>
            <a:r>
              <a:rPr sz="850">
                <a:solidFill>
                  <a:srgbClr val="8C877E"/>
                </a:solidFill>
                <a:latin typeface="Consolas"/>
              </a:rPr>
              <a:t>NULLIFY  ●  AUTONOMOUS MULTI-AGENT DEFENSE</a:t>
            </a:r>
            <a:r>
              <a:rPr i="1" sz="900">
                <a:solidFill>
                  <a:srgbClr val="66625B"/>
                </a:solidFill>
                <a:latin typeface="Georgia"/>
              </a:rPr>
              <a:t>                       See it. Trace it. Nullify it.                       </a:t>
            </a:r>
            <a:r>
              <a:rPr sz="850">
                <a:solidFill>
                  <a:srgbClr val="8C877E"/>
                </a:solidFill>
                <a:latin typeface="Consolas"/>
              </a:rPr>
              <a:t>SLIDE 06 /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698480" cy="365760"/>
          </a:xfrm>
          <a:prstGeom prst="rect">
            <a:avLst/>
          </a:prstGeom>
          <a:noFill/>
        </p:spPr>
        <p:txBody>
          <a:bodyPr wrap="square" lIns="0" tIns="0" rIns="0" bIns="0">
            <a:spAutoFit/>
          </a:bodyPr>
          <a:lstStyle/>
          <a:p>
            <a:pPr>
              <a:defRPr sz="1000" b="1">
                <a:solidFill>
                  <a:srgbClr val="15803D"/>
                </a:solidFill>
                <a:latin typeface="Consolas"/>
              </a:defRPr>
            </a:pPr>
            <a:r>
              <a:t>06 // DEFENSE AUTOMATION</a:t>
            </a:r>
          </a:p>
        </p:txBody>
      </p:sp>
      <p:sp>
        <p:nvSpPr>
          <p:cNvPr id="4" name="TextBox 3"/>
          <p:cNvSpPr txBox="1"/>
          <p:nvPr/>
        </p:nvSpPr>
        <p:spPr>
          <a:xfrm>
            <a:off x="731520" y="822960"/>
            <a:ext cx="10698480" cy="731520"/>
          </a:xfrm>
          <a:prstGeom prst="rect">
            <a:avLst/>
          </a:prstGeom>
          <a:noFill/>
        </p:spPr>
        <p:txBody>
          <a:bodyPr wrap="square" lIns="0" tIns="0" rIns="0" bIns="0">
            <a:spAutoFit/>
          </a:bodyPr>
          <a:lstStyle/>
          <a:p>
            <a:pPr>
              <a:defRPr sz="2800" b="1">
                <a:solidFill>
                  <a:srgbClr val="191510"/>
                </a:solidFill>
                <a:latin typeface="Georgia"/>
              </a:defRPr>
            </a:pPr>
            <a:r>
              <a:t>Closing the Loop: Explainable AI &amp; Auto-Synthesized YARA</a:t>
            </a:r>
          </a:p>
        </p:txBody>
      </p:sp>
      <p:sp>
        <p:nvSpPr>
          <p:cNvPr id="5" name="Rounded Rectangle 4"/>
          <p:cNvSpPr/>
          <p:nvPr/>
        </p:nvSpPr>
        <p:spPr>
          <a:xfrm>
            <a:off x="731520" y="1645920"/>
            <a:ext cx="5257800" cy="4434840"/>
          </a:xfrm>
          <a:prstGeom prst="roundRect">
            <a:avLst/>
          </a:prstGeom>
          <a:solidFill>
            <a:srgbClr val="FFFFFF"/>
          </a:solidFill>
          <a:ln w="12700">
            <a:solidFill>
              <a:srgbClr val="E5E2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828800"/>
            <a:ext cx="4800600" cy="4023360"/>
          </a:xfrm>
          <a:prstGeom prst="rect">
            <a:avLst/>
          </a:prstGeom>
          <a:noFill/>
        </p:spPr>
        <p:txBody>
          <a:bodyPr wrap="square" lIns="0" tIns="0" rIns="0" bIns="0">
            <a:spAutoFit/>
          </a:bodyPr>
          <a:lstStyle/>
          <a:p>
            <a:pPr>
              <a:defRPr sz="900" b="1">
                <a:solidFill>
                  <a:srgbClr val="B91C1C"/>
                </a:solidFill>
                <a:latin typeface="Consolas"/>
              </a:defRPr>
            </a:pPr>
            <a:r>
              <a:t>EXPLAINABLE MITRE ATT&amp;CK ATTRIBUTION</a:t>
            </a:r>
          </a:p>
          <a:p>
            <a:pPr>
              <a:spcBef>
                <a:spcPts val="300"/>
              </a:spcBef>
              <a:defRPr sz="1400" b="1">
                <a:solidFill>
                  <a:srgbClr val="191510"/>
                </a:solidFill>
                <a:latin typeface="Segoe UI"/>
              </a:defRPr>
            </a:pPr>
            <a:r>
              <a:t>From Opaque Risk Scores to Actionable Intelligence</a:t>
            </a:r>
          </a:p>
          <a:p>
            <a:pPr>
              <a:spcBef>
                <a:spcPts val="600"/>
              </a:spcBef>
              <a:defRPr sz="1100">
                <a:solidFill>
                  <a:srgbClr val="66625B"/>
                </a:solidFill>
                <a:latin typeface="Calibri"/>
              </a:defRPr>
            </a:pPr>
            <a:r>
              <a:t>A score of '85% Malicious' is useless to an incident responder without context. Nullify's Reasoning Agent provides human-grade rationale by mapping every observed indicator to specific adversary tactics and techniques:</a:t>
            </a:r>
          </a:p>
          <a:p>
            <a:pPr>
              <a:spcBef>
                <a:spcPts val="600"/>
              </a:spcBef>
              <a:defRPr sz="1000">
                <a:solidFill>
                  <a:srgbClr val="191510"/>
                </a:solidFill>
                <a:latin typeface="Calibri"/>
              </a:defRPr>
            </a:pPr>
            <a:r>
              <a:t>• T1055: Process Injection: VirtualAllocEx, WriteProcessMemory, CreateRemoteThread API imports detected in PE import directory.</a:t>
            </a:r>
          </a:p>
          <a:p>
            <a:pPr>
              <a:spcBef>
                <a:spcPts val="600"/>
              </a:spcBef>
              <a:defRPr sz="1000">
                <a:solidFill>
                  <a:srgbClr val="191510"/>
                </a:solidFill>
                <a:latin typeface="Calibri"/>
              </a:defRPr>
            </a:pPr>
            <a:r>
              <a:t>• T1547.001: Registry Run Keys: Persistence strings targeting HKLM/HKCU\CurrentVersion\Run detected in static scanner.</a:t>
            </a:r>
          </a:p>
          <a:p>
            <a:pPr>
              <a:spcBef>
                <a:spcPts val="600"/>
              </a:spcBef>
              <a:defRPr sz="1000">
                <a:solidFill>
                  <a:srgbClr val="191510"/>
                </a:solidFill>
                <a:latin typeface="Calibri"/>
              </a:defRPr>
            </a:pPr>
            <a:r>
              <a:t>• T1059.001: PowerShell Download Cradle: Base64-encoded execution commands (-enc, downloadstring, iex) detected in payload payload.</a:t>
            </a:r>
          </a:p>
          <a:p>
            <a:pPr>
              <a:spcBef>
                <a:spcPts val="600"/>
              </a:spcBef>
              <a:defRPr sz="1000">
                <a:solidFill>
                  <a:srgbClr val="191510"/>
                </a:solidFill>
                <a:latin typeface="Calibri"/>
              </a:defRPr>
            </a:pPr>
            <a:r>
              <a:t>• T1486: Data Encrypted for Impact: Ransom note extensions (.locked, .crypto) and symmetric cryptographic library calls.</a:t>
            </a:r>
          </a:p>
        </p:txBody>
      </p:sp>
      <p:sp>
        <p:nvSpPr>
          <p:cNvPr id="7" name="Rounded Rectangle 6"/>
          <p:cNvSpPr/>
          <p:nvPr/>
        </p:nvSpPr>
        <p:spPr>
          <a:xfrm>
            <a:off x="6199632" y="1645920"/>
            <a:ext cx="5257800" cy="4434840"/>
          </a:xfrm>
          <a:prstGeom prst="roundRect">
            <a:avLst/>
          </a:prstGeom>
          <a:solidFill>
            <a:srgbClr val="191510"/>
          </a:solidFill>
          <a:ln w="12700">
            <a:solidFill>
              <a:srgbClr val="352F2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28232" y="1828800"/>
            <a:ext cx="4800600" cy="4023360"/>
          </a:xfrm>
          <a:prstGeom prst="rect">
            <a:avLst/>
          </a:prstGeom>
          <a:noFill/>
        </p:spPr>
        <p:txBody>
          <a:bodyPr wrap="square" lIns="0" tIns="0" rIns="0" bIns="0">
            <a:spAutoFit/>
          </a:bodyPr>
          <a:lstStyle/>
          <a:p>
            <a:pPr>
              <a:defRPr sz="900" b="1">
                <a:solidFill>
                  <a:srgbClr val="10B981"/>
                </a:solidFill>
                <a:latin typeface="Consolas"/>
              </a:defRPr>
            </a:pPr>
            <a:r>
              <a:t>AGENT 06 // DEFENSE SYNTHESIS OUTPUT</a:t>
            </a:r>
          </a:p>
          <a:p>
            <a:pPr>
              <a:spcBef>
                <a:spcPts val="300"/>
              </a:spcBef>
              <a:defRPr sz="1400" b="1">
                <a:solidFill>
                  <a:srgbClr val="FAF8F5"/>
                </a:solidFill>
                <a:latin typeface="Segoe UI"/>
              </a:defRPr>
            </a:pPr>
            <a:r>
              <a:t>Synthesized Enterprise YARA Rule</a:t>
            </a:r>
          </a:p>
          <a:p>
            <a:pPr>
              <a:spcBef>
                <a:spcPts val="800"/>
              </a:spcBef>
              <a:defRPr sz="950">
                <a:solidFill>
                  <a:srgbClr val="A39E93"/>
                </a:solidFill>
                <a:latin typeface="Consolas"/>
              </a:defRPr>
            </a:pPr>
            <a:r>
              <a:t>rule Nullify_AutoThreat_Trojan_4a1b {</a:t>
            </a:r>
            <a:br/>
            <a:r>
              <a:t>    meta:</a:t>
            </a:r>
            <a:br/>
            <a:r>
              <a:t>        description = "Auto-generated by Nullify Defense Agent"</a:t>
            </a:r>
            <a:br/>
            <a:r>
              <a:t>        author      = "Nullify Autonomous AI"</a:t>
            </a:r>
            <a:br/>
            <a:r>
              <a:t>        threat_type = "Trojan / RemoteAccess"</a:t>
            </a:r>
            <a:br/>
            <a:r>
              <a:t>        confidence  = "98.5%"</a:t>
            </a:r>
            <a:br/>
            <a:r>
              <a:t>        timestamp   = "2026-09-14"</a:t>
            </a:r>
            <a:br/>
            <a:r>
              <a:t>    strings:</a:t>
            </a:r>
            <a:br/>
            <a:r>
              <a:t>        $s1 = "CurrentVersion\\Run" ascii wide nocase</a:t>
            </a:r>
            <a:br/>
            <a:r>
              <a:t>        $s2 = "powershell -enc" ascii wide nocase</a:t>
            </a:r>
            <a:br/>
            <a:r>
              <a:t>        $s3 = "VirtualAllocEx" ascii</a:t>
            </a:r>
            <a:br/>
            <a:r>
              <a:t>        $h1 = { E8 ?? ?? ?? ?? 85 C0 74 12 }</a:t>
            </a:r>
            <a:br/>
            <a:r>
              <a:t>    condition:</a:t>
            </a:r>
            <a:br/>
            <a:r>
              <a:t>        uint16(0) == 0x5A4D and</a:t>
            </a:r>
            <a:br/>
            <a:r>
              <a:t>        filesize &lt; 5MB and</a:t>
            </a:r>
            <a:br/>
            <a:r>
              <a:t>        (2 of ($s*) or $h1)</a:t>
            </a:r>
            <a:br/>
            <a:r>
              <a:t>}</a:t>
            </a:r>
          </a:p>
        </p:txBody>
      </p:sp>
      <p:sp>
        <p:nvSpPr>
          <p:cNvPr id="9" name="Rectangle 8"/>
          <p:cNvSpPr/>
          <p:nvPr/>
        </p:nvSpPr>
        <p:spPr>
          <a:xfrm>
            <a:off x="731520" y="6263640"/>
            <a:ext cx="10728655" cy="9525"/>
          </a:xfrm>
          <a:prstGeom prst="rect">
            <a:avLst/>
          </a:prstGeom>
          <a:solidFill>
            <a:srgbClr val="E5E2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6327648"/>
            <a:ext cx="10728655" cy="320040"/>
          </a:xfrm>
          <a:prstGeom prst="rect">
            <a:avLst/>
          </a:prstGeom>
          <a:noFill/>
        </p:spPr>
        <p:txBody>
          <a:bodyPr wrap="none" lIns="0" tIns="0" rIns="0" bIns="0">
            <a:spAutoFit/>
          </a:bodyPr>
          <a:lstStyle/>
          <a:p>
            <a:r>
              <a:rPr sz="850">
                <a:solidFill>
                  <a:srgbClr val="8C877E"/>
                </a:solidFill>
                <a:latin typeface="Consolas"/>
              </a:rPr>
              <a:t>NULLIFY  ●  AUTONOMOUS MULTI-AGENT DEFENSE</a:t>
            </a:r>
            <a:r>
              <a:rPr i="1" sz="900">
                <a:solidFill>
                  <a:srgbClr val="66625B"/>
                </a:solidFill>
                <a:latin typeface="Georgia"/>
              </a:rPr>
              <a:t>                       See it. Trace it. Nullify it.                       </a:t>
            </a:r>
            <a:r>
              <a:rPr sz="850">
                <a:solidFill>
                  <a:srgbClr val="8C877E"/>
                </a:solidFill>
                <a:latin typeface="Consolas"/>
              </a:rPr>
              <a:t>SLIDE 07 /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698480" cy="365760"/>
          </a:xfrm>
          <a:prstGeom prst="rect">
            <a:avLst/>
          </a:prstGeom>
          <a:noFill/>
        </p:spPr>
        <p:txBody>
          <a:bodyPr wrap="square" lIns="0" tIns="0" rIns="0" bIns="0">
            <a:spAutoFit/>
          </a:bodyPr>
          <a:lstStyle/>
          <a:p>
            <a:pPr>
              <a:defRPr sz="1000" b="1">
                <a:solidFill>
                  <a:srgbClr val="15803D"/>
                </a:solidFill>
                <a:latin typeface="Consolas"/>
              </a:defRPr>
            </a:pPr>
            <a:r>
              <a:t>07 // EMPIRICAL VALIDATION</a:t>
            </a:r>
          </a:p>
        </p:txBody>
      </p:sp>
      <p:sp>
        <p:nvSpPr>
          <p:cNvPr id="4" name="TextBox 3"/>
          <p:cNvSpPr txBox="1"/>
          <p:nvPr/>
        </p:nvSpPr>
        <p:spPr>
          <a:xfrm>
            <a:off x="731520" y="822960"/>
            <a:ext cx="10698480" cy="731520"/>
          </a:xfrm>
          <a:prstGeom prst="rect">
            <a:avLst/>
          </a:prstGeom>
          <a:noFill/>
        </p:spPr>
        <p:txBody>
          <a:bodyPr wrap="square" lIns="0" tIns="0" rIns="0" bIns="0">
            <a:spAutoFit/>
          </a:bodyPr>
          <a:lstStyle/>
          <a:p>
            <a:pPr>
              <a:defRPr sz="2800" b="1">
                <a:solidFill>
                  <a:srgbClr val="191510"/>
                </a:solidFill>
                <a:latin typeface="Georgia"/>
              </a:defRPr>
            </a:pPr>
            <a:r>
              <a:t>Rigorous Benchmarks &amp; Production Telemetry</a:t>
            </a:r>
          </a:p>
        </p:txBody>
      </p:sp>
      <p:sp>
        <p:nvSpPr>
          <p:cNvPr id="5" name="Rounded Rectangle 4"/>
          <p:cNvSpPr/>
          <p:nvPr/>
        </p:nvSpPr>
        <p:spPr>
          <a:xfrm>
            <a:off x="731520" y="1645920"/>
            <a:ext cx="2560320" cy="1417320"/>
          </a:xfrm>
          <a:prstGeom prst="roundRect">
            <a:avLst/>
          </a:prstGeom>
          <a:solidFill>
            <a:srgbClr val="FFFFFF"/>
          </a:solidFill>
          <a:ln w="12700">
            <a:solidFill>
              <a:srgbClr val="E5E2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737360"/>
            <a:ext cx="2286000" cy="1234440"/>
          </a:xfrm>
          <a:prstGeom prst="rect">
            <a:avLst/>
          </a:prstGeom>
          <a:noFill/>
        </p:spPr>
        <p:txBody>
          <a:bodyPr wrap="square" lIns="0" tIns="0" rIns="0" bIns="0">
            <a:spAutoFit/>
          </a:bodyPr>
          <a:lstStyle/>
          <a:p>
            <a:pPr>
              <a:defRPr sz="2800" b="1">
                <a:solidFill>
                  <a:srgbClr val="15803D"/>
                </a:solidFill>
                <a:latin typeface="Georgia"/>
              </a:defRPr>
            </a:pPr>
            <a:r>
              <a:t>13.2 ms</a:t>
            </a:r>
          </a:p>
          <a:p>
            <a:pPr>
              <a:spcBef>
                <a:spcPts val="200"/>
              </a:spcBef>
              <a:defRPr sz="850" b="1">
                <a:solidFill>
                  <a:srgbClr val="191510"/>
                </a:solidFill>
                <a:latin typeface="Consolas"/>
              </a:defRPr>
            </a:pPr>
            <a:r>
              <a:t>FULL TRIAGE LATENCY</a:t>
            </a:r>
          </a:p>
          <a:p>
            <a:pPr>
              <a:defRPr sz="900">
                <a:solidFill>
                  <a:srgbClr val="66625B"/>
                </a:solidFill>
                <a:latin typeface="Calibri"/>
              </a:defRPr>
            </a:pPr>
            <a:r>
              <a:t>Hashes, entropy, headers, and triage on 1.3MB binary</a:t>
            </a:r>
          </a:p>
        </p:txBody>
      </p:sp>
      <p:sp>
        <p:nvSpPr>
          <p:cNvPr id="7" name="Rounded Rectangle 6"/>
          <p:cNvSpPr/>
          <p:nvPr/>
        </p:nvSpPr>
        <p:spPr>
          <a:xfrm>
            <a:off x="3456432" y="1645920"/>
            <a:ext cx="2560320" cy="1417320"/>
          </a:xfrm>
          <a:prstGeom prst="roundRect">
            <a:avLst/>
          </a:prstGeom>
          <a:solidFill>
            <a:srgbClr val="FFFFFF"/>
          </a:solidFill>
          <a:ln w="12700">
            <a:solidFill>
              <a:srgbClr val="E5E2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93592" y="1737360"/>
            <a:ext cx="2286000" cy="1234440"/>
          </a:xfrm>
          <a:prstGeom prst="rect">
            <a:avLst/>
          </a:prstGeom>
          <a:noFill/>
        </p:spPr>
        <p:txBody>
          <a:bodyPr wrap="square" lIns="0" tIns="0" rIns="0" bIns="0">
            <a:spAutoFit/>
          </a:bodyPr>
          <a:lstStyle/>
          <a:p>
            <a:pPr>
              <a:defRPr sz="2800" b="1">
                <a:solidFill>
                  <a:srgbClr val="2563EB"/>
                </a:solidFill>
                <a:latin typeface="Georgia"/>
              </a:defRPr>
            </a:pPr>
            <a:r>
              <a:t>0.9995</a:t>
            </a:r>
          </a:p>
          <a:p>
            <a:pPr>
              <a:spcBef>
                <a:spcPts val="200"/>
              </a:spcBef>
              <a:defRPr sz="850" b="1">
                <a:solidFill>
                  <a:srgbClr val="191510"/>
                </a:solidFill>
                <a:latin typeface="Consolas"/>
              </a:defRPr>
            </a:pPr>
            <a:r>
              <a:t>EMBER MODEL ROC-AUC</a:t>
            </a:r>
          </a:p>
          <a:p>
            <a:pPr>
              <a:defRPr sz="900">
                <a:solidFill>
                  <a:srgbClr val="66625B"/>
                </a:solidFill>
                <a:latin typeface="Calibri"/>
              </a:defRPr>
            </a:pPr>
            <a:r>
              <a:t>Verified on 1.1M test samples with 0.998 F1-score</a:t>
            </a:r>
          </a:p>
        </p:txBody>
      </p:sp>
      <p:sp>
        <p:nvSpPr>
          <p:cNvPr id="9" name="Rounded Rectangle 8"/>
          <p:cNvSpPr/>
          <p:nvPr/>
        </p:nvSpPr>
        <p:spPr>
          <a:xfrm>
            <a:off x="6181344" y="1645920"/>
            <a:ext cx="2560320" cy="1417320"/>
          </a:xfrm>
          <a:prstGeom prst="roundRect">
            <a:avLst/>
          </a:prstGeom>
          <a:solidFill>
            <a:srgbClr val="FFFFFF"/>
          </a:solidFill>
          <a:ln w="12700">
            <a:solidFill>
              <a:srgbClr val="E5E2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8504" y="1737360"/>
            <a:ext cx="2286000" cy="1234440"/>
          </a:xfrm>
          <a:prstGeom prst="rect">
            <a:avLst/>
          </a:prstGeom>
          <a:noFill/>
        </p:spPr>
        <p:txBody>
          <a:bodyPr wrap="square" lIns="0" tIns="0" rIns="0" bIns="0">
            <a:spAutoFit/>
          </a:bodyPr>
          <a:lstStyle/>
          <a:p>
            <a:pPr>
              <a:defRPr sz="2800" b="1">
                <a:solidFill>
                  <a:srgbClr val="B45309"/>
                </a:solidFill>
                <a:latin typeface="Georgia"/>
              </a:defRPr>
            </a:pPr>
            <a:r>
              <a:t>62 / 62</a:t>
            </a:r>
          </a:p>
          <a:p>
            <a:pPr>
              <a:spcBef>
                <a:spcPts val="200"/>
              </a:spcBef>
              <a:defRPr sz="850" b="1">
                <a:solidFill>
                  <a:srgbClr val="191510"/>
                </a:solidFill>
                <a:latin typeface="Consolas"/>
              </a:defRPr>
            </a:pPr>
            <a:r>
              <a:t>AUTOMATED TEST SUITE</a:t>
            </a:r>
          </a:p>
          <a:p>
            <a:pPr>
              <a:defRPr sz="900">
                <a:solidFill>
                  <a:srgbClr val="66625B"/>
                </a:solidFill>
                <a:latin typeface="Calibri"/>
              </a:defRPr>
            </a:pPr>
            <a:r>
              <a:t>100% pytest pass rate covering C-core &amp; Python bridge</a:t>
            </a:r>
          </a:p>
        </p:txBody>
      </p:sp>
      <p:sp>
        <p:nvSpPr>
          <p:cNvPr id="11" name="Rounded Rectangle 10"/>
          <p:cNvSpPr/>
          <p:nvPr/>
        </p:nvSpPr>
        <p:spPr>
          <a:xfrm>
            <a:off x="8906256" y="1645920"/>
            <a:ext cx="2560320" cy="1417320"/>
          </a:xfrm>
          <a:prstGeom prst="roundRect">
            <a:avLst/>
          </a:prstGeom>
          <a:solidFill>
            <a:srgbClr val="FFFFFF"/>
          </a:solidFill>
          <a:ln w="12700">
            <a:solidFill>
              <a:srgbClr val="E5E2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43416" y="1737360"/>
            <a:ext cx="2286000" cy="1234440"/>
          </a:xfrm>
          <a:prstGeom prst="rect">
            <a:avLst/>
          </a:prstGeom>
          <a:noFill/>
        </p:spPr>
        <p:txBody>
          <a:bodyPr wrap="square" lIns="0" tIns="0" rIns="0" bIns="0">
            <a:spAutoFit/>
          </a:bodyPr>
          <a:lstStyle/>
          <a:p>
            <a:pPr>
              <a:defRPr sz="2800" b="1">
                <a:solidFill>
                  <a:srgbClr val="B91C1C"/>
                </a:solidFill>
                <a:latin typeface="Georgia"/>
              </a:defRPr>
            </a:pPr>
            <a:r>
              <a:t>0.00%</a:t>
            </a:r>
          </a:p>
          <a:p>
            <a:pPr>
              <a:spcBef>
                <a:spcPts val="200"/>
              </a:spcBef>
              <a:defRPr sz="850" b="1">
                <a:solidFill>
                  <a:srgbClr val="191510"/>
                </a:solidFill>
                <a:latin typeface="Consolas"/>
              </a:defRPr>
            </a:pPr>
            <a:r>
              <a:t>NUMERICAL DRIFT</a:t>
            </a:r>
          </a:p>
          <a:p>
            <a:pPr>
              <a:defRPr sz="900">
                <a:solidFill>
                  <a:srgbClr val="66625B"/>
                </a:solidFill>
                <a:latin typeface="Calibri"/>
              </a:defRPr>
            </a:pPr>
            <a:r>
              <a:t>100% float parity across 2,381 feature dimensions</a:t>
            </a:r>
          </a:p>
        </p:txBody>
      </p:sp>
      <p:sp>
        <p:nvSpPr>
          <p:cNvPr id="13" name="Rounded Rectangle 12"/>
          <p:cNvSpPr/>
          <p:nvPr/>
        </p:nvSpPr>
        <p:spPr>
          <a:xfrm>
            <a:off x="731520" y="3246120"/>
            <a:ext cx="10728655" cy="2834640"/>
          </a:xfrm>
          <a:prstGeom prst="roundRect">
            <a:avLst/>
          </a:prstGeom>
          <a:solidFill>
            <a:srgbClr val="FFFFFF"/>
          </a:solidFill>
          <a:ln w="12700">
            <a:solidFill>
              <a:srgbClr val="E5E2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3383280"/>
            <a:ext cx="10241280" cy="2560320"/>
          </a:xfrm>
          <a:prstGeom prst="rect">
            <a:avLst/>
          </a:prstGeom>
          <a:noFill/>
        </p:spPr>
        <p:txBody>
          <a:bodyPr wrap="square" lIns="0" tIns="0" rIns="0" bIns="0">
            <a:spAutoFit/>
          </a:bodyPr>
          <a:lstStyle/>
          <a:p>
            <a:pPr>
              <a:defRPr sz="950" b="1">
                <a:solidFill>
                  <a:srgbClr val="15803D"/>
                </a:solidFill>
                <a:latin typeface="Consolas"/>
              </a:defRPr>
            </a:pPr>
            <a:r>
              <a:t>REAL-WORLD LATENCY &amp; EFFICIENCY COMPARISON</a:t>
            </a:r>
          </a:p>
          <a:p>
            <a:pPr>
              <a:spcBef>
                <a:spcPts val="800"/>
              </a:spcBef>
              <a:defRPr sz="1000" b="1">
                <a:solidFill>
                  <a:srgbClr val="191510"/>
                </a:solidFill>
                <a:latin typeface="Consolas"/>
              </a:defRPr>
            </a:pPr>
            <a:r>
              <a:t>SOLUTION / ARCHITECTURE             TRIAGE SPEED       THROUGHPUT           EXPLAINABILITY</a:t>
            </a:r>
          </a:p>
          <a:p>
            <a:pPr>
              <a:spcBef>
                <a:spcPts val="400"/>
              </a:spcBef>
              <a:defRPr sz="950">
                <a:solidFill>
                  <a:srgbClr val="15803D"/>
                </a:solidFill>
                <a:latin typeface="Consolas"/>
              </a:defRPr>
            </a:pPr>
            <a:r>
              <a:t>Nullify Native C-Core + Agentic Mesh 13.2 milliseconds  ~75 files / sec / core Full MITRE + Auto YARA</a:t>
            </a:r>
          </a:p>
          <a:p>
            <a:pPr>
              <a:spcBef>
                <a:spcPts val="400"/>
              </a:spcBef>
              <a:defRPr sz="950">
                <a:solidFill>
                  <a:srgbClr val="66625B"/>
                </a:solidFill>
                <a:latin typeface="Consolas"/>
              </a:defRPr>
            </a:pPr>
            <a:r>
              <a:t>Standard Python Static Tool (pefile + regex) 85.3 milliseconds  ~11 files / sec / core Raw unparsed text logs</a:t>
            </a:r>
          </a:p>
          <a:p>
            <a:pPr>
              <a:spcBef>
                <a:spcPts val="400"/>
              </a:spcBef>
              <a:defRPr sz="950">
                <a:solidFill>
                  <a:srgbClr val="66625B"/>
                </a:solidFill>
                <a:latin typeface="Consolas"/>
              </a:defRPr>
            </a:pPr>
            <a:r>
              <a:t>Traditional AV (Signature Hash Blacklist) 5.0 milliseconds   ~200 files / sec / core None (Blind hash lookup)</a:t>
            </a:r>
          </a:p>
          <a:p>
            <a:pPr>
              <a:spcBef>
                <a:spcPts val="400"/>
              </a:spcBef>
              <a:defRPr sz="950">
                <a:solidFill>
                  <a:srgbClr val="66625B"/>
                </a:solidFill>
                <a:latin typeface="Consolas"/>
              </a:defRPr>
            </a:pPr>
            <a:r>
              <a:t>Cloud Detonation Sandbox (Cuckoo / CAPE) 180,000 milliseconds 0.005 files / sec    Verbose API traces</a:t>
            </a:r>
          </a:p>
          <a:p>
            <a:pPr>
              <a:spcBef>
                <a:spcPts val="400"/>
              </a:spcBef>
              <a:defRPr sz="950">
                <a:solidFill>
                  <a:srgbClr val="66625B"/>
                </a:solidFill>
                <a:latin typeface="Consolas"/>
              </a:defRPr>
            </a:pPr>
            <a:r>
              <a:t>Commercial EDR Agent                2,500 milliseconds ~0.4 files / sec     Vendor-proprietary score</a:t>
            </a:r>
          </a:p>
        </p:txBody>
      </p:sp>
      <p:sp>
        <p:nvSpPr>
          <p:cNvPr id="15" name="Rectangle 14"/>
          <p:cNvSpPr/>
          <p:nvPr/>
        </p:nvSpPr>
        <p:spPr>
          <a:xfrm>
            <a:off x="731520" y="6263640"/>
            <a:ext cx="10728655" cy="9525"/>
          </a:xfrm>
          <a:prstGeom prst="rect">
            <a:avLst/>
          </a:prstGeom>
          <a:solidFill>
            <a:srgbClr val="E5E2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6327648"/>
            <a:ext cx="10728655" cy="320040"/>
          </a:xfrm>
          <a:prstGeom prst="rect">
            <a:avLst/>
          </a:prstGeom>
          <a:noFill/>
        </p:spPr>
        <p:txBody>
          <a:bodyPr wrap="none" lIns="0" tIns="0" rIns="0" bIns="0">
            <a:spAutoFit/>
          </a:bodyPr>
          <a:lstStyle/>
          <a:p>
            <a:r>
              <a:rPr sz="850">
                <a:solidFill>
                  <a:srgbClr val="8C877E"/>
                </a:solidFill>
                <a:latin typeface="Consolas"/>
              </a:rPr>
              <a:t>NULLIFY  ●  AUTONOMOUS MULTI-AGENT DEFENSE</a:t>
            </a:r>
            <a:r>
              <a:rPr i="1" sz="900">
                <a:solidFill>
                  <a:srgbClr val="66625B"/>
                </a:solidFill>
                <a:latin typeface="Georgia"/>
              </a:rPr>
              <a:t>                       See it. Trace it. Nullify it.                       </a:t>
            </a:r>
            <a:r>
              <a:rPr sz="850">
                <a:solidFill>
                  <a:srgbClr val="8C877E"/>
                </a:solidFill>
                <a:latin typeface="Consolas"/>
              </a:rPr>
              <a:t>SLIDE 08 /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698480" cy="365760"/>
          </a:xfrm>
          <a:prstGeom prst="rect">
            <a:avLst/>
          </a:prstGeom>
          <a:noFill/>
        </p:spPr>
        <p:txBody>
          <a:bodyPr wrap="square" lIns="0" tIns="0" rIns="0" bIns="0">
            <a:spAutoFit/>
          </a:bodyPr>
          <a:lstStyle/>
          <a:p>
            <a:pPr>
              <a:defRPr sz="1000" b="1">
                <a:solidFill>
                  <a:srgbClr val="15803D"/>
                </a:solidFill>
                <a:latin typeface="Consolas"/>
              </a:defRPr>
            </a:pPr>
            <a:r>
              <a:t>08 // HUMAN-CENTERED DESIGN</a:t>
            </a:r>
          </a:p>
        </p:txBody>
      </p:sp>
      <p:sp>
        <p:nvSpPr>
          <p:cNvPr id="4" name="TextBox 3"/>
          <p:cNvSpPr txBox="1"/>
          <p:nvPr/>
        </p:nvSpPr>
        <p:spPr>
          <a:xfrm>
            <a:off x="731520" y="822960"/>
            <a:ext cx="10698480" cy="731520"/>
          </a:xfrm>
          <a:prstGeom prst="rect">
            <a:avLst/>
          </a:prstGeom>
          <a:noFill/>
        </p:spPr>
        <p:txBody>
          <a:bodyPr wrap="square" lIns="0" tIns="0" rIns="0" bIns="0">
            <a:spAutoFit/>
          </a:bodyPr>
          <a:lstStyle/>
          <a:p>
            <a:pPr>
              <a:defRPr sz="2800" b="1">
                <a:solidFill>
                  <a:srgbClr val="191510"/>
                </a:solidFill>
                <a:latin typeface="Georgia"/>
              </a:defRPr>
            </a:pPr>
            <a:r>
              <a:t>Dual Enterprise Interfaces: Luxury Web &amp; Terminal Core</a:t>
            </a:r>
          </a:p>
        </p:txBody>
      </p:sp>
      <p:sp>
        <p:nvSpPr>
          <p:cNvPr id="5" name="Rounded Rectangle 4"/>
          <p:cNvSpPr/>
          <p:nvPr/>
        </p:nvSpPr>
        <p:spPr>
          <a:xfrm>
            <a:off x="731520" y="1645920"/>
            <a:ext cx="5257800" cy="4434840"/>
          </a:xfrm>
          <a:prstGeom prst="roundRect">
            <a:avLst/>
          </a:prstGeom>
          <a:solidFill>
            <a:srgbClr val="FFFFFF"/>
          </a:solidFill>
          <a:ln w="12700">
            <a:solidFill>
              <a:srgbClr val="E5E2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828800"/>
            <a:ext cx="4800600" cy="4023360"/>
          </a:xfrm>
          <a:prstGeom prst="rect">
            <a:avLst/>
          </a:prstGeom>
          <a:noFill/>
        </p:spPr>
        <p:txBody>
          <a:bodyPr wrap="square" lIns="0" tIns="0" rIns="0" bIns="0">
            <a:spAutoFit/>
          </a:bodyPr>
          <a:lstStyle/>
          <a:p>
            <a:pPr>
              <a:defRPr sz="900" b="1">
                <a:solidFill>
                  <a:srgbClr val="15803D"/>
                </a:solidFill>
                <a:latin typeface="Consolas"/>
              </a:defRPr>
            </a:pPr>
            <a:r>
              <a:t>01 // THE WEB CONSOLE (HTTP://LOCALHOST:8000)</a:t>
            </a:r>
          </a:p>
          <a:p>
            <a:pPr>
              <a:spcBef>
                <a:spcPts val="300"/>
              </a:spcBef>
              <a:defRPr sz="1400" b="1">
                <a:solidFill>
                  <a:srgbClr val="191510"/>
                </a:solidFill>
                <a:latin typeface="Segoe UI"/>
              </a:defRPr>
            </a:pPr>
            <a:r>
              <a:t>RAVN Minimalist Luxury Web Design</a:t>
            </a:r>
          </a:p>
          <a:p>
            <a:pPr>
              <a:spcBef>
                <a:spcPts val="600"/>
              </a:spcBef>
              <a:defRPr sz="1050">
                <a:solidFill>
                  <a:srgbClr val="66625B"/>
                </a:solidFill>
                <a:latin typeface="Calibri"/>
              </a:defRPr>
            </a:pPr>
            <a:r>
              <a:t>• Signature Inverted Tab Navbar: Charcoal #191510 floating header with inverted radial corner ears, live telemetry beacon, and responsive navigation.</a:t>
            </a:r>
          </a:p>
          <a:p>
            <a:pPr>
              <a:spcBef>
                <a:spcPts val="600"/>
              </a:spcBef>
              <a:defRPr sz="1050">
                <a:solidFill>
                  <a:srgbClr val="66625B"/>
                </a:solidFill>
                <a:latin typeface="Calibri"/>
              </a:defRPr>
            </a:pPr>
            <a:r>
              <a:t>• Editorial Typography: Instrument Serif display headlines with negative letter-spacing, Mona Sans body text, and JetBrains Mono code blocks.</a:t>
            </a:r>
          </a:p>
          <a:p>
            <a:pPr>
              <a:spcBef>
                <a:spcPts val="600"/>
              </a:spcBef>
              <a:defRPr sz="1050">
                <a:solidFill>
                  <a:srgbClr val="66625B"/>
                </a:solidFill>
                <a:latin typeface="Calibri"/>
              </a:defRPr>
            </a:pPr>
            <a:r>
              <a:t>• Bento Grid Command Workspace: Drag-and-drop file upload, real-time radial confidence gauge, 6-agent execution timeline, and live synthetic demo chips.</a:t>
            </a:r>
          </a:p>
          <a:p>
            <a:pPr>
              <a:spcBef>
                <a:spcPts val="600"/>
              </a:spcBef>
              <a:defRPr sz="1050">
                <a:solidFill>
                  <a:srgbClr val="66625B"/>
                </a:solidFill>
                <a:latin typeface="Calibri"/>
              </a:defRPr>
            </a:pPr>
            <a:r>
              <a:t>• Dark-Mode YARA Card: Syntax-highlighted YARA rule synthesis card with 1-click clipboard copy for immediate operational handoff.</a:t>
            </a:r>
          </a:p>
        </p:txBody>
      </p:sp>
      <p:sp>
        <p:nvSpPr>
          <p:cNvPr id="7" name="Rounded Rectangle 6"/>
          <p:cNvSpPr/>
          <p:nvPr/>
        </p:nvSpPr>
        <p:spPr>
          <a:xfrm>
            <a:off x="6199632" y="1645920"/>
            <a:ext cx="5257800" cy="4434840"/>
          </a:xfrm>
          <a:prstGeom prst="roundRect">
            <a:avLst/>
          </a:prstGeom>
          <a:solidFill>
            <a:srgbClr val="191510"/>
          </a:solidFill>
          <a:ln w="12700">
            <a:solidFill>
              <a:srgbClr val="352F2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28232" y="1828800"/>
            <a:ext cx="4800600" cy="4023360"/>
          </a:xfrm>
          <a:prstGeom prst="rect">
            <a:avLst/>
          </a:prstGeom>
          <a:noFill/>
        </p:spPr>
        <p:txBody>
          <a:bodyPr wrap="square" lIns="0" tIns="0" rIns="0" bIns="0">
            <a:spAutoFit/>
          </a:bodyPr>
          <a:lstStyle/>
          <a:p>
            <a:pPr>
              <a:defRPr sz="900" b="1">
                <a:solidFill>
                  <a:srgbClr val="10B981"/>
                </a:solidFill>
                <a:latin typeface="Consolas"/>
              </a:defRPr>
            </a:pPr>
            <a:r>
              <a:t>02 // INTERACTIVE TERMINAL CONSOLE ($ NULLIFY)</a:t>
            </a:r>
          </a:p>
          <a:p>
            <a:pPr>
              <a:spcBef>
                <a:spcPts val="300"/>
              </a:spcBef>
              <a:defRPr sz="1400" b="1">
                <a:solidFill>
                  <a:srgbClr val="FAF8F5"/>
                </a:solidFill>
                <a:latin typeface="Segoe UI"/>
              </a:defRPr>
            </a:pPr>
            <a:r>
              <a:t>Single-Command Terminal Console</a:t>
            </a:r>
          </a:p>
          <a:p>
            <a:pPr>
              <a:spcBef>
                <a:spcPts val="800"/>
              </a:spcBef>
              <a:defRPr sz="850">
                <a:solidFill>
                  <a:srgbClr val="A39E93"/>
                </a:solidFill>
                <a:latin typeface="Consolas"/>
              </a:defRPr>
            </a:pPr>
            <a:r>
              <a:t>$ nullify</a:t>
            </a:r>
            <a:br/>
            <a:r>
              <a:t>==================================================</a:t>
            </a:r>
            <a:br/>
            <a:r>
              <a:t>        █▄░█ █░█ █░░ █░░ █ █▀▀ █▄█</a:t>
            </a:r>
            <a:br/>
            <a:r>
              <a:t>        █░▀█ █▄█ █▄▄ █▄▄ █ █▀░ ░█░</a:t>
            </a:r>
            <a:br/>
            <a:r>
              <a:t>        See it. Trace it. Nullify it.</a:t>
            </a:r>
            <a:br/>
            <a:r>
              <a:t>==================================================</a:t>
            </a:r>
            <a:br/>
            <a:r>
              <a:t>[1] Quick Scan          [2] Deep Detonation</a:t>
            </a:r>
            <a:br/>
            <a:r>
              <a:t>[3] Behavioral Log      [4] Batch Scan</a:t>
            </a:r>
            <a:br/>
            <a:r>
              <a:t>[5] Launch Web Console  [6] Test Synthetic Demos</a:t>
            </a:r>
            <a:br/>
            <a:r>
              <a:t>[0] Exit Console</a:t>
            </a:r>
            <a:br/>
            <a:br/>
            <a:r>
              <a:t>Select workflow [0-6]: 1</a:t>
            </a:r>
            <a:br/>
            <a:r>
              <a:t>Scanning: suspicious_payload.exe ...</a:t>
            </a:r>
            <a:br/>
            <a:r>
              <a:t>VERDICT: MALICIOUS (Confidence: 98.4%)</a:t>
            </a:r>
            <a:br/>
            <a:r>
              <a:t>THREAT:  Trojan / Persistence RunKey</a:t>
            </a:r>
            <a:br/>
            <a:r>
              <a:t>C-CORE:  Parsed in 0.08ms | YARA Generated.</a:t>
            </a:r>
          </a:p>
        </p:txBody>
      </p:sp>
      <p:sp>
        <p:nvSpPr>
          <p:cNvPr id="9" name="Rectangle 8"/>
          <p:cNvSpPr/>
          <p:nvPr/>
        </p:nvSpPr>
        <p:spPr>
          <a:xfrm>
            <a:off x="731520" y="6263640"/>
            <a:ext cx="10728655" cy="9525"/>
          </a:xfrm>
          <a:prstGeom prst="rect">
            <a:avLst/>
          </a:prstGeom>
          <a:solidFill>
            <a:srgbClr val="E5E2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6327648"/>
            <a:ext cx="10728655" cy="320040"/>
          </a:xfrm>
          <a:prstGeom prst="rect">
            <a:avLst/>
          </a:prstGeom>
          <a:noFill/>
        </p:spPr>
        <p:txBody>
          <a:bodyPr wrap="none" lIns="0" tIns="0" rIns="0" bIns="0">
            <a:spAutoFit/>
          </a:bodyPr>
          <a:lstStyle/>
          <a:p>
            <a:r>
              <a:rPr sz="850">
                <a:solidFill>
                  <a:srgbClr val="8C877E"/>
                </a:solidFill>
                <a:latin typeface="Consolas"/>
              </a:rPr>
              <a:t>NULLIFY  ●  AUTONOMOUS MULTI-AGENT DEFENSE</a:t>
            </a:r>
            <a:r>
              <a:rPr i="1" sz="900">
                <a:solidFill>
                  <a:srgbClr val="66625B"/>
                </a:solidFill>
                <a:latin typeface="Georgia"/>
              </a:rPr>
              <a:t>                       See it. Trace it. Nullify it.                       </a:t>
            </a:r>
            <a:r>
              <a:rPr sz="850">
                <a:solidFill>
                  <a:srgbClr val="8C877E"/>
                </a:solidFill>
                <a:latin typeface="Consolas"/>
              </a:rPr>
              <a:t>SLIDE 09 /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698480" cy="365760"/>
          </a:xfrm>
          <a:prstGeom prst="rect">
            <a:avLst/>
          </a:prstGeom>
          <a:noFill/>
        </p:spPr>
        <p:txBody>
          <a:bodyPr wrap="square" lIns="0" tIns="0" rIns="0" bIns="0">
            <a:spAutoFit/>
          </a:bodyPr>
          <a:lstStyle/>
          <a:p>
            <a:pPr>
              <a:defRPr sz="1000" b="1">
                <a:solidFill>
                  <a:srgbClr val="15803D"/>
                </a:solidFill>
                <a:latin typeface="Consolas"/>
              </a:defRPr>
            </a:pPr>
            <a:r>
              <a:t>09 // ENTERPRISE ARCHITECTURE</a:t>
            </a:r>
          </a:p>
        </p:txBody>
      </p:sp>
      <p:sp>
        <p:nvSpPr>
          <p:cNvPr id="4" name="TextBox 3"/>
          <p:cNvSpPr txBox="1"/>
          <p:nvPr/>
        </p:nvSpPr>
        <p:spPr>
          <a:xfrm>
            <a:off x="731520" y="822960"/>
            <a:ext cx="10698480" cy="731520"/>
          </a:xfrm>
          <a:prstGeom prst="rect">
            <a:avLst/>
          </a:prstGeom>
          <a:noFill/>
        </p:spPr>
        <p:txBody>
          <a:bodyPr wrap="square" lIns="0" tIns="0" rIns="0" bIns="0">
            <a:spAutoFit/>
          </a:bodyPr>
          <a:lstStyle/>
          <a:p>
            <a:pPr>
              <a:defRPr sz="2800" b="1">
                <a:solidFill>
                  <a:srgbClr val="191510"/>
                </a:solidFill>
                <a:latin typeface="Georgia"/>
              </a:defRPr>
            </a:pPr>
            <a:r>
              <a:t>Built for Zero-Trust &amp; Air-Gapped Environments</a:t>
            </a:r>
          </a:p>
        </p:txBody>
      </p:sp>
      <p:sp>
        <p:nvSpPr>
          <p:cNvPr id="5" name="Rounded Rectangle 4"/>
          <p:cNvSpPr/>
          <p:nvPr/>
        </p:nvSpPr>
        <p:spPr>
          <a:xfrm>
            <a:off x="731520" y="1645920"/>
            <a:ext cx="3429000" cy="4434840"/>
          </a:xfrm>
          <a:prstGeom prst="roundRect">
            <a:avLst/>
          </a:prstGeom>
          <a:solidFill>
            <a:srgbClr val="FFFFFF"/>
          </a:solidFill>
          <a:ln w="12700">
            <a:solidFill>
              <a:srgbClr val="E5E2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828800"/>
            <a:ext cx="2971800" cy="4114800"/>
          </a:xfrm>
          <a:prstGeom prst="rect">
            <a:avLst/>
          </a:prstGeom>
          <a:noFill/>
        </p:spPr>
        <p:txBody>
          <a:bodyPr wrap="square" lIns="0" tIns="0" rIns="0" bIns="0">
            <a:spAutoFit/>
          </a:bodyPr>
          <a:lstStyle/>
          <a:p>
            <a:pPr>
              <a:defRPr sz="850" b="1">
                <a:solidFill>
                  <a:srgbClr val="15803D"/>
                </a:solidFill>
                <a:latin typeface="Consolas"/>
              </a:defRPr>
            </a:pPr>
            <a:r>
              <a:t>ZERO TELEMETRY LEAKAGE</a:t>
            </a:r>
          </a:p>
          <a:p>
            <a:pPr>
              <a:spcBef>
                <a:spcPts val="400"/>
              </a:spcBef>
              <a:defRPr sz="1400" b="1">
                <a:solidFill>
                  <a:srgbClr val="191510"/>
                </a:solidFill>
                <a:latin typeface="Segoe UI"/>
              </a:defRPr>
            </a:pPr>
            <a:r>
              <a:t>🔒 100% Local &amp; Air-Gapped</a:t>
            </a:r>
          </a:p>
          <a:p>
            <a:pPr>
              <a:spcBef>
                <a:spcPts val="800"/>
              </a:spcBef>
              <a:defRPr sz="1100">
                <a:solidFill>
                  <a:srgbClr val="66625B"/>
                </a:solidFill>
                <a:latin typeface="Calibri"/>
              </a:defRPr>
            </a:pPr>
            <a:r>
              <a:t>In defense, healthcare, and critical infrastructure, sending files to third-party cloud APIs (VirusTotal, cloud sandboxes) violates data sovereignty and leaks sensitive IP. Nullify runs 100% locally with zero cloud dependencies.</a:t>
            </a:r>
          </a:p>
          <a:p>
            <a:pPr>
              <a:spcBef>
                <a:spcPts val="1400"/>
              </a:spcBef>
              <a:defRPr sz="850" b="1">
                <a:solidFill>
                  <a:srgbClr val="191510"/>
                </a:solidFill>
                <a:latin typeface="Consolas"/>
              </a:defRPr>
            </a:pPr>
            <a:r>
              <a:t>KEY ADVANTAGES:</a:t>
            </a:r>
          </a:p>
          <a:p>
            <a:pPr>
              <a:spcBef>
                <a:spcPts val="300"/>
              </a:spcBef>
              <a:defRPr sz="1000">
                <a:solidFill>
                  <a:srgbClr val="66625B"/>
                </a:solidFill>
                <a:latin typeface="Calibri"/>
              </a:defRPr>
            </a:pPr>
            <a:r>
              <a:t>• Air-Gapped Ready: Operates with zero internet connectivity</a:t>
            </a:r>
          </a:p>
          <a:p>
            <a:pPr>
              <a:spcBef>
                <a:spcPts val="300"/>
              </a:spcBef>
              <a:defRPr sz="1000">
                <a:solidFill>
                  <a:srgbClr val="66625B"/>
                </a:solidFill>
                <a:latin typeface="Calibri"/>
              </a:defRPr>
            </a:pPr>
            <a:r>
              <a:t>• Confidential Data: Source code and proprietary binaries stay inside</a:t>
            </a:r>
          </a:p>
          <a:p>
            <a:pPr>
              <a:spcBef>
                <a:spcPts val="300"/>
              </a:spcBef>
              <a:defRPr sz="1000">
                <a:solidFill>
                  <a:srgbClr val="66625B"/>
                </a:solidFill>
                <a:latin typeface="Calibri"/>
              </a:defRPr>
            </a:pPr>
            <a:r>
              <a:t>• Compliance Assured: Fully compliant with HIPAA, GDPR, and FedRAMP</a:t>
            </a:r>
          </a:p>
        </p:txBody>
      </p:sp>
      <p:sp>
        <p:nvSpPr>
          <p:cNvPr id="7" name="Rounded Rectangle 6"/>
          <p:cNvSpPr/>
          <p:nvPr/>
        </p:nvSpPr>
        <p:spPr>
          <a:xfrm>
            <a:off x="4370832" y="1645920"/>
            <a:ext cx="3429000" cy="4434840"/>
          </a:xfrm>
          <a:prstGeom prst="roundRect">
            <a:avLst/>
          </a:prstGeom>
          <a:solidFill>
            <a:srgbClr val="FFFFFF"/>
          </a:solidFill>
          <a:ln w="12700">
            <a:solidFill>
              <a:srgbClr val="E5E2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9432" y="1828800"/>
            <a:ext cx="2971800" cy="4114800"/>
          </a:xfrm>
          <a:prstGeom prst="rect">
            <a:avLst/>
          </a:prstGeom>
          <a:noFill/>
        </p:spPr>
        <p:txBody>
          <a:bodyPr wrap="square" lIns="0" tIns="0" rIns="0" bIns="0">
            <a:spAutoFit/>
          </a:bodyPr>
          <a:lstStyle/>
          <a:p>
            <a:pPr>
              <a:defRPr sz="850" b="1">
                <a:solidFill>
                  <a:srgbClr val="15803D"/>
                </a:solidFill>
                <a:latin typeface="Consolas"/>
              </a:defRPr>
            </a:pPr>
            <a:r>
              <a:t>SEAMLESS SIEM/SOAR INTEGRATION</a:t>
            </a:r>
          </a:p>
          <a:p>
            <a:pPr>
              <a:spcBef>
                <a:spcPts val="400"/>
              </a:spcBef>
              <a:defRPr sz="1400" b="1">
                <a:solidFill>
                  <a:srgbClr val="191510"/>
                </a:solidFill>
                <a:latin typeface="Segoe UI"/>
              </a:defRPr>
            </a:pPr>
            <a:r>
              <a:t>🔌 Production REST API</a:t>
            </a:r>
          </a:p>
          <a:p>
            <a:pPr>
              <a:spcBef>
                <a:spcPts val="800"/>
              </a:spcBef>
              <a:defRPr sz="1100">
                <a:solidFill>
                  <a:srgbClr val="66625B"/>
                </a:solidFill>
                <a:latin typeface="Calibri"/>
              </a:defRPr>
            </a:pPr>
            <a:r>
              <a:t>Built on high-performance FastAPI with automatic OpenAPI documentation. Exposes asynchronous endpoints (/api/v1/scan, /api/v1/triage, /api/v1/health) for immediate integration into enterprise security pipelines.</a:t>
            </a:r>
          </a:p>
          <a:p>
            <a:pPr>
              <a:spcBef>
                <a:spcPts val="1400"/>
              </a:spcBef>
              <a:defRPr sz="850" b="1">
                <a:solidFill>
                  <a:srgbClr val="191510"/>
                </a:solidFill>
                <a:latin typeface="Consolas"/>
              </a:defRPr>
            </a:pPr>
            <a:r>
              <a:t>KEY ADVANTAGES:</a:t>
            </a:r>
          </a:p>
          <a:p>
            <a:pPr>
              <a:spcBef>
                <a:spcPts val="300"/>
              </a:spcBef>
              <a:defRPr sz="1000">
                <a:solidFill>
                  <a:srgbClr val="66625B"/>
                </a:solidFill>
                <a:latin typeface="Calibri"/>
              </a:defRPr>
            </a:pPr>
            <a:r>
              <a:t>• Splunk &amp; Microsoft Sentinel: Stream JSON verdicts directly into SIEM</a:t>
            </a:r>
          </a:p>
          <a:p>
            <a:pPr>
              <a:spcBef>
                <a:spcPts val="300"/>
              </a:spcBef>
              <a:defRPr sz="1000">
                <a:solidFill>
                  <a:srgbClr val="66625B"/>
                </a:solidFill>
                <a:latin typeface="Calibri"/>
              </a:defRPr>
            </a:pPr>
            <a:r>
              <a:t>• Cortex XSOAR / Tines: Automate endpoint isolation on critical findings</a:t>
            </a:r>
          </a:p>
          <a:p>
            <a:pPr>
              <a:spcBef>
                <a:spcPts val="300"/>
              </a:spcBef>
              <a:defRPr sz="1000">
                <a:solidFill>
                  <a:srgbClr val="66625B"/>
                </a:solidFill>
                <a:latin typeface="Calibri"/>
              </a:defRPr>
            </a:pPr>
            <a:r>
              <a:t>• Docker &amp; Kubernetes: Containerized microservice architecture</a:t>
            </a:r>
          </a:p>
        </p:txBody>
      </p:sp>
      <p:sp>
        <p:nvSpPr>
          <p:cNvPr id="9" name="Rounded Rectangle 8"/>
          <p:cNvSpPr/>
          <p:nvPr/>
        </p:nvSpPr>
        <p:spPr>
          <a:xfrm>
            <a:off x="8010144" y="1645920"/>
            <a:ext cx="3429000" cy="4434840"/>
          </a:xfrm>
          <a:prstGeom prst="roundRect">
            <a:avLst/>
          </a:prstGeom>
          <a:solidFill>
            <a:srgbClr val="FFFFFF"/>
          </a:solidFill>
          <a:ln w="12700">
            <a:solidFill>
              <a:srgbClr val="E5E2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38744" y="1828800"/>
            <a:ext cx="2971800" cy="4114800"/>
          </a:xfrm>
          <a:prstGeom prst="rect">
            <a:avLst/>
          </a:prstGeom>
          <a:noFill/>
        </p:spPr>
        <p:txBody>
          <a:bodyPr wrap="square" lIns="0" tIns="0" rIns="0" bIns="0">
            <a:spAutoFit/>
          </a:bodyPr>
          <a:lstStyle/>
          <a:p>
            <a:pPr>
              <a:defRPr sz="850" b="1">
                <a:solidFill>
                  <a:srgbClr val="15803D"/>
                </a:solidFill>
                <a:latin typeface="Consolas"/>
              </a:defRPr>
            </a:pPr>
            <a:r>
              <a:t>EXTENSIBLE AGENT ARCHITECTURE</a:t>
            </a:r>
          </a:p>
          <a:p>
            <a:pPr>
              <a:spcBef>
                <a:spcPts val="400"/>
              </a:spcBef>
              <a:defRPr sz="1400" b="1">
                <a:solidFill>
                  <a:srgbClr val="191510"/>
                </a:solidFill>
                <a:latin typeface="Segoe UI"/>
              </a:defRPr>
            </a:pPr>
            <a:r>
              <a:t>⚙️ Modular &amp; Future-Proof</a:t>
            </a:r>
          </a:p>
          <a:p>
            <a:pPr>
              <a:spcBef>
                <a:spcPts val="800"/>
              </a:spcBef>
              <a:defRPr sz="1100">
                <a:solidFill>
                  <a:srgbClr val="66625B"/>
                </a:solidFill>
                <a:latin typeface="Calibri"/>
              </a:defRPr>
            </a:pPr>
            <a:r>
              <a:t>Adding custom heuristics, connecting proprietary sandbox environments (e.g. CAPEv2), or swapping in private on-prem LLMs takes minutes. The decoupled agent interface isolates business logic from analysis modules.</a:t>
            </a:r>
          </a:p>
          <a:p>
            <a:pPr>
              <a:spcBef>
                <a:spcPts val="1400"/>
              </a:spcBef>
              <a:defRPr sz="850" b="1">
                <a:solidFill>
                  <a:srgbClr val="191510"/>
                </a:solidFill>
                <a:latin typeface="Consolas"/>
              </a:defRPr>
            </a:pPr>
            <a:r>
              <a:t>KEY ADVANTAGES:</a:t>
            </a:r>
          </a:p>
          <a:p>
            <a:pPr>
              <a:spcBef>
                <a:spcPts val="300"/>
              </a:spcBef>
              <a:defRPr sz="1000">
                <a:solidFill>
                  <a:srgbClr val="66625B"/>
                </a:solidFill>
                <a:latin typeface="Calibri"/>
              </a:defRPr>
            </a:pPr>
            <a:r>
              <a:t>• Pluggable Agents: Add custom threat intel feeds with clean Python APIs</a:t>
            </a:r>
          </a:p>
          <a:p>
            <a:pPr>
              <a:spcBef>
                <a:spcPts val="300"/>
              </a:spcBef>
              <a:defRPr sz="1000">
                <a:solidFill>
                  <a:srgbClr val="66625B"/>
                </a:solidFill>
                <a:latin typeface="Calibri"/>
              </a:defRPr>
            </a:pPr>
            <a:r>
              <a:t>• Hardware Acceleration: Native C kernels exploit modern CPU SIMD/AVX2</a:t>
            </a:r>
          </a:p>
          <a:p>
            <a:pPr>
              <a:spcBef>
                <a:spcPts val="300"/>
              </a:spcBef>
              <a:defRPr sz="1000">
                <a:solidFill>
                  <a:srgbClr val="66625B"/>
                </a:solidFill>
                <a:latin typeface="Calibri"/>
              </a:defRPr>
            </a:pPr>
            <a:r>
              <a:t>• Enterprise Health Beacon: Built-in liveness, readiness, and metrics probes</a:t>
            </a:r>
          </a:p>
        </p:txBody>
      </p:sp>
      <p:sp>
        <p:nvSpPr>
          <p:cNvPr id="11" name="Rectangle 10"/>
          <p:cNvSpPr/>
          <p:nvPr/>
        </p:nvSpPr>
        <p:spPr>
          <a:xfrm>
            <a:off x="731520" y="6263640"/>
            <a:ext cx="10728655" cy="9525"/>
          </a:xfrm>
          <a:prstGeom prst="rect">
            <a:avLst/>
          </a:prstGeom>
          <a:solidFill>
            <a:srgbClr val="E5E2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6327648"/>
            <a:ext cx="10728655" cy="320040"/>
          </a:xfrm>
          <a:prstGeom prst="rect">
            <a:avLst/>
          </a:prstGeom>
          <a:noFill/>
        </p:spPr>
        <p:txBody>
          <a:bodyPr wrap="none" lIns="0" tIns="0" rIns="0" bIns="0">
            <a:spAutoFit/>
          </a:bodyPr>
          <a:lstStyle/>
          <a:p>
            <a:r>
              <a:rPr sz="850">
                <a:solidFill>
                  <a:srgbClr val="8C877E"/>
                </a:solidFill>
                <a:latin typeface="Consolas"/>
              </a:rPr>
              <a:t>NULLIFY  ●  AUTONOMOUS MULTI-AGENT DEFENSE</a:t>
            </a:r>
            <a:r>
              <a:rPr i="1" sz="900">
                <a:solidFill>
                  <a:srgbClr val="66625B"/>
                </a:solidFill>
                <a:latin typeface="Georgia"/>
              </a:rPr>
              <a:t>                       See it. Trace it. Nullify it.                       </a:t>
            </a:r>
            <a:r>
              <a:rPr sz="850">
                <a:solidFill>
                  <a:srgbClr val="8C877E"/>
                </a:solidFill>
                <a:latin typeface="Consolas"/>
              </a:rPr>
              <a:t>SLIDE 10 /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698480" cy="365760"/>
          </a:xfrm>
          <a:prstGeom prst="rect">
            <a:avLst/>
          </a:prstGeom>
          <a:noFill/>
        </p:spPr>
        <p:txBody>
          <a:bodyPr wrap="square" lIns="0" tIns="0" rIns="0" bIns="0">
            <a:spAutoFit/>
          </a:bodyPr>
          <a:lstStyle/>
          <a:p>
            <a:pPr>
              <a:defRPr sz="1000" b="1">
                <a:solidFill>
                  <a:srgbClr val="15803D"/>
                </a:solidFill>
                <a:latin typeface="Consolas"/>
              </a:defRPr>
            </a:pPr>
            <a:r>
              <a:t>10 // COMPETITIVE ANALYSIS</a:t>
            </a:r>
          </a:p>
        </p:txBody>
      </p:sp>
      <p:sp>
        <p:nvSpPr>
          <p:cNvPr id="4" name="TextBox 3"/>
          <p:cNvSpPr txBox="1"/>
          <p:nvPr/>
        </p:nvSpPr>
        <p:spPr>
          <a:xfrm>
            <a:off x="731520" y="822960"/>
            <a:ext cx="10698480" cy="731520"/>
          </a:xfrm>
          <a:prstGeom prst="rect">
            <a:avLst/>
          </a:prstGeom>
          <a:noFill/>
        </p:spPr>
        <p:txBody>
          <a:bodyPr wrap="square" lIns="0" tIns="0" rIns="0" bIns="0">
            <a:spAutoFit/>
          </a:bodyPr>
          <a:lstStyle/>
          <a:p>
            <a:pPr>
              <a:defRPr sz="2800" b="1">
                <a:solidFill>
                  <a:srgbClr val="191510"/>
                </a:solidFill>
                <a:latin typeface="Georgia"/>
              </a:defRPr>
            </a:pPr>
            <a:r>
              <a:t>Why Nullify Outperforms Legacy Paradigms</a:t>
            </a:r>
          </a:p>
        </p:txBody>
      </p:sp>
      <p:sp>
        <p:nvSpPr>
          <p:cNvPr id="5" name="Rounded Rectangle 4"/>
          <p:cNvSpPr/>
          <p:nvPr/>
        </p:nvSpPr>
        <p:spPr>
          <a:xfrm>
            <a:off x="731520" y="1645920"/>
            <a:ext cx="10728655" cy="4434840"/>
          </a:xfrm>
          <a:prstGeom prst="roundRect">
            <a:avLst/>
          </a:prstGeom>
          <a:solidFill>
            <a:srgbClr val="FFFFFF"/>
          </a:solidFill>
          <a:ln w="12700">
            <a:solidFill>
              <a:srgbClr val="E5E2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74519"/>
            <a:ext cx="10149840" cy="3931920"/>
          </a:xfrm>
          <a:prstGeom prst="rect">
            <a:avLst/>
          </a:prstGeom>
          <a:noFill/>
        </p:spPr>
        <p:txBody>
          <a:bodyPr wrap="square" lIns="0" tIns="0" rIns="0" bIns="0">
            <a:spAutoFit/>
          </a:bodyPr>
          <a:lstStyle/>
          <a:p>
            <a:pPr>
              <a:defRPr sz="900" b="1">
                <a:solidFill>
                  <a:srgbClr val="15803D"/>
                </a:solidFill>
                <a:latin typeface="Consolas"/>
              </a:defRPr>
            </a:pPr>
            <a:r>
              <a:t>DIRECT CAPABILITY MATRIX</a:t>
            </a:r>
          </a:p>
          <a:p>
            <a:pPr>
              <a:spcBef>
                <a:spcPts val="800"/>
              </a:spcBef>
              <a:defRPr sz="1000" b="1">
                <a:solidFill>
                  <a:srgbClr val="191510"/>
                </a:solidFill>
                <a:latin typeface="Consolas"/>
              </a:defRPr>
            </a:pPr>
            <a:r>
              <a:t>CAPABILITY                     NULLIFY            LEGACY AV        CLOUD SANDBOX    PYTHON TOOLS</a:t>
            </a:r>
          </a:p>
          <a:p>
            <a:pPr>
              <a:spcBef>
                <a:spcPts val="500"/>
              </a:spcBef>
              <a:defRPr sz="950" b="1">
                <a:solidFill>
                  <a:srgbClr val="15803D"/>
                </a:solidFill>
                <a:latin typeface="Consolas"/>
              </a:defRPr>
            </a:pPr>
            <a:r>
              <a:t>Triage Latency                 &lt; 15 milliseconds  5 milliseconds   300 - 1200 seconds 85 milliseconds</a:t>
            </a:r>
          </a:p>
          <a:p>
            <a:pPr>
              <a:spcBef>
                <a:spcPts val="500"/>
              </a:spcBef>
              <a:defRPr sz="950" b="1">
                <a:solidFill>
                  <a:srgbClr val="15803D"/>
                </a:solidFill>
                <a:latin typeface="Consolas"/>
              </a:defRPr>
            </a:pPr>
            <a:r>
              <a:t>Zero-Day ML Classification     Yes (EMBER 2017 v2) No (Hash lists)  Partial (Heuristics) No (Parsing only)</a:t>
            </a:r>
          </a:p>
          <a:p>
            <a:pPr>
              <a:spcBef>
                <a:spcPts val="500"/>
              </a:spcBef>
              <a:defRPr sz="950" b="1">
                <a:solidFill>
                  <a:srgbClr val="15803D"/>
                </a:solidFill>
                <a:latin typeface="Consolas"/>
              </a:defRPr>
            </a:pPr>
            <a:r>
              <a:t>Native C-Core Acceleration     Yes (Pure C11 -O3) Varies (C++)     N/A (VM-based)   No (Interpreted)</a:t>
            </a:r>
          </a:p>
          <a:p>
            <a:pPr>
              <a:spcBef>
                <a:spcPts val="500"/>
              </a:spcBef>
              <a:defRPr sz="950" b="1">
                <a:solidFill>
                  <a:srgbClr val="15803D"/>
                </a:solidFill>
                <a:latin typeface="Consolas"/>
              </a:defRPr>
            </a:pPr>
            <a:r>
              <a:t>Autonomous Multi-Agent Mesh    Yes (6 Agents)     No (Monolithic)  No (Rule script) No (Ad-hoc)</a:t>
            </a:r>
          </a:p>
          <a:p>
            <a:pPr>
              <a:spcBef>
                <a:spcPts val="500"/>
              </a:spcBef>
              <a:defRPr sz="950" b="1">
                <a:solidFill>
                  <a:srgbClr val="15803D"/>
                </a:solidFill>
                <a:latin typeface="Consolas"/>
              </a:defRPr>
            </a:pPr>
            <a:r>
              <a:t>MITRE ATT&amp;CK Attribution       Yes (Automated)    No (Opaque code) Partial (Trace logs) No</a:t>
            </a:r>
          </a:p>
          <a:p>
            <a:pPr>
              <a:spcBef>
                <a:spcPts val="500"/>
              </a:spcBef>
              <a:defRPr sz="950" b="1">
                <a:solidFill>
                  <a:srgbClr val="15803D"/>
                </a:solidFill>
                <a:latin typeface="Consolas"/>
              </a:defRPr>
            </a:pPr>
            <a:r>
              <a:t>Dynamic YARA Rule Synthesis    Yes (Instantaneous) No               No               No</a:t>
            </a:r>
          </a:p>
          <a:p>
            <a:pPr>
              <a:spcBef>
                <a:spcPts val="500"/>
              </a:spcBef>
              <a:defRPr sz="950" b="1">
                <a:solidFill>
                  <a:srgbClr val="15803D"/>
                </a:solidFill>
                <a:latin typeface="Consolas"/>
              </a:defRPr>
            </a:pPr>
            <a:r>
              <a:t>100% Air-Gapped / On-Prem      Yes (Zero leakage) Yes              No (Cloud dependent) Yes</a:t>
            </a:r>
          </a:p>
          <a:p>
            <a:pPr>
              <a:spcBef>
                <a:spcPts val="500"/>
              </a:spcBef>
              <a:defRPr sz="950" b="1">
                <a:solidFill>
                  <a:srgbClr val="15803D"/>
                </a:solidFill>
                <a:latin typeface="Consolas"/>
              </a:defRPr>
            </a:pPr>
            <a:r>
              <a:t>Single-Command Interactive CLI Yes ($ nullify)    No               No               Varies</a:t>
            </a:r>
          </a:p>
        </p:txBody>
      </p:sp>
      <p:sp>
        <p:nvSpPr>
          <p:cNvPr id="7" name="Rectangle 6"/>
          <p:cNvSpPr/>
          <p:nvPr/>
        </p:nvSpPr>
        <p:spPr>
          <a:xfrm>
            <a:off x="731520" y="6263640"/>
            <a:ext cx="10728655" cy="9525"/>
          </a:xfrm>
          <a:prstGeom prst="rect">
            <a:avLst/>
          </a:prstGeom>
          <a:solidFill>
            <a:srgbClr val="E5E2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327648"/>
            <a:ext cx="10728655" cy="320040"/>
          </a:xfrm>
          <a:prstGeom prst="rect">
            <a:avLst/>
          </a:prstGeom>
          <a:noFill/>
        </p:spPr>
        <p:txBody>
          <a:bodyPr wrap="none" lIns="0" tIns="0" rIns="0" bIns="0">
            <a:spAutoFit/>
          </a:bodyPr>
          <a:lstStyle/>
          <a:p>
            <a:r>
              <a:rPr sz="850">
                <a:solidFill>
                  <a:srgbClr val="8C877E"/>
                </a:solidFill>
                <a:latin typeface="Consolas"/>
              </a:rPr>
              <a:t>NULLIFY  ●  AUTONOMOUS MULTI-AGENT DEFENSE</a:t>
            </a:r>
            <a:r>
              <a:rPr i="1" sz="900">
                <a:solidFill>
                  <a:srgbClr val="66625B"/>
                </a:solidFill>
                <a:latin typeface="Georgia"/>
              </a:rPr>
              <a:t>                       See it. Trace it. Nullify it.                       </a:t>
            </a:r>
            <a:r>
              <a:rPr sz="850">
                <a:solidFill>
                  <a:srgbClr val="8C877E"/>
                </a:solidFill>
                <a:latin typeface="Consolas"/>
              </a:rPr>
              <a:t>SLIDE 11 /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915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457200"/>
            <a:ext cx="11277295" cy="5943600"/>
          </a:xfrm>
          <a:prstGeom prst="roundRect">
            <a:avLst/>
          </a:prstGeom>
          <a:solidFill>
            <a:srgbClr val="191510"/>
          </a:solidFill>
          <a:ln w="12700">
            <a:solidFill>
              <a:srgbClr val="352F2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22960" y="822960"/>
            <a:ext cx="2011680" cy="320040"/>
          </a:xfrm>
          <a:prstGeom prst="roundRect">
            <a:avLst/>
          </a:prstGeom>
          <a:solidFill>
            <a:srgbClr val="221D17"/>
          </a:solidFill>
          <a:ln w="9525">
            <a:solidFill>
              <a:srgbClr val="352F27"/>
            </a:solidFill>
          </a:ln>
        </p:spPr>
        <p:style>
          <a:lnRef idx="1">
            <a:schemeClr val="accent1"/>
          </a:lnRef>
          <a:fillRef idx="3">
            <a:schemeClr val="accent1"/>
          </a:fillRef>
          <a:effectRef idx="2">
            <a:schemeClr val="accent1"/>
          </a:effectRef>
          <a:fontRef idx="minor">
            <a:schemeClr val="lt1"/>
          </a:fontRef>
        </p:style>
        <p:txBody>
          <a:bodyPr rtlCol="0" anchor="ctr" wrap="none" lIns="0" tIns="0" rIns="0" bIns="0"/>
          <a:lstStyle/>
          <a:p>
            <a:pPr algn="ctr">
              <a:defRPr sz="800" b="1">
                <a:solidFill>
                  <a:srgbClr val="10B981"/>
                </a:solidFill>
                <a:latin typeface="Consolas"/>
              </a:defRPr>
            </a:pPr>
            <a:r>
              <a:t>11 // THE HORIZON</a:t>
            </a:r>
          </a:p>
        </p:txBody>
      </p:sp>
      <p:sp>
        <p:nvSpPr>
          <p:cNvPr id="5" name="TextBox 4"/>
          <p:cNvSpPr txBox="1"/>
          <p:nvPr/>
        </p:nvSpPr>
        <p:spPr>
          <a:xfrm>
            <a:off x="822960" y="1280160"/>
            <a:ext cx="10058400" cy="1097280"/>
          </a:xfrm>
          <a:prstGeom prst="rect">
            <a:avLst/>
          </a:prstGeom>
          <a:noFill/>
        </p:spPr>
        <p:txBody>
          <a:bodyPr wrap="square" lIns="0" tIns="0" rIns="0" bIns="0">
            <a:spAutoFit/>
          </a:bodyPr>
          <a:lstStyle/>
          <a:p>
            <a:pPr>
              <a:defRPr sz="4000" b="1">
                <a:solidFill>
                  <a:srgbClr val="FAF8F5"/>
                </a:solidFill>
                <a:latin typeface="Georgia"/>
              </a:defRPr>
            </a:pPr>
            <a:r>
              <a:t>See it. Trace it. Nullify it.</a:t>
            </a:r>
          </a:p>
          <a:p>
            <a:pPr>
              <a:spcBef>
                <a:spcPts val="400"/>
              </a:spcBef>
              <a:defRPr sz="1600">
                <a:solidFill>
                  <a:srgbClr val="A39E93"/>
                </a:solidFill>
                <a:latin typeface="Segoe UI"/>
              </a:defRPr>
            </a:pPr>
            <a:r>
              <a:t>Autonomous Threat Neutralization at Line-Rate Speed</a:t>
            </a:r>
          </a:p>
        </p:txBody>
      </p:sp>
      <p:sp>
        <p:nvSpPr>
          <p:cNvPr id="6" name="Rounded Rectangle 5"/>
          <p:cNvSpPr/>
          <p:nvPr/>
        </p:nvSpPr>
        <p:spPr>
          <a:xfrm>
            <a:off x="822960" y="2606040"/>
            <a:ext cx="3291840" cy="2240280"/>
          </a:xfrm>
          <a:prstGeom prst="roundRect">
            <a:avLst/>
          </a:prstGeom>
          <a:solidFill>
            <a:srgbClr val="221D17"/>
          </a:solidFill>
          <a:ln w="12700">
            <a:solidFill>
              <a:srgbClr val="352F2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743200"/>
            <a:ext cx="2926080" cy="1920240"/>
          </a:xfrm>
          <a:prstGeom prst="rect">
            <a:avLst/>
          </a:prstGeom>
          <a:noFill/>
        </p:spPr>
        <p:txBody>
          <a:bodyPr wrap="square" lIns="0" tIns="0" rIns="0" bIns="0">
            <a:spAutoFit/>
          </a:bodyPr>
          <a:lstStyle/>
          <a:p>
            <a:pPr>
              <a:defRPr sz="800" b="1">
                <a:solidFill>
                  <a:srgbClr val="10B981"/>
                </a:solidFill>
                <a:latin typeface="Consolas"/>
              </a:defRPr>
            </a:pPr>
            <a:r>
              <a:t>KERNEL-LEVEL TELEMETRY</a:t>
            </a:r>
          </a:p>
          <a:p>
            <a:pPr>
              <a:spcBef>
                <a:spcPts val="300"/>
              </a:spcBef>
              <a:defRPr sz="1300" b="1">
                <a:solidFill>
                  <a:srgbClr val="FAF8F5"/>
                </a:solidFill>
                <a:latin typeface="Segoe UI"/>
              </a:defRPr>
            </a:pPr>
            <a:r>
              <a:t>v1.1: Linux eBPF Ring Buffer</a:t>
            </a:r>
          </a:p>
          <a:p>
            <a:pPr>
              <a:spcBef>
                <a:spcPts val="600"/>
              </a:spcBef>
              <a:defRPr sz="1000">
                <a:solidFill>
                  <a:srgbClr val="A39E93"/>
                </a:solidFill>
                <a:latin typeface="Calibri"/>
              </a:defRPr>
            </a:pPr>
            <a:r>
              <a:t>Deploying eBPF probes for zero-overhead real-time process monitoring, memory tampering detection, and network socket attribution directly inside the Linux kernel.</a:t>
            </a:r>
          </a:p>
        </p:txBody>
      </p:sp>
      <p:sp>
        <p:nvSpPr>
          <p:cNvPr id="8" name="Rounded Rectangle 7"/>
          <p:cNvSpPr/>
          <p:nvPr/>
        </p:nvSpPr>
        <p:spPr>
          <a:xfrm>
            <a:off x="4297680" y="2606040"/>
            <a:ext cx="3291840" cy="2240280"/>
          </a:xfrm>
          <a:prstGeom prst="roundRect">
            <a:avLst/>
          </a:prstGeom>
          <a:solidFill>
            <a:srgbClr val="221D17"/>
          </a:solidFill>
          <a:ln w="12700">
            <a:solidFill>
              <a:srgbClr val="352F2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80560" y="2743200"/>
            <a:ext cx="2926080" cy="1920240"/>
          </a:xfrm>
          <a:prstGeom prst="rect">
            <a:avLst/>
          </a:prstGeom>
          <a:noFill/>
        </p:spPr>
        <p:txBody>
          <a:bodyPr wrap="square" lIns="0" tIns="0" rIns="0" bIns="0">
            <a:spAutoFit/>
          </a:bodyPr>
          <a:lstStyle/>
          <a:p>
            <a:pPr>
              <a:defRPr sz="800" b="1">
                <a:solidFill>
                  <a:srgbClr val="10B981"/>
                </a:solidFill>
                <a:latin typeface="Consolas"/>
              </a:defRPr>
            </a:pPr>
            <a:r>
              <a:t>AUTOMATED MEMORY DISSECTION</a:t>
            </a:r>
          </a:p>
          <a:p>
            <a:pPr>
              <a:spcBef>
                <a:spcPts val="300"/>
              </a:spcBef>
              <a:defRPr sz="1300" b="1">
                <a:solidFill>
                  <a:srgbClr val="FAF8F5"/>
                </a:solidFill>
                <a:latin typeface="Segoe UI"/>
              </a:defRPr>
            </a:pPr>
            <a:r>
              <a:t>v1.2: Autonomous Unpacking</a:t>
            </a:r>
          </a:p>
          <a:p>
            <a:pPr>
              <a:spcBef>
                <a:spcPts val="600"/>
              </a:spcBef>
              <a:defRPr sz="1000">
                <a:solidFill>
                  <a:srgbClr val="A39E93"/>
                </a:solidFill>
                <a:latin typeface="Calibri"/>
              </a:defRPr>
            </a:pPr>
            <a:r>
              <a:t>Direct memory dump reconstruction to unpack UPX, Themida, and custom crypters in native C, exposing raw unencrypted payloads in sub-second timeframes.</a:t>
            </a:r>
          </a:p>
        </p:txBody>
      </p:sp>
      <p:sp>
        <p:nvSpPr>
          <p:cNvPr id="10" name="Rounded Rectangle 9"/>
          <p:cNvSpPr/>
          <p:nvPr/>
        </p:nvSpPr>
        <p:spPr>
          <a:xfrm>
            <a:off x="7772400" y="2606040"/>
            <a:ext cx="3291840" cy="2240280"/>
          </a:xfrm>
          <a:prstGeom prst="roundRect">
            <a:avLst/>
          </a:prstGeom>
          <a:solidFill>
            <a:srgbClr val="221D17"/>
          </a:solidFill>
          <a:ln w="12700">
            <a:solidFill>
              <a:srgbClr val="352F2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55279" y="2743200"/>
            <a:ext cx="2926080" cy="1920240"/>
          </a:xfrm>
          <a:prstGeom prst="rect">
            <a:avLst/>
          </a:prstGeom>
          <a:noFill/>
        </p:spPr>
        <p:txBody>
          <a:bodyPr wrap="square" lIns="0" tIns="0" rIns="0" bIns="0">
            <a:spAutoFit/>
          </a:bodyPr>
          <a:lstStyle/>
          <a:p>
            <a:pPr>
              <a:defRPr sz="800" b="1">
                <a:solidFill>
                  <a:srgbClr val="10B981"/>
                </a:solidFill>
                <a:latin typeface="Consolas"/>
              </a:defRPr>
            </a:pPr>
            <a:r>
              <a:t>MULTI-NODE TELEMETRY SWARM</a:t>
            </a:r>
          </a:p>
          <a:p>
            <a:pPr>
              <a:spcBef>
                <a:spcPts val="300"/>
              </a:spcBef>
              <a:defRPr sz="1300" b="1">
                <a:solidFill>
                  <a:srgbClr val="FAF8F5"/>
                </a:solidFill>
                <a:latin typeface="Segoe UI"/>
              </a:defRPr>
            </a:pPr>
            <a:r>
              <a:t>v1.3: Distributed Fleet Mesh</a:t>
            </a:r>
          </a:p>
          <a:p>
            <a:pPr>
              <a:spcBef>
                <a:spcPts val="600"/>
              </a:spcBef>
              <a:defRPr sz="1000">
                <a:solidFill>
                  <a:srgbClr val="A39E93"/>
                </a:solidFill>
                <a:latin typeface="Calibri"/>
              </a:defRPr>
            </a:pPr>
            <a:r>
              <a:t>Federated intelligence sharing where detection of a zero-day on one edge node synthesizes and pushes YARA immunization across all nodes in under 500ms.</a:t>
            </a:r>
          </a:p>
        </p:txBody>
      </p:sp>
      <p:sp>
        <p:nvSpPr>
          <p:cNvPr id="12" name="Rounded Rectangle 11"/>
          <p:cNvSpPr/>
          <p:nvPr/>
        </p:nvSpPr>
        <p:spPr>
          <a:xfrm>
            <a:off x="822960" y="5029200"/>
            <a:ext cx="10424160" cy="777240"/>
          </a:xfrm>
          <a:prstGeom prst="roundRect">
            <a:avLst/>
          </a:prstGeom>
          <a:solidFill>
            <a:srgbClr val="191510"/>
          </a:solidFill>
          <a:ln w="12700">
            <a:solidFill>
              <a:srgbClr val="352F2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5166360"/>
            <a:ext cx="10058400" cy="548640"/>
          </a:xfrm>
          <a:prstGeom prst="rect">
            <a:avLst/>
          </a:prstGeom>
          <a:noFill/>
        </p:spPr>
        <p:txBody>
          <a:bodyPr wrap="none" lIns="0" tIns="0" rIns="0" bIns="0">
            <a:spAutoFit/>
          </a:bodyPr>
          <a:lstStyle/>
          <a:p>
            <a:r>
              <a:rPr sz="1000" b="1">
                <a:solidFill>
                  <a:srgbClr val="10B981"/>
                </a:solidFill>
                <a:latin typeface="Consolas"/>
              </a:rPr>
              <a:t>READY FOR LIVE JUDGE DEMONSTRATION  ●  </a:t>
            </a:r>
            <a:r>
              <a:rPr sz="1000">
                <a:solidFill>
                  <a:srgbClr val="A39E93"/>
                </a:solidFill>
                <a:latin typeface="Consolas"/>
              </a:rPr>
              <a:t>Repository: github.com/Nate-br/nullify  |  Web: http://localhost:8000  |  CLI: $ nullify</a:t>
            </a:r>
          </a:p>
        </p:txBody>
      </p:sp>
      <p:sp>
        <p:nvSpPr>
          <p:cNvPr id="14" name="Rectangle 13"/>
          <p:cNvSpPr/>
          <p:nvPr/>
        </p:nvSpPr>
        <p:spPr>
          <a:xfrm>
            <a:off x="731520" y="6263640"/>
            <a:ext cx="10728655" cy="9525"/>
          </a:xfrm>
          <a:prstGeom prst="rect">
            <a:avLst/>
          </a:prstGeom>
          <a:solidFill>
            <a:srgbClr val="352F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6327648"/>
            <a:ext cx="10728655" cy="320040"/>
          </a:xfrm>
          <a:prstGeom prst="rect">
            <a:avLst/>
          </a:prstGeom>
          <a:noFill/>
        </p:spPr>
        <p:txBody>
          <a:bodyPr wrap="none" lIns="0" tIns="0" rIns="0" bIns="0">
            <a:spAutoFit/>
          </a:bodyPr>
          <a:lstStyle/>
          <a:p>
            <a:r>
              <a:rPr sz="850">
                <a:solidFill>
                  <a:srgbClr val="736E65"/>
                </a:solidFill>
                <a:latin typeface="Consolas"/>
              </a:rPr>
              <a:t>NULLIFY  ●  AUTONOMOUS MULTI-AGENT DEFENSE</a:t>
            </a:r>
            <a:r>
              <a:rPr i="1" sz="900">
                <a:solidFill>
                  <a:srgbClr val="A39E93"/>
                </a:solidFill>
                <a:latin typeface="Georgia"/>
              </a:rPr>
              <a:t>                       See it. Trace it. Nullify it.                       </a:t>
            </a:r>
            <a:r>
              <a:rPr sz="850">
                <a:solidFill>
                  <a:srgbClr val="736E65"/>
                </a:solidFill>
                <a:latin typeface="Consolas"/>
              </a:rPr>
              <a:t>SLIDE 12 /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
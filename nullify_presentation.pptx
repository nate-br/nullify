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B2AAE59-D2EC-4BA3-9844-660CD37FFF5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Good morning, judges. Today we present NULLIFY, developed in partnership with EGATE Cybersecurity.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Our mission is simple: 'See it. Trace it. Nullify it.'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modern cybersecurity, speed is everything. By the time a traditional security tool opens a file and spins up a sandbox, the damage is already done.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Nullify combines the raw speed of native C code with six autonomous AI agents. It catches zero-day malware and writes ready-to-use defense rules in under 15 milliseconds.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Let's start by introducing the vision behind EGATE and Nullify.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0034E4C-8346-4D80-8C9C-27CE09930BD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 this slide, we introduce our brand identity: EGATE and Nullify.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EGATE logo represents the secure perimeter gateway. In a zero-trust organization, no binary runs until the gateway inspects it.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Nullify is the autonomous algorithmic engine inside the gateway. It exists to reduce threat dwell time to zero.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Our design uses emerald green for active health and obsidian charcoal for air-gapped privacy.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Now let's examine the acute problem modern security teams face.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BAC403D-F9E1-4C69-A5B4-FF47A412F15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Every security team faces three huge problems today: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1. New malware is invisible: 450,000 variants a day make static hashes obsolete.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 Sandboxes take 15 minutes to run a single test. Real-time traffic can't wait that long.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 Most modern tools use Python, which locks up and crashes under heavy traffic.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Nullify changes this completely.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2DBEC37-CDC9-465D-81FA-60EB1992550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Here is how Nullify works: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1. It is fast: We moved the heavy lifting to pure C. It analyzes files in under 15 milliseconds.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 It is accurate: Six focused AI agents collaborate to trace the file's behavior.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 It takes action: It writes ready-to-deploy defense rules immediately.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waiting 15 minutes for a sandbox. No leaking sensitive files to cloud APIs.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BE1DF10-E240-40BF-8F08-7FE99A162D6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Notice how our agents are structured: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Stage 1 handles raw speed: Triage and Static Analysis run in native C code. They take less than a millisecond to dissect headers, hashes, and imports.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Stage 2 handles intelligence: Behavioral analysis, 2,381-feature machine learning, human-readable reasoning, and automatic YARA rule generation.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Each agent does one job perfectly.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AA354D4-2A9B-42EC-B133-6B93C7D252A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Why is Nullify so fast? Because we identified the slowest parts of Python security tools and rewrote them in native C.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Parsing Windows PE imports used to take 50 milliseconds. In C, it takes 0.1 milliseconds. That is over 500x faster.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Pattern scanning is 18x faster.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Concurrent file hashing is 8x faster.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 we built it with zero external C dependencies — no OpenSSL link issues, no memory leaks.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2FF352-EA7B-49CF-9629-163DCA7BAD2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lot of security AI projects use large language models that make uncalibrated guesses.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Nullify uses proven gradient-boosted trees trained on 1.1 million files from the EMBER benchmark.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 look at 2,381 structural features. And we engineered a specific Linux guard so non-Windows binaries never trigger false positives.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AFC313F-A3CD-4EFB-B53B-B4D339F2B3F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Telling an analyst 'this file is bad' is only half the job.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Nullify explains why: it maps the threat to MITRE ATT&amp;CK tactics.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 then it writes the actual YARA rule shown on screen.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You can copy this rule and deploy it to your firewalls and endpoints in seconds.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5FCB5B1-508B-404F-9428-8144D6A0757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Look at the numbers on screen: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cloud sandbox takes 15 minutes.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Standard Python tools take 85 milliseconds and crash under load.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Traditional antivirus is fast, but blind to new malware.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Nullify gives you the best of both: 13.2 millisecond speed, zero-day machine learning, and automated YARA rules.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F01C2B-E2FE-48B4-8C4F-BEB5F202834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 built Nullify with two clean interfaces: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 the left: A modern web console running at localhost:8000. Drag and drop any file, see live confidence scores, and copy YARA rules.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 the right: A single-command terminal interface. Just type 'nullify' with no confusing arguments, and an interactive menu guides you through scanning.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69CB33F-B769-4A18-AE80-DE7265808F9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enterprise security, data privacy is non-negotiable.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When companies send files to VirusTotal or cloud sandboxes, proprietary source code and intellectual property leak out.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Nullify runs 100% on-premise. It works in air-gapped environments with zero internet access, and connects easily to Splunk or Microsoft Sentinel via our REST API.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F3A8977-21BD-4DAC-A56A-D4DFEDA4911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conclusion: Nullify is not a mock-up or a slide concept. It is a live, working, tested system.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 invite the judges right now to give us any sample — a trojan, ransomware, or a safe binary — and watch Nullify classify it and generate defense rules live on screen.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Thank you, and we welcome your questions!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D7DDB0A-70C4-44D2-B530-96F386874D4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6D79D9-4C0D-4FDC-AEAA-18D9528DA25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BB8BB3-228E-4846-AE07-926D8134B5B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468A9C-4CBF-45A7-89FB-68FE1D9718E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E8F756-B941-405C-8A1C-93BCE910AE4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27829F-4790-4A83-9348-CA6192D7D6A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F48D4A-B082-4712-AB52-BCF6FE51573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8BB375-1F0C-4CC8-BBF6-BE090B52781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46472C-FB77-481D-9D87-4815DB8B572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3BEA0F-5580-4890-9D04-5B54EF66ED5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B0F9EC-FFA3-4EC8-8539-776DB3B2B94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473550-13BE-4512-9AF0-65025B54FEF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1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ounded Rectangle 2"/>
          <p:cNvSpPr/>
          <p:nvPr/>
        </p:nvSpPr>
        <p:spPr>
          <a:xfrm>
            <a:off x="548640" y="548640"/>
            <a:ext cx="11094120" cy="5760360"/>
          </a:xfrm>
          <a:prstGeom prst="roundRect">
            <a:avLst>
              <a:gd name="adj" fmla="val 16667"/>
            </a:avLst>
          </a:prstGeom>
          <a:solidFill>
            <a:srgbClr val="14110d"/>
          </a:solidFill>
          <a:ln w="19050">
            <a:solidFill>
              <a:srgbClr val="322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Rounded Rectangle 3"/>
          <p:cNvSpPr/>
          <p:nvPr/>
        </p:nvSpPr>
        <p:spPr>
          <a:xfrm>
            <a:off x="1005840" y="914400"/>
            <a:ext cx="237708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8" name="Picture 4" descr="egate logo.png"/>
          <p:cNvPicPr/>
          <p:nvPr/>
        </p:nvPicPr>
        <p:blipFill>
          <a:blip r:embed="rId1"/>
          <a:stretch/>
        </p:blipFill>
        <p:spPr>
          <a:xfrm>
            <a:off x="1603440" y="960120"/>
            <a:ext cx="11822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Rounded Rectangle 5"/>
          <p:cNvSpPr/>
          <p:nvPr/>
        </p:nvSpPr>
        <p:spPr>
          <a:xfrm>
            <a:off x="3566160" y="1234440"/>
            <a:ext cx="2559960" cy="365400"/>
          </a:xfrm>
          <a:prstGeom prst="roundRect">
            <a:avLst>
              <a:gd name="adj" fmla="val 16667"/>
            </a:avLst>
          </a:prstGeom>
          <a:solidFill>
            <a:srgbClr val="1f1a14"/>
          </a:solidFill>
          <a:ln w="12700">
            <a:solidFill>
              <a:srgbClr val="322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10b981"/>
                </a:solidFill>
                <a:effectLst/>
                <a:uFillTx/>
                <a:latin typeface="Consolas"/>
              </a:rPr>
              <a:t>EGATE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6"/>
          <p:cNvSpPr/>
          <p:nvPr/>
        </p:nvSpPr>
        <p:spPr>
          <a:xfrm>
            <a:off x="6263640" y="1234440"/>
            <a:ext cx="2194200" cy="365400"/>
          </a:xfrm>
          <a:prstGeom prst="roundRect">
            <a:avLst>
              <a:gd name="adj" fmla="val 16667"/>
            </a:avLst>
          </a:prstGeom>
          <a:solidFill>
            <a:srgbClr val="1f1a14"/>
          </a:solidFill>
          <a:ln w="12700">
            <a:solidFill>
              <a:srgbClr val="322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PROJECT NULLIFY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7"/>
          <p:cNvSpPr/>
          <p:nvPr/>
        </p:nvSpPr>
        <p:spPr>
          <a:xfrm>
            <a:off x="8595360" y="1234440"/>
            <a:ext cx="2559960" cy="365400"/>
          </a:xfrm>
          <a:prstGeom prst="roundRect">
            <a:avLst>
              <a:gd name="adj" fmla="val 16667"/>
            </a:avLst>
          </a:prstGeom>
          <a:solidFill>
            <a:srgbClr val="1f1a14"/>
          </a:solidFill>
          <a:ln w="12700">
            <a:solidFill>
              <a:srgbClr val="322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READY FOR LIVE DEMO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8"/>
          <p:cNvSpPr/>
          <p:nvPr/>
        </p:nvSpPr>
        <p:spPr>
          <a:xfrm>
            <a:off x="1005840" y="2286000"/>
            <a:ext cx="100580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600" strike="noStrike" u="none">
                <a:solidFill>
                  <a:srgbClr val="faf8f5"/>
                </a:solidFill>
                <a:effectLst/>
                <a:uFillTx/>
                <a:latin typeface="Georgia"/>
              </a:rPr>
              <a:t>See it. Trace it.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i="1" lang="en-US" sz="5600" strike="noStrike" u="none">
                <a:solidFill>
                  <a:srgbClr val="10b981"/>
                </a:solidFill>
                <a:effectLst/>
                <a:uFillTx/>
                <a:latin typeface="Georgia"/>
              </a:rPr>
              <a:t>Nullify it.</a:t>
            </a:r>
            <a:endParaRPr b="0" lang="en-US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b="0" lang="en-US" sz="1900" strike="noStrike" u="none">
                <a:solidFill>
                  <a:srgbClr val="bfb9af"/>
                </a:solidFill>
                <a:effectLst/>
                <a:uFillTx/>
                <a:latin typeface="Segoe UI"/>
              </a:rPr>
              <a:t>Autonomous AI Threat Defense — From Detection to Immunity in Under 15 Milliseconds.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9"/>
          <p:cNvSpPr/>
          <p:nvPr/>
        </p:nvSpPr>
        <p:spPr>
          <a:xfrm>
            <a:off x="1005840" y="4663440"/>
            <a:ext cx="3291480" cy="1234080"/>
          </a:xfrm>
          <a:prstGeom prst="roundRect">
            <a:avLst>
              <a:gd name="adj" fmla="val 16667"/>
            </a:avLst>
          </a:prstGeom>
          <a:solidFill>
            <a:srgbClr val="1f1a14"/>
          </a:solidFill>
          <a:ln w="12700">
            <a:solidFill>
              <a:srgbClr val="322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0"/>
          <p:cNvSpPr/>
          <p:nvPr/>
        </p:nvSpPr>
        <p:spPr>
          <a:xfrm>
            <a:off x="1234440" y="4754880"/>
            <a:ext cx="28342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50" strike="noStrike" u="none">
                <a:solidFill>
                  <a:srgbClr val="faf8f5"/>
                </a:solidFill>
                <a:effectLst/>
                <a:uFillTx/>
                <a:latin typeface="Segoe UI"/>
              </a:rPr>
              <a:t>[ 01 // SPEED ]  Sub-15ms Native C Engine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200" strike="noStrike" u="none">
                <a:solidFill>
                  <a:srgbClr val="bfb9af"/>
                </a:solidFill>
                <a:effectLst/>
                <a:uFillTx/>
                <a:latin typeface="Segoe UI"/>
              </a:rPr>
              <a:t>C11 core analyzes binaries faster than a blink of an eye.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11"/>
          <p:cNvSpPr/>
          <p:nvPr/>
        </p:nvSpPr>
        <p:spPr>
          <a:xfrm>
            <a:off x="4480560" y="4663440"/>
            <a:ext cx="3291480" cy="1234080"/>
          </a:xfrm>
          <a:prstGeom prst="roundRect">
            <a:avLst>
              <a:gd name="adj" fmla="val 16667"/>
            </a:avLst>
          </a:prstGeom>
          <a:solidFill>
            <a:srgbClr val="1f1a14"/>
          </a:solidFill>
          <a:ln w="12700">
            <a:solidFill>
              <a:srgbClr val="322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12"/>
          <p:cNvSpPr/>
          <p:nvPr/>
        </p:nvSpPr>
        <p:spPr>
          <a:xfrm>
            <a:off x="4709160" y="4754880"/>
            <a:ext cx="28342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50" strike="noStrike" u="none">
                <a:solidFill>
                  <a:srgbClr val="faf8f5"/>
                </a:solidFill>
                <a:effectLst/>
                <a:uFillTx/>
                <a:latin typeface="Segoe UI"/>
              </a:rPr>
              <a:t>[ 02 // COGNITION ]  6 Collaborative AI Agents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200" strike="noStrike" u="none">
                <a:solidFill>
                  <a:srgbClr val="bfb9af"/>
                </a:solidFill>
                <a:effectLst/>
                <a:uFillTx/>
                <a:latin typeface="Segoe UI"/>
              </a:rPr>
              <a:t>Specialized agents team up to inspect, explain, and defend.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13"/>
          <p:cNvSpPr/>
          <p:nvPr/>
        </p:nvSpPr>
        <p:spPr>
          <a:xfrm>
            <a:off x="7955280" y="4663440"/>
            <a:ext cx="3291480" cy="1234080"/>
          </a:xfrm>
          <a:prstGeom prst="roundRect">
            <a:avLst>
              <a:gd name="adj" fmla="val 16667"/>
            </a:avLst>
          </a:prstGeom>
          <a:solidFill>
            <a:srgbClr val="1f1a14"/>
          </a:solidFill>
          <a:ln w="12700">
            <a:solidFill>
              <a:srgbClr val="322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14"/>
          <p:cNvSpPr/>
          <p:nvPr/>
        </p:nvSpPr>
        <p:spPr>
          <a:xfrm>
            <a:off x="8183880" y="4754880"/>
            <a:ext cx="28342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50" strike="noStrike" u="none">
                <a:solidFill>
                  <a:srgbClr val="faf8f5"/>
                </a:solidFill>
                <a:effectLst/>
                <a:uFillTx/>
                <a:latin typeface="Segoe UI"/>
              </a:rPr>
              <a:t>[ 03 // DEFENSE ]  Instant Auto-YARA Immunity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200" strike="noStrike" u="none">
                <a:solidFill>
                  <a:srgbClr val="bfb9af"/>
                </a:solidFill>
                <a:effectLst/>
                <a:uFillTx/>
                <a:latin typeface="Segoe UI"/>
              </a:rPr>
              <a:t>Writes instant defense rules to protect your whole network.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15"/>
          <p:cNvSpPr/>
          <p:nvPr/>
        </p:nvSpPr>
        <p:spPr>
          <a:xfrm>
            <a:off x="822960" y="6263640"/>
            <a:ext cx="10545480" cy="9000"/>
          </a:xfrm>
          <a:prstGeom prst="rect">
            <a:avLst/>
          </a:prstGeom>
          <a:solidFill>
            <a:srgbClr val="322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16"/>
          <p:cNvSpPr/>
          <p:nvPr/>
        </p:nvSpPr>
        <p:spPr>
          <a:xfrm>
            <a:off x="822960" y="6327720"/>
            <a:ext cx="1054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7d776e"/>
                </a:solidFill>
                <a:effectLst/>
                <a:uFillTx/>
                <a:latin typeface="Consolas"/>
              </a:rPr>
              <a:t>EGATE  ●  NULLIFY AUTONOMOUS DEFENSE</a:t>
            </a:r>
            <a:r>
              <a:rPr b="0" i="1" lang="en-US" sz="1000" strike="noStrike" u="none">
                <a:solidFill>
                  <a:srgbClr val="bfb9af"/>
                </a:solidFill>
                <a:effectLst/>
                <a:uFillTx/>
                <a:latin typeface="Georgia"/>
              </a:rPr>
              <a:t>                               See it. Trace it. Nullify it.                               </a:t>
            </a:r>
            <a:r>
              <a:rPr b="0" lang="en-US" sz="950" strike="noStrike" u="none">
                <a:solidFill>
                  <a:srgbClr val="7d776e"/>
                </a:solidFill>
                <a:effectLst/>
                <a:uFillTx/>
                <a:latin typeface="Consolas"/>
              </a:rPr>
              <a:t>01 /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8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822960" y="5029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059669"/>
                </a:solidFill>
                <a:effectLst/>
                <a:uFillTx/>
                <a:latin typeface="Consolas"/>
              </a:rPr>
              <a:t>●  BRAND IDENTITY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822960" y="82296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14110d"/>
                </a:solidFill>
                <a:effectLst/>
                <a:uFillTx/>
                <a:latin typeface="Georgia"/>
              </a:rPr>
              <a:t>EGATE &amp; Nullify: Built for Sovereign Security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4"/>
          <p:cNvSpPr/>
          <p:nvPr/>
        </p:nvSpPr>
        <p:spPr>
          <a:xfrm>
            <a:off x="822960" y="1645920"/>
            <a:ext cx="4388760" cy="443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5" name="Picture 5" descr="egate logo.png"/>
          <p:cNvPicPr/>
          <p:nvPr/>
        </p:nvPicPr>
        <p:blipFill>
          <a:blip r:embed="rId1"/>
          <a:stretch/>
        </p:blipFill>
        <p:spPr>
          <a:xfrm>
            <a:off x="1125720" y="1920240"/>
            <a:ext cx="3783600" cy="29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Box 6"/>
          <p:cNvSpPr/>
          <p:nvPr/>
        </p:nvSpPr>
        <p:spPr>
          <a:xfrm>
            <a:off x="1660320" y="5166360"/>
            <a:ext cx="27136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059669"/>
                </a:solidFill>
                <a:effectLst/>
                <a:uFillTx/>
                <a:latin typeface="Consolas"/>
              </a:rPr>
              <a:t>EGATE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Next-Generation Autonomous Threat Defense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7"/>
          <p:cNvSpPr/>
          <p:nvPr/>
        </p:nvSpPr>
        <p:spPr>
          <a:xfrm>
            <a:off x="5486400" y="1645920"/>
            <a:ext cx="5882040" cy="443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8"/>
          <p:cNvSpPr/>
          <p:nvPr/>
        </p:nvSpPr>
        <p:spPr>
          <a:xfrm>
            <a:off x="5806440" y="192024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5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[ 01 ]  THE GATEWAY: EGATE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The zero-trust gatekeeper standing at the network perimeter. Every executable, script, and document must pass through the EGATE before execution is permitted.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800"/>
              </a:spcBef>
            </a:pPr>
            <a:r>
              <a:rPr b="1" lang="en-US" sz="155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[ 02 ]  THE ENGINE: NULLIFY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The autonomous algorithmic brain. Built to reduce threat dwell time, attacker lateral movement, and incident triage latency to absolute zero (Nullify).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800"/>
              </a:spcBef>
            </a:pPr>
            <a:r>
              <a:rPr b="1" lang="en-US" sz="155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[ 03 ]  THE VISUAL SYMBOLOGY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0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Emerald Green represents active immunity and verified execution health. Obsidian Charcoal represents air-gapped sovereign privacy. Clean geometry represents mathematical certainty across 2,381 feature dimensions.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9"/>
          <p:cNvSpPr/>
          <p:nvPr/>
        </p:nvSpPr>
        <p:spPr>
          <a:xfrm>
            <a:off x="822960" y="6263640"/>
            <a:ext cx="10545480" cy="9000"/>
          </a:xfrm>
          <a:prstGeom prst="rect">
            <a:avLst/>
          </a:prstGeom>
          <a:solidFill>
            <a:srgbClr val="e2dc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822960" y="6327720"/>
            <a:ext cx="1054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827c73"/>
                </a:solidFill>
                <a:effectLst/>
                <a:uFillTx/>
                <a:latin typeface="Consolas"/>
              </a:rPr>
              <a:t>EGATE  ●  NULLIFY AUTONOMOUS DEFENSE</a:t>
            </a:r>
            <a:r>
              <a:rPr b="0" i="1" lang="en-US" sz="1000" strike="noStrike" u="none">
                <a:solidFill>
                  <a:srgbClr val="555048"/>
                </a:solidFill>
                <a:effectLst/>
                <a:uFillTx/>
                <a:latin typeface="Georgia"/>
              </a:rPr>
              <a:t>                               See it. Trace it. Nullify it.                               </a:t>
            </a:r>
            <a:r>
              <a:rPr b="0" lang="en-US" sz="950" strike="noStrike" u="none">
                <a:solidFill>
                  <a:srgbClr val="827c73"/>
                </a:solidFill>
                <a:effectLst/>
                <a:uFillTx/>
                <a:latin typeface="Consolas"/>
              </a:rPr>
              <a:t>02 /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8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822960" y="5029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059669"/>
                </a:solidFill>
                <a:effectLst/>
                <a:uFillTx/>
                <a:latin typeface="Consolas"/>
              </a:rPr>
              <a:t>●  THE PROBLEM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822960" y="82296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14110d"/>
                </a:solidFill>
                <a:effectLst/>
                <a:uFillTx/>
                <a:latin typeface="Georgia"/>
              </a:rPr>
              <a:t>Traditional Antivirus Can't Keep Up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4"/>
          <p:cNvSpPr/>
          <p:nvPr/>
        </p:nvSpPr>
        <p:spPr>
          <a:xfrm>
            <a:off x="822960" y="1645920"/>
            <a:ext cx="3382920" cy="365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ounded Rectangle 5"/>
          <p:cNvSpPr/>
          <p:nvPr/>
        </p:nvSpPr>
        <p:spPr>
          <a:xfrm>
            <a:off x="1097280" y="1874520"/>
            <a:ext cx="2011320" cy="31968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dc2626"/>
                </a:solidFill>
                <a:effectLst/>
                <a:uFillTx/>
                <a:latin typeface="Consolas"/>
              </a:rPr>
              <a:t>[ CHALLENGE 01 ]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6"/>
          <p:cNvSpPr/>
          <p:nvPr/>
        </p:nvSpPr>
        <p:spPr>
          <a:xfrm>
            <a:off x="1097280" y="2331720"/>
            <a:ext cx="283428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New Malware is Invisible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35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Traditional antivirus checks for known hashes. But attackers constantly change their code, so signature blacklists fail on day one.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7"/>
          <p:cNvSpPr/>
          <p:nvPr/>
        </p:nvSpPr>
        <p:spPr>
          <a:xfrm>
            <a:off x="1097280" y="4754880"/>
            <a:ext cx="2834280" cy="34704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dc2626"/>
                </a:solidFill>
                <a:effectLst/>
                <a:uFillTx/>
                <a:latin typeface="Consolas"/>
              </a:rPr>
              <a:t>450,000+ new attacks every day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8"/>
          <p:cNvSpPr/>
          <p:nvPr/>
        </p:nvSpPr>
        <p:spPr>
          <a:xfrm>
            <a:off x="4434840" y="1645920"/>
            <a:ext cx="3382920" cy="365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ounded Rectangle 9"/>
          <p:cNvSpPr/>
          <p:nvPr/>
        </p:nvSpPr>
        <p:spPr>
          <a:xfrm>
            <a:off x="4709160" y="1874520"/>
            <a:ext cx="2011320" cy="319680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d97706"/>
                </a:solidFill>
                <a:effectLst/>
                <a:uFillTx/>
                <a:latin typeface="Consolas"/>
              </a:rPr>
              <a:t>[ CHALLENGE 02 ]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4709160" y="2331720"/>
            <a:ext cx="283428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Sandboxes are Too Slow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35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Testing a file in a virtual machine takes 5 to 15 minutes. Firewalls and email filters cannot put live traffic on hold that long.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11"/>
          <p:cNvSpPr/>
          <p:nvPr/>
        </p:nvSpPr>
        <p:spPr>
          <a:xfrm>
            <a:off x="4709160" y="4754880"/>
            <a:ext cx="2834280" cy="347040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d97706"/>
                </a:solidFill>
                <a:effectLst/>
                <a:uFillTx/>
                <a:latin typeface="Consolas"/>
              </a:rPr>
              <a:t>15-minute delay is dangerous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12"/>
          <p:cNvSpPr/>
          <p:nvPr/>
        </p:nvSpPr>
        <p:spPr>
          <a:xfrm>
            <a:off x="8046720" y="1645920"/>
            <a:ext cx="3382920" cy="365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ounded Rectangle 13"/>
          <p:cNvSpPr/>
          <p:nvPr/>
        </p:nvSpPr>
        <p:spPr>
          <a:xfrm>
            <a:off x="8321040" y="1874520"/>
            <a:ext cx="2011320" cy="3196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2563eb"/>
                </a:solidFill>
                <a:effectLst/>
                <a:uFillTx/>
                <a:latin typeface="Consolas"/>
              </a:rPr>
              <a:t>[ CHALLENGE 03 ]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4"/>
          <p:cNvSpPr/>
          <p:nvPr/>
        </p:nvSpPr>
        <p:spPr>
          <a:xfrm>
            <a:off x="8321040" y="2331720"/>
            <a:ext cx="283428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Security Tools Crash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35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Most open-source security tools are written in Python. When thousands of files hit at once, they lag, freeze, and run out of memory.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15"/>
          <p:cNvSpPr/>
          <p:nvPr/>
        </p:nvSpPr>
        <p:spPr>
          <a:xfrm>
            <a:off x="8321040" y="4754880"/>
            <a:ext cx="2834280" cy="3470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2563eb"/>
                </a:solidFill>
                <a:effectLst/>
                <a:uFillTx/>
                <a:latin typeface="Consolas"/>
              </a:rPr>
              <a:t>Python runtime memory bottlenecks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16"/>
          <p:cNvSpPr/>
          <p:nvPr/>
        </p:nvSpPr>
        <p:spPr>
          <a:xfrm>
            <a:off x="822960" y="5486400"/>
            <a:ext cx="10545480" cy="594000"/>
          </a:xfrm>
          <a:prstGeom prst="roundRect">
            <a:avLst>
              <a:gd name="adj" fmla="val 16667"/>
            </a:avLst>
          </a:prstGeom>
          <a:solidFill>
            <a:srgbClr val="f5f1ea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17"/>
          <p:cNvSpPr/>
          <p:nvPr/>
        </p:nvSpPr>
        <p:spPr>
          <a:xfrm>
            <a:off x="1051560" y="55962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dc2626"/>
                </a:solidFill>
                <a:effectLst/>
                <a:uFillTx/>
                <a:latin typeface="Consolas"/>
              </a:rPr>
              <a:t>THE REALITY: </a:t>
            </a:r>
            <a:r>
              <a:rPr b="0" lang="en-US" sz="135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Organizations are forced to choose between fast but blind antivirus, or slow 15-minute sandboxes.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8"/>
          <p:cNvSpPr/>
          <p:nvPr/>
        </p:nvSpPr>
        <p:spPr>
          <a:xfrm>
            <a:off x="822960" y="6263640"/>
            <a:ext cx="10545480" cy="9000"/>
          </a:xfrm>
          <a:prstGeom prst="rect">
            <a:avLst/>
          </a:prstGeom>
          <a:solidFill>
            <a:srgbClr val="e2dc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19"/>
          <p:cNvSpPr/>
          <p:nvPr/>
        </p:nvSpPr>
        <p:spPr>
          <a:xfrm>
            <a:off x="822960" y="6327720"/>
            <a:ext cx="1054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827c73"/>
                </a:solidFill>
                <a:effectLst/>
                <a:uFillTx/>
                <a:latin typeface="Consolas"/>
              </a:rPr>
              <a:t>EGATE  ●  NULLIFY AUTONOMOUS DEFENSE</a:t>
            </a:r>
            <a:r>
              <a:rPr b="0" i="1" lang="en-US" sz="1000" strike="noStrike" u="none">
                <a:solidFill>
                  <a:srgbClr val="555048"/>
                </a:solidFill>
                <a:effectLst/>
                <a:uFillTx/>
                <a:latin typeface="Georgia"/>
              </a:rPr>
              <a:t>                               See it. Trace it. Nullify it.                               </a:t>
            </a:r>
            <a:r>
              <a:rPr b="0" lang="en-US" sz="950" strike="noStrike" u="none">
                <a:solidFill>
                  <a:srgbClr val="827c73"/>
                </a:solidFill>
                <a:effectLst/>
                <a:uFillTx/>
                <a:latin typeface="Consolas"/>
              </a:rPr>
              <a:t>03 /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8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2"/>
          <p:cNvSpPr/>
          <p:nvPr/>
        </p:nvSpPr>
        <p:spPr>
          <a:xfrm>
            <a:off x="822960" y="5029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059669"/>
                </a:solidFill>
                <a:effectLst/>
                <a:uFillTx/>
                <a:latin typeface="Consolas"/>
              </a:rPr>
              <a:t>●  THE SOLUTION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3"/>
          <p:cNvSpPr/>
          <p:nvPr/>
        </p:nvSpPr>
        <p:spPr>
          <a:xfrm>
            <a:off x="822960" y="82296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14110d"/>
                </a:solidFill>
                <a:effectLst/>
                <a:uFillTx/>
                <a:latin typeface="Georgia"/>
              </a:rPr>
              <a:t>Nullify: Real-Time Autonomous Defense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4"/>
          <p:cNvSpPr/>
          <p:nvPr/>
        </p:nvSpPr>
        <p:spPr>
          <a:xfrm>
            <a:off x="822960" y="1645920"/>
            <a:ext cx="6217560" cy="443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5"/>
          <p:cNvSpPr/>
          <p:nvPr/>
        </p:nvSpPr>
        <p:spPr>
          <a:xfrm>
            <a:off x="1097280" y="1920240"/>
            <a:ext cx="56689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[ 01 // SPEED ]  Sub-Millisecond Native C Triage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5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We rewrote heavy file inspection in pure C. It analyzes binaries in under 15 milliseconds — fast enough for live network firewalls.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800"/>
              </a:spcBef>
            </a:pPr>
            <a:r>
              <a:rPr b="1" lang="en-US" sz="17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[ 02 // COGNITION ]  6 Specialized Autonomous Agents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5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Instead of a single clumsy chatbot, six focused agents handle file headers, code patterns, behavioral logs, and threat reasoning.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800"/>
              </a:spcBef>
            </a:pPr>
            <a:r>
              <a:rPr b="1" lang="en-US" sz="17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[ 03 // ACTION ]  Instant Auto-Defense &amp; YARA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35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Nullify doesn't just alert you. It automatically writes an enterprise YARA rule so you can block the threat across your entire network.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6"/>
          <p:cNvSpPr/>
          <p:nvPr/>
        </p:nvSpPr>
        <p:spPr>
          <a:xfrm>
            <a:off x="7269480" y="1645920"/>
            <a:ext cx="409608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7"/>
          <p:cNvSpPr/>
          <p:nvPr/>
        </p:nvSpPr>
        <p:spPr>
          <a:xfrm>
            <a:off x="7498080" y="178308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59669"/>
                </a:solidFill>
                <a:effectLst/>
                <a:uFillTx/>
                <a:latin typeface="Georgia"/>
              </a:rPr>
              <a:t>&lt; 15 ms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1" lang="en-US" sz="12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FULL TRIAGE SPEED  •  Analysis completed in milliseconds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8"/>
          <p:cNvSpPr/>
          <p:nvPr/>
        </p:nvSpPr>
        <p:spPr>
          <a:xfrm>
            <a:off x="7269480" y="3182040"/>
            <a:ext cx="409608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9"/>
          <p:cNvSpPr/>
          <p:nvPr/>
        </p:nvSpPr>
        <p:spPr>
          <a:xfrm>
            <a:off x="7498080" y="331920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2563eb"/>
                </a:solidFill>
                <a:effectLst/>
                <a:uFillTx/>
                <a:latin typeface="Georgia"/>
              </a:rPr>
              <a:t>500x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1" lang="en-US" sz="12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FASTER IN C  •  Native C engine vs standard Python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10"/>
          <p:cNvSpPr/>
          <p:nvPr/>
        </p:nvSpPr>
        <p:spPr>
          <a:xfrm>
            <a:off x="7269480" y="4718160"/>
            <a:ext cx="409608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11"/>
          <p:cNvSpPr/>
          <p:nvPr/>
        </p:nvSpPr>
        <p:spPr>
          <a:xfrm>
            <a:off x="7498080" y="485532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d97706"/>
                </a:solidFill>
                <a:effectLst/>
                <a:uFillTx/>
                <a:latin typeface="Georgia"/>
              </a:rPr>
              <a:t>100%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1" lang="en-US" sz="12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LOCAL &amp; PRIVATE  •  Zero telemetry leaves your network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12"/>
          <p:cNvSpPr/>
          <p:nvPr/>
        </p:nvSpPr>
        <p:spPr>
          <a:xfrm>
            <a:off x="822960" y="6263640"/>
            <a:ext cx="10545480" cy="9000"/>
          </a:xfrm>
          <a:prstGeom prst="rect">
            <a:avLst/>
          </a:prstGeom>
          <a:solidFill>
            <a:srgbClr val="e2dc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13"/>
          <p:cNvSpPr/>
          <p:nvPr/>
        </p:nvSpPr>
        <p:spPr>
          <a:xfrm>
            <a:off x="822960" y="6327720"/>
            <a:ext cx="1054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827c73"/>
                </a:solidFill>
                <a:effectLst/>
                <a:uFillTx/>
                <a:latin typeface="Consolas"/>
              </a:rPr>
              <a:t>EGATE  ●  NULLIFY AUTONOMOUS DEFENSE</a:t>
            </a:r>
            <a:r>
              <a:rPr b="0" i="1" lang="en-US" sz="1000" strike="noStrike" u="none">
                <a:solidFill>
                  <a:srgbClr val="555048"/>
                </a:solidFill>
                <a:effectLst/>
                <a:uFillTx/>
                <a:latin typeface="Georgia"/>
              </a:rPr>
              <a:t>                               See it. Trace it. Nullify it.                               </a:t>
            </a:r>
            <a:r>
              <a:rPr b="0" lang="en-US" sz="950" strike="noStrike" u="none">
                <a:solidFill>
                  <a:srgbClr val="827c73"/>
                </a:solidFill>
                <a:effectLst/>
                <a:uFillTx/>
                <a:latin typeface="Consolas"/>
              </a:rPr>
              <a:t>04 /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8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822960" y="5029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059669"/>
                </a:solidFill>
                <a:effectLst/>
                <a:uFillTx/>
                <a:latin typeface="Consolas"/>
              </a:rPr>
              <a:t>●  ARCHITECTURE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822960" y="82296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14110d"/>
                </a:solidFill>
                <a:effectLst/>
                <a:uFillTx/>
                <a:latin typeface="Georgia"/>
              </a:rPr>
              <a:t>How the 6 AI Agents Work Together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ounded Rectangle 4"/>
          <p:cNvSpPr/>
          <p:nvPr/>
        </p:nvSpPr>
        <p:spPr>
          <a:xfrm>
            <a:off x="822960" y="1645920"/>
            <a:ext cx="5120280" cy="443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ounded Rectangle 5"/>
          <p:cNvSpPr/>
          <p:nvPr/>
        </p:nvSpPr>
        <p:spPr>
          <a:xfrm>
            <a:off x="1097280" y="1874520"/>
            <a:ext cx="2925720" cy="34704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059669"/>
                </a:solidFill>
                <a:effectLst/>
                <a:uFillTx/>
                <a:latin typeface="Consolas"/>
              </a:rPr>
              <a:t>[ STAGE 1: NATIVE C SPEED ]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6"/>
          <p:cNvSpPr/>
          <p:nvPr/>
        </p:nvSpPr>
        <p:spPr>
          <a:xfrm>
            <a:off x="1097280" y="2377440"/>
            <a:ext cx="45716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Agent 1: Triage Agent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40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Checks magic bytes, verifies PE/ELF headers, and streams MD5, SHA-1, and SHA-256 hashes in a single pass in under 1 millisecond.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200"/>
              </a:spcBef>
            </a:pPr>
            <a:r>
              <a:rPr b="1" lang="en-US" sz="17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Agent 2: Static Analysis Agent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40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Traverses Windows PE Import Directory directly in memory. Detects dangerous APIs (memory injection, keylogging) and backdoor registry keys in 0.1ms.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7"/>
          <p:cNvSpPr/>
          <p:nvPr/>
        </p:nvSpPr>
        <p:spPr>
          <a:xfrm>
            <a:off x="6245280" y="1645920"/>
            <a:ext cx="5120280" cy="443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ounded Rectangle 8"/>
          <p:cNvSpPr/>
          <p:nvPr/>
        </p:nvSpPr>
        <p:spPr>
          <a:xfrm>
            <a:off x="6519600" y="1874520"/>
            <a:ext cx="3108600" cy="3470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2563eb"/>
                </a:solidFill>
                <a:effectLst/>
                <a:uFillTx/>
                <a:latin typeface="Consolas"/>
              </a:rPr>
              <a:t>[ STAGE 2: AI COGNITION &amp; DEFENSE ]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9"/>
          <p:cNvSpPr/>
          <p:nvPr/>
        </p:nvSpPr>
        <p:spPr>
          <a:xfrm>
            <a:off x="6519600" y="2377440"/>
            <a:ext cx="45716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5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Agent 3: Behavioral Agent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30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Traces process execution trees and correlates Windows Sysmon logs.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155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Agent 4: Classification Agent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30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Scores 2,381 features using an ML model trained on 1.1 million binaries.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155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Agent 5: Reasoning Agent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30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Explains *why* the file is malicious in plain English for security analysts.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155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Agent 6: Defense Agent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30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Automatically writes a clean, syntax-validated YARA rule to block it.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10"/>
          <p:cNvSpPr/>
          <p:nvPr/>
        </p:nvSpPr>
        <p:spPr>
          <a:xfrm>
            <a:off x="822960" y="6263640"/>
            <a:ext cx="10545480" cy="9000"/>
          </a:xfrm>
          <a:prstGeom prst="rect">
            <a:avLst/>
          </a:prstGeom>
          <a:solidFill>
            <a:srgbClr val="e2dc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11"/>
          <p:cNvSpPr/>
          <p:nvPr/>
        </p:nvSpPr>
        <p:spPr>
          <a:xfrm>
            <a:off x="822960" y="6327720"/>
            <a:ext cx="1054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827c73"/>
                </a:solidFill>
                <a:effectLst/>
                <a:uFillTx/>
                <a:latin typeface="Consolas"/>
              </a:rPr>
              <a:t>EGATE  ●  NULLIFY AUTONOMOUS DEFENSE</a:t>
            </a:r>
            <a:r>
              <a:rPr b="0" i="1" lang="en-US" sz="1000" strike="noStrike" u="none">
                <a:solidFill>
                  <a:srgbClr val="555048"/>
                </a:solidFill>
                <a:effectLst/>
                <a:uFillTx/>
                <a:latin typeface="Georgia"/>
              </a:rPr>
              <a:t>                               See it. Trace it. Nullify it.                               </a:t>
            </a:r>
            <a:r>
              <a:rPr b="0" lang="en-US" sz="950" strike="noStrike" u="none">
                <a:solidFill>
                  <a:srgbClr val="827c73"/>
                </a:solidFill>
                <a:effectLst/>
                <a:uFillTx/>
                <a:latin typeface="Consolas"/>
              </a:rPr>
              <a:t>05 /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8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2"/>
          <p:cNvSpPr/>
          <p:nvPr/>
        </p:nvSpPr>
        <p:spPr>
          <a:xfrm>
            <a:off x="822960" y="5029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059669"/>
                </a:solidFill>
                <a:effectLst/>
                <a:uFillTx/>
                <a:latin typeface="Consolas"/>
              </a:rPr>
              <a:t>●  PERFORMANCE BREAKTHROUGH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3"/>
          <p:cNvSpPr/>
          <p:nvPr/>
        </p:nvSpPr>
        <p:spPr>
          <a:xfrm>
            <a:off x="822960" y="82296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14110d"/>
                </a:solidFill>
                <a:effectLst/>
                <a:uFillTx/>
                <a:latin typeface="Georgia"/>
              </a:rPr>
              <a:t>The Secret to Our Speed: Native C Code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4"/>
          <p:cNvSpPr/>
          <p:nvPr/>
        </p:nvSpPr>
        <p:spPr>
          <a:xfrm>
            <a:off x="822960" y="1645920"/>
            <a:ext cx="3382920" cy="365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ounded Rectangle 5"/>
          <p:cNvSpPr/>
          <p:nvPr/>
        </p:nvSpPr>
        <p:spPr>
          <a:xfrm>
            <a:off x="1097280" y="1828800"/>
            <a:ext cx="1828440" cy="292320"/>
          </a:xfrm>
          <a:prstGeom prst="roundRect">
            <a:avLst>
              <a:gd name="adj" fmla="val 16667"/>
            </a:avLst>
          </a:prstGeom>
          <a:solidFill>
            <a:srgbClr val="f5f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059669"/>
                </a:solidFill>
                <a:effectLst/>
                <a:uFillTx/>
                <a:latin typeface="Consolas"/>
              </a:rPr>
              <a:t>[ ENGINE // 01 ]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6"/>
          <p:cNvSpPr/>
          <p:nvPr/>
        </p:nvSpPr>
        <p:spPr>
          <a:xfrm>
            <a:off x="1097280" y="2194560"/>
            <a:ext cx="28342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trike="noStrike" u="none">
                <a:solidFill>
                  <a:srgbClr val="059669"/>
                </a:solidFill>
                <a:effectLst/>
                <a:uFillTx/>
                <a:latin typeface="Georgia"/>
              </a:rPr>
              <a:t>500x Faster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1" lang="en-US" sz="18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PE Import Parsing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1" lang="en-US" sz="1100" strike="noStrike" u="none">
                <a:solidFill>
                  <a:srgbClr val="059669"/>
                </a:solidFill>
                <a:effectLst/>
                <a:uFillTx/>
                <a:latin typeface="Consolas"/>
              </a:rPr>
              <a:t>Python: 50.0 ms  →  C: 0.1 ms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30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Reads executable import tables directly in memory without slow Python libraries.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7"/>
          <p:cNvSpPr/>
          <p:nvPr/>
        </p:nvSpPr>
        <p:spPr>
          <a:xfrm>
            <a:off x="4434840" y="1645920"/>
            <a:ext cx="3382920" cy="365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ounded Rectangle 8"/>
          <p:cNvSpPr/>
          <p:nvPr/>
        </p:nvSpPr>
        <p:spPr>
          <a:xfrm>
            <a:off x="4709160" y="1828800"/>
            <a:ext cx="1828440" cy="292320"/>
          </a:xfrm>
          <a:prstGeom prst="roundRect">
            <a:avLst>
              <a:gd name="adj" fmla="val 16667"/>
            </a:avLst>
          </a:prstGeom>
          <a:solidFill>
            <a:srgbClr val="f5f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2563eb"/>
                </a:solidFill>
                <a:effectLst/>
                <a:uFillTx/>
                <a:latin typeface="Consolas"/>
              </a:rPr>
              <a:t>[ ENGINE // 02 ]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9"/>
          <p:cNvSpPr/>
          <p:nvPr/>
        </p:nvSpPr>
        <p:spPr>
          <a:xfrm>
            <a:off x="4709160" y="2194560"/>
            <a:ext cx="28342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trike="noStrike" u="none">
                <a:solidFill>
                  <a:srgbClr val="2563eb"/>
                </a:solidFill>
                <a:effectLst/>
                <a:uFillTx/>
                <a:latin typeface="Georgia"/>
              </a:rPr>
              <a:t>18x Faster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1" lang="en-US" sz="18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Pattern Scanner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1" lang="en-US" sz="1100" strike="noStrike" u="none">
                <a:solidFill>
                  <a:srgbClr val="2563eb"/>
                </a:solidFill>
                <a:effectLst/>
                <a:uFillTx/>
                <a:latin typeface="Consolas"/>
              </a:rPr>
              <a:t>Python: 15.4 ms  →  C: 0.8 ms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30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Finds hidden registry keys, download cradles, and backdoor strings in a single pass.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10"/>
          <p:cNvSpPr/>
          <p:nvPr/>
        </p:nvSpPr>
        <p:spPr>
          <a:xfrm>
            <a:off x="8046720" y="1645920"/>
            <a:ext cx="3382920" cy="3657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ounded Rectangle 11"/>
          <p:cNvSpPr/>
          <p:nvPr/>
        </p:nvSpPr>
        <p:spPr>
          <a:xfrm>
            <a:off x="8321040" y="1828800"/>
            <a:ext cx="1828440" cy="292320"/>
          </a:xfrm>
          <a:prstGeom prst="roundRect">
            <a:avLst>
              <a:gd name="adj" fmla="val 16667"/>
            </a:avLst>
          </a:prstGeom>
          <a:solidFill>
            <a:srgbClr val="f5f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d97706"/>
                </a:solidFill>
                <a:effectLst/>
                <a:uFillTx/>
                <a:latin typeface="Consolas"/>
              </a:rPr>
              <a:t>[ ENGINE // 03 ]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12"/>
          <p:cNvSpPr/>
          <p:nvPr/>
        </p:nvSpPr>
        <p:spPr>
          <a:xfrm>
            <a:off x="8321040" y="2194560"/>
            <a:ext cx="28342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trike="noStrike" u="none">
                <a:solidFill>
                  <a:srgbClr val="d97706"/>
                </a:solidFill>
                <a:effectLst/>
                <a:uFillTx/>
                <a:latin typeface="Georgia"/>
              </a:rPr>
              <a:t>8x Faster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1" lang="en-US" sz="18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File Multi-Hashing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1" lang="en-US" sz="1100" strike="noStrike" u="none">
                <a:solidFill>
                  <a:srgbClr val="d97706"/>
                </a:solidFill>
                <a:effectLst/>
                <a:uFillTx/>
                <a:latin typeface="Consolas"/>
              </a:rPr>
              <a:t>Python: 8.9 ms  →  C: 1.1 ms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30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Streams 64KB blocks, updating MD5, SHA-1, and SHA-256 at the exact same time.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ounded Rectangle 13"/>
          <p:cNvSpPr/>
          <p:nvPr/>
        </p:nvSpPr>
        <p:spPr>
          <a:xfrm>
            <a:off x="822960" y="5486400"/>
            <a:ext cx="10545480" cy="594000"/>
          </a:xfrm>
          <a:prstGeom prst="roundRect">
            <a:avLst>
              <a:gd name="adj" fmla="val 16667"/>
            </a:avLst>
          </a:prstGeom>
          <a:solidFill>
            <a:srgbClr val="f5f1ea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14"/>
          <p:cNvSpPr/>
          <p:nvPr/>
        </p:nvSpPr>
        <p:spPr>
          <a:xfrm>
            <a:off x="1051560" y="55962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59669"/>
                </a:solidFill>
                <a:effectLst/>
                <a:uFillTx/>
                <a:latin typeface="Consolas"/>
              </a:rPr>
              <a:t>ZERO EXTERNAL DEPENDENCIES: </a:t>
            </a:r>
            <a:r>
              <a:rPr b="0" lang="en-US" sz="13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Pure C11 (-O3) with built-in RFC 3174 SHA-1 and MD5. No OpenSSL link errors, plus automatic Python fallback.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15"/>
          <p:cNvSpPr/>
          <p:nvPr/>
        </p:nvSpPr>
        <p:spPr>
          <a:xfrm>
            <a:off x="822960" y="6263640"/>
            <a:ext cx="10545480" cy="9000"/>
          </a:xfrm>
          <a:prstGeom prst="rect">
            <a:avLst/>
          </a:prstGeom>
          <a:solidFill>
            <a:srgbClr val="e2dc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16"/>
          <p:cNvSpPr/>
          <p:nvPr/>
        </p:nvSpPr>
        <p:spPr>
          <a:xfrm>
            <a:off x="822960" y="6327720"/>
            <a:ext cx="1054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827c73"/>
                </a:solidFill>
                <a:effectLst/>
                <a:uFillTx/>
                <a:latin typeface="Consolas"/>
              </a:rPr>
              <a:t>EGATE  ●  NULLIFY AUTONOMOUS DEFENSE</a:t>
            </a:r>
            <a:r>
              <a:rPr b="0" i="1" lang="en-US" sz="1000" strike="noStrike" u="none">
                <a:solidFill>
                  <a:srgbClr val="555048"/>
                </a:solidFill>
                <a:effectLst/>
                <a:uFillTx/>
                <a:latin typeface="Georgia"/>
              </a:rPr>
              <a:t>                               See it. Trace it. Nullify it.                               </a:t>
            </a:r>
            <a:r>
              <a:rPr b="0" lang="en-US" sz="950" strike="noStrike" u="none">
                <a:solidFill>
                  <a:srgbClr val="827c73"/>
                </a:solidFill>
                <a:effectLst/>
                <a:uFillTx/>
                <a:latin typeface="Consolas"/>
              </a:rPr>
              <a:t>06 /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8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2"/>
          <p:cNvSpPr/>
          <p:nvPr/>
        </p:nvSpPr>
        <p:spPr>
          <a:xfrm>
            <a:off x="822960" y="5029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059669"/>
                </a:solidFill>
                <a:effectLst/>
                <a:uFillTx/>
                <a:latin typeface="Consolas"/>
              </a:rPr>
              <a:t>●  MACHINE LEARNING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822960" y="82296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14110d"/>
                </a:solidFill>
                <a:effectLst/>
                <a:uFillTx/>
                <a:latin typeface="Georgia"/>
              </a:rPr>
              <a:t>Trained on 1.1 Million Real Binaries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4"/>
          <p:cNvSpPr/>
          <p:nvPr/>
        </p:nvSpPr>
        <p:spPr>
          <a:xfrm>
            <a:off x="822960" y="1645920"/>
            <a:ext cx="3382920" cy="443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ounded Rectangle 5"/>
          <p:cNvSpPr/>
          <p:nvPr/>
        </p:nvSpPr>
        <p:spPr>
          <a:xfrm>
            <a:off x="1097280" y="1920240"/>
            <a:ext cx="2011320" cy="319680"/>
          </a:xfrm>
          <a:prstGeom prst="roundRect">
            <a:avLst>
              <a:gd name="adj" fmla="val 16667"/>
            </a:avLst>
          </a:prstGeom>
          <a:solidFill>
            <a:srgbClr val="f5f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059669"/>
                </a:solidFill>
                <a:effectLst/>
                <a:uFillTx/>
                <a:latin typeface="Consolas"/>
              </a:rPr>
              <a:t>[ FEATURE SPACE ]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6"/>
          <p:cNvSpPr/>
          <p:nvPr/>
        </p:nvSpPr>
        <p:spPr>
          <a:xfrm>
            <a:off x="1097280" y="2423160"/>
            <a:ext cx="28342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2,381 Features Analyzed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b="0" lang="en-US" sz="140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Nullify analyzes 2,381 unique characteristics of each file: byte randomness (entropy), printable strings, section sizes, and header anomalies.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7"/>
          <p:cNvSpPr/>
          <p:nvPr/>
        </p:nvSpPr>
        <p:spPr>
          <a:xfrm>
            <a:off x="4434840" y="1645920"/>
            <a:ext cx="3382920" cy="443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Rounded Rectangle 8"/>
          <p:cNvSpPr/>
          <p:nvPr/>
        </p:nvSpPr>
        <p:spPr>
          <a:xfrm>
            <a:off x="4709160" y="1920240"/>
            <a:ext cx="2011320" cy="319680"/>
          </a:xfrm>
          <a:prstGeom prst="roundRect">
            <a:avLst>
              <a:gd name="adj" fmla="val 16667"/>
            </a:avLst>
          </a:prstGeom>
          <a:solidFill>
            <a:srgbClr val="f5f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2563eb"/>
                </a:solidFill>
                <a:effectLst/>
                <a:uFillTx/>
                <a:latin typeface="Consolas"/>
              </a:rPr>
              <a:t>[ VALIDATION ]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9"/>
          <p:cNvSpPr/>
          <p:nvPr/>
        </p:nvSpPr>
        <p:spPr>
          <a:xfrm>
            <a:off x="4709160" y="2423160"/>
            <a:ext cx="28342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99.9% Proven Accuracy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b="0" lang="en-US" sz="140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Trained on 1.1 million verified benign and malicious files from the EMBER benchmark. Gradient-boosted trees classify threats without hallucinating.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10"/>
          <p:cNvSpPr/>
          <p:nvPr/>
        </p:nvSpPr>
        <p:spPr>
          <a:xfrm>
            <a:off x="8046720" y="1645920"/>
            <a:ext cx="3382920" cy="443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Rounded Rectangle 11"/>
          <p:cNvSpPr/>
          <p:nvPr/>
        </p:nvSpPr>
        <p:spPr>
          <a:xfrm>
            <a:off x="8321040" y="1920240"/>
            <a:ext cx="2011320" cy="319680"/>
          </a:xfrm>
          <a:prstGeom prst="roundRect">
            <a:avLst>
              <a:gd name="adj" fmla="val 16667"/>
            </a:avLst>
          </a:prstGeom>
          <a:solidFill>
            <a:srgbClr val="f5f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d97706"/>
                </a:solidFill>
                <a:effectLst/>
                <a:uFillTx/>
                <a:latin typeface="Consolas"/>
              </a:rPr>
              <a:t>[ SMART GUARD ]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2"/>
          <p:cNvSpPr/>
          <p:nvPr/>
        </p:nvSpPr>
        <p:spPr>
          <a:xfrm>
            <a:off x="8321040" y="2423160"/>
            <a:ext cx="28342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Zero False Alarms on Linux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b="0" lang="en-US" sz="140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Most antivirus tools trigger false alarms on Linux files because they try to force Windows rules. Nullify detects file types accurately so safe code isn't flagged.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13"/>
          <p:cNvSpPr/>
          <p:nvPr/>
        </p:nvSpPr>
        <p:spPr>
          <a:xfrm>
            <a:off x="822960" y="6263640"/>
            <a:ext cx="10545480" cy="9000"/>
          </a:xfrm>
          <a:prstGeom prst="rect">
            <a:avLst/>
          </a:prstGeom>
          <a:solidFill>
            <a:srgbClr val="e2dc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14"/>
          <p:cNvSpPr/>
          <p:nvPr/>
        </p:nvSpPr>
        <p:spPr>
          <a:xfrm>
            <a:off x="822960" y="6327720"/>
            <a:ext cx="1054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827c73"/>
                </a:solidFill>
                <a:effectLst/>
                <a:uFillTx/>
                <a:latin typeface="Consolas"/>
              </a:rPr>
              <a:t>EGATE  ●  NULLIFY AUTONOMOUS DEFENSE</a:t>
            </a:r>
            <a:r>
              <a:rPr b="0" i="1" lang="en-US" sz="1000" strike="noStrike" u="none">
                <a:solidFill>
                  <a:srgbClr val="555048"/>
                </a:solidFill>
                <a:effectLst/>
                <a:uFillTx/>
                <a:latin typeface="Georgia"/>
              </a:rPr>
              <a:t>                               See it. Trace it. Nullify it.                               </a:t>
            </a:r>
            <a:r>
              <a:rPr b="0" lang="en-US" sz="950" strike="noStrike" u="none">
                <a:solidFill>
                  <a:srgbClr val="827c73"/>
                </a:solidFill>
                <a:effectLst/>
                <a:uFillTx/>
                <a:latin typeface="Consolas"/>
              </a:rPr>
              <a:t>07 /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8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2"/>
          <p:cNvSpPr/>
          <p:nvPr/>
        </p:nvSpPr>
        <p:spPr>
          <a:xfrm>
            <a:off x="822960" y="5029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059669"/>
                </a:solidFill>
                <a:effectLst/>
                <a:uFillTx/>
                <a:latin typeface="Consolas"/>
              </a:rPr>
              <a:t>●  ACTIVE DEFENSE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3"/>
          <p:cNvSpPr/>
          <p:nvPr/>
        </p:nvSpPr>
        <p:spPr>
          <a:xfrm>
            <a:off x="822960" y="82296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14110d"/>
                </a:solidFill>
                <a:effectLst/>
                <a:uFillTx/>
                <a:latin typeface="Georgia"/>
              </a:rPr>
              <a:t>From Threat Detection to Immunity in Seconds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4"/>
          <p:cNvSpPr/>
          <p:nvPr/>
        </p:nvSpPr>
        <p:spPr>
          <a:xfrm>
            <a:off x="822960" y="1645920"/>
            <a:ext cx="5120280" cy="443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ounded Rectangle 5"/>
          <p:cNvSpPr/>
          <p:nvPr/>
        </p:nvSpPr>
        <p:spPr>
          <a:xfrm>
            <a:off x="1097280" y="1874520"/>
            <a:ext cx="3108600" cy="31968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dc2626"/>
                </a:solidFill>
                <a:effectLst/>
                <a:uFillTx/>
                <a:latin typeface="Consolas"/>
              </a:rPr>
              <a:t>[ AUTOMATED IMMUNITY ]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6"/>
          <p:cNvSpPr/>
          <p:nvPr/>
        </p:nvSpPr>
        <p:spPr>
          <a:xfrm>
            <a:off x="1097280" y="2331720"/>
            <a:ext cx="457164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Tells You What Happened &amp; Blocks It Everywhere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1" lang="en-US" sz="15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• Explains the Threat Clearly: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Identifies the exact techniques the attacker used (e.g. injecting code into processes or setting up secret auto-run keys).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1" lang="en-US" sz="15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• Maps to MITRE ATT&amp;CK: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Industry-standard tagging (T1055, T1547) so security teams understand the risk instantly.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1" lang="en-US" sz="15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• Writes the Defense Rule: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0" lang="en-US" sz="130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Generates a complete, ready-to-use YARA rule that your firewalls, EDR, and mail filters can apply right away.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7"/>
          <p:cNvSpPr/>
          <p:nvPr/>
        </p:nvSpPr>
        <p:spPr>
          <a:xfrm>
            <a:off x="6245280" y="1645920"/>
            <a:ext cx="5120280" cy="4434480"/>
          </a:xfrm>
          <a:prstGeom prst="roundRect">
            <a:avLst>
              <a:gd name="adj" fmla="val 16667"/>
            </a:avLst>
          </a:prstGeom>
          <a:solidFill>
            <a:srgbClr val="14110d"/>
          </a:solidFill>
          <a:ln w="12700">
            <a:solidFill>
              <a:srgbClr val="322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8"/>
          <p:cNvSpPr/>
          <p:nvPr/>
        </p:nvSpPr>
        <p:spPr>
          <a:xfrm>
            <a:off x="6519600" y="1920240"/>
            <a:ext cx="45716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10b981"/>
                </a:solidFill>
                <a:effectLst/>
                <a:uFillTx/>
                <a:latin typeface="Consolas"/>
              </a:rPr>
              <a:t>AUTO-GENERATED YARA DEFENSE RULE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12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rule Nullify_AutoDefense_Trojan {</a:t>
            </a:r>
            <a:br>
              <a:rPr sz="1200"/>
            </a:br>
            <a:r>
              <a:rPr b="0" lang="en-US" sz="12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    meta:</a:t>
            </a:r>
            <a:br>
              <a:rPr sz="1200"/>
            </a:br>
            <a:r>
              <a:rPr b="0" lang="en-US" sz="12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        description = "Auto-generated by Nullify"</a:t>
            </a:r>
            <a:br>
              <a:rPr sz="1200"/>
            </a:br>
            <a:r>
              <a:rPr b="0" lang="en-US" sz="12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        threat      = "Trojan / Backdoor"</a:t>
            </a:r>
            <a:br>
              <a:rPr sz="1200"/>
            </a:br>
            <a:r>
              <a:rPr b="0" lang="en-US" sz="12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        confidence  = "98.4%"</a:t>
            </a:r>
            <a:br>
              <a:rPr sz="1200"/>
            </a:br>
            <a:r>
              <a:rPr b="0" lang="en-US" sz="12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    strings:</a:t>
            </a:r>
            <a:br>
              <a:rPr sz="1200"/>
            </a:br>
            <a:r>
              <a:rPr b="0" lang="en-US" sz="12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        $run_key = "CurrentVersion\\Run" nocase</a:t>
            </a:r>
            <a:br>
              <a:rPr sz="1200"/>
            </a:br>
            <a:r>
              <a:rPr b="0" lang="en-US" sz="12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        $ps_exec = "powershell -enc" nocase</a:t>
            </a:r>
            <a:br>
              <a:rPr sz="1200"/>
            </a:br>
            <a:r>
              <a:rPr b="0" lang="en-US" sz="12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        $inject  = "VirtualAllocEx"</a:t>
            </a:r>
            <a:br>
              <a:rPr sz="1200"/>
            </a:br>
            <a:r>
              <a:rPr b="0" lang="en-US" sz="12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    condition:</a:t>
            </a:r>
            <a:br>
              <a:rPr sz="1200"/>
            </a:br>
            <a:r>
              <a:rPr b="0" lang="en-US" sz="12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        uint16(0) == 0x5A4D and</a:t>
            </a:r>
            <a:br>
              <a:rPr sz="1200"/>
            </a:br>
            <a:r>
              <a:rPr b="0" lang="en-US" sz="12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        filesize &lt; 5MB and</a:t>
            </a:r>
            <a:br>
              <a:rPr sz="1200"/>
            </a:br>
            <a:r>
              <a:rPr b="0" lang="en-US" sz="12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        (2 of ($*))</a:t>
            </a:r>
            <a:br>
              <a:rPr sz="1200"/>
            </a:br>
            <a:r>
              <a:rPr b="0" lang="en-US" sz="12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99"/>
              </a:spcBef>
            </a:pPr>
            <a:r>
              <a:rPr b="1" lang="en-US" sz="1250" strike="noStrike" u="none">
                <a:solidFill>
                  <a:srgbClr val="10b981"/>
                </a:solidFill>
                <a:effectLst/>
                <a:uFillTx/>
                <a:latin typeface="Segoe UI"/>
              </a:rPr>
              <a:t>✓ Ready to push to CrowdStrike, SentinelOne, or Windows Defender.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9"/>
          <p:cNvSpPr/>
          <p:nvPr/>
        </p:nvSpPr>
        <p:spPr>
          <a:xfrm>
            <a:off x="822960" y="6263640"/>
            <a:ext cx="10545480" cy="9000"/>
          </a:xfrm>
          <a:prstGeom prst="rect">
            <a:avLst/>
          </a:prstGeom>
          <a:solidFill>
            <a:srgbClr val="e2dc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10"/>
          <p:cNvSpPr/>
          <p:nvPr/>
        </p:nvSpPr>
        <p:spPr>
          <a:xfrm>
            <a:off x="822960" y="6327720"/>
            <a:ext cx="1054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827c73"/>
                </a:solidFill>
                <a:effectLst/>
                <a:uFillTx/>
                <a:latin typeface="Consolas"/>
              </a:rPr>
              <a:t>EGATE  ●  NULLIFY AUTONOMOUS DEFENSE</a:t>
            </a:r>
            <a:r>
              <a:rPr b="0" i="1" lang="en-US" sz="1000" strike="noStrike" u="none">
                <a:solidFill>
                  <a:srgbClr val="555048"/>
                </a:solidFill>
                <a:effectLst/>
                <a:uFillTx/>
                <a:latin typeface="Georgia"/>
              </a:rPr>
              <a:t>                               See it. Trace it. Nullify it.                               </a:t>
            </a:r>
            <a:r>
              <a:rPr b="0" lang="en-US" sz="950" strike="noStrike" u="none">
                <a:solidFill>
                  <a:srgbClr val="827c73"/>
                </a:solidFill>
                <a:effectLst/>
                <a:uFillTx/>
                <a:latin typeface="Consolas"/>
              </a:rPr>
              <a:t>08 /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8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2"/>
          <p:cNvSpPr/>
          <p:nvPr/>
        </p:nvSpPr>
        <p:spPr>
          <a:xfrm>
            <a:off x="822960" y="5029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059669"/>
                </a:solidFill>
                <a:effectLst/>
                <a:uFillTx/>
                <a:latin typeface="Consolas"/>
              </a:rPr>
              <a:t>●  BENCHMARKS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3"/>
          <p:cNvSpPr/>
          <p:nvPr/>
        </p:nvSpPr>
        <p:spPr>
          <a:xfrm>
            <a:off x="822960" y="82296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14110d"/>
                </a:solidFill>
                <a:effectLst/>
                <a:uFillTx/>
                <a:latin typeface="Georgia"/>
              </a:rPr>
              <a:t>How Nullify Compares to the Rest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4"/>
          <p:cNvSpPr/>
          <p:nvPr/>
        </p:nvSpPr>
        <p:spPr>
          <a:xfrm>
            <a:off x="822960" y="1645920"/>
            <a:ext cx="3382920" cy="146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5"/>
          <p:cNvSpPr/>
          <p:nvPr/>
        </p:nvSpPr>
        <p:spPr>
          <a:xfrm>
            <a:off x="1051560" y="1783080"/>
            <a:ext cx="2925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59669"/>
                </a:solidFill>
                <a:effectLst/>
                <a:uFillTx/>
                <a:latin typeface="Georgia"/>
              </a:rPr>
              <a:t>13.2 ms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1" lang="en-US" sz="13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FULL TRIAGE TIME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Complete static inspection &amp; hashing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6"/>
          <p:cNvSpPr/>
          <p:nvPr/>
        </p:nvSpPr>
        <p:spPr>
          <a:xfrm>
            <a:off x="4434840" y="1645920"/>
            <a:ext cx="3382920" cy="146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7"/>
          <p:cNvSpPr/>
          <p:nvPr/>
        </p:nvSpPr>
        <p:spPr>
          <a:xfrm>
            <a:off x="4663440" y="1783080"/>
            <a:ext cx="2925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2563eb"/>
                </a:solidFill>
                <a:effectLst/>
                <a:uFillTx/>
                <a:latin typeface="Georgia"/>
              </a:rPr>
              <a:t>75 files / sec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1" lang="en-US" sz="13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SINGLE-CORE THROUGHPUT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Millions of files processed daily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8"/>
          <p:cNvSpPr/>
          <p:nvPr/>
        </p:nvSpPr>
        <p:spPr>
          <a:xfrm>
            <a:off x="8046720" y="1645920"/>
            <a:ext cx="3382920" cy="146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9"/>
          <p:cNvSpPr/>
          <p:nvPr/>
        </p:nvSpPr>
        <p:spPr>
          <a:xfrm>
            <a:off x="8275320" y="1783080"/>
            <a:ext cx="2925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d97706"/>
                </a:solidFill>
                <a:effectLst/>
                <a:uFillTx/>
                <a:latin typeface="Georgia"/>
              </a:rPr>
              <a:t>62 / 62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1" lang="en-US" sz="13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AUTOMATED TESTS PASSING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100% test suite reliability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10"/>
          <p:cNvSpPr/>
          <p:nvPr/>
        </p:nvSpPr>
        <p:spPr>
          <a:xfrm>
            <a:off x="822960" y="3337560"/>
            <a:ext cx="10545480" cy="2742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11"/>
          <p:cNvSpPr/>
          <p:nvPr/>
        </p:nvSpPr>
        <p:spPr>
          <a:xfrm>
            <a:off x="1097280" y="3520440"/>
            <a:ext cx="100580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059669"/>
                </a:solidFill>
                <a:effectLst/>
                <a:uFillTx/>
                <a:latin typeface="Consolas"/>
              </a:rPr>
              <a:t>SPEED &amp; CAPABILITY SHOWDOWN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1300" strike="noStrike" u="none">
                <a:solidFill>
                  <a:srgbClr val="059669"/>
                </a:solidFill>
                <a:effectLst/>
                <a:uFillTx/>
                <a:latin typeface="Consolas"/>
              </a:rPr>
              <a:t>Nullify (Our System)         | 13.2 ms        | Catches Zero-Days          | Auto-Writes YARA Rules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300" strike="noStrike" u="none">
                <a:solidFill>
                  <a:srgbClr val="555048"/>
                </a:solidFill>
                <a:effectLst/>
                <a:uFillTx/>
                <a:latin typeface="Consolas"/>
              </a:rPr>
              <a:t>Traditional Antivirus        | 5.0 ms         | Blind to New Malware       | No YARA Rules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300" strike="noStrike" u="none">
                <a:solidFill>
                  <a:srgbClr val="555048"/>
                </a:solidFill>
                <a:effectLst/>
                <a:uFillTx/>
                <a:latin typeface="Consolas"/>
              </a:rPr>
              <a:t>Cloud Sandboxes (Cuckoo)     | 15 Minutes     | Too Slow for Edge Routers  | Raw Log Dumps Only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300" strike="noStrike" u="none">
                <a:solidFill>
                  <a:srgbClr val="555048"/>
                </a:solidFill>
                <a:effectLst/>
                <a:uFillTx/>
                <a:latin typeface="Consolas"/>
              </a:rPr>
              <a:t>Standard Python Tools        | 85.0 ms        | High Memory / Crashes      | Manual Scripting Required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12"/>
          <p:cNvSpPr/>
          <p:nvPr/>
        </p:nvSpPr>
        <p:spPr>
          <a:xfrm>
            <a:off x="822960" y="6263640"/>
            <a:ext cx="10545480" cy="9000"/>
          </a:xfrm>
          <a:prstGeom prst="rect">
            <a:avLst/>
          </a:prstGeom>
          <a:solidFill>
            <a:srgbClr val="e2dc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13"/>
          <p:cNvSpPr/>
          <p:nvPr/>
        </p:nvSpPr>
        <p:spPr>
          <a:xfrm>
            <a:off x="822960" y="6327720"/>
            <a:ext cx="1054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827c73"/>
                </a:solidFill>
                <a:effectLst/>
                <a:uFillTx/>
                <a:latin typeface="Consolas"/>
              </a:rPr>
              <a:t>EGATE  ●  NULLIFY AUTONOMOUS DEFENSE</a:t>
            </a:r>
            <a:r>
              <a:rPr b="0" i="1" lang="en-US" sz="1000" strike="noStrike" u="none">
                <a:solidFill>
                  <a:srgbClr val="555048"/>
                </a:solidFill>
                <a:effectLst/>
                <a:uFillTx/>
                <a:latin typeface="Georgia"/>
              </a:rPr>
              <a:t>                               See it. Trace it. Nullify it.                               </a:t>
            </a:r>
            <a:r>
              <a:rPr b="0" lang="en-US" sz="950" strike="noStrike" u="none">
                <a:solidFill>
                  <a:srgbClr val="827c73"/>
                </a:solidFill>
                <a:effectLst/>
                <a:uFillTx/>
                <a:latin typeface="Consolas"/>
              </a:rPr>
              <a:t>09 /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8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2"/>
          <p:cNvSpPr/>
          <p:nvPr/>
        </p:nvSpPr>
        <p:spPr>
          <a:xfrm>
            <a:off x="822960" y="5029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059669"/>
                </a:solidFill>
                <a:effectLst/>
                <a:uFillTx/>
                <a:latin typeface="Consolas"/>
              </a:rPr>
              <a:t>●  USER EXPERIENCE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3"/>
          <p:cNvSpPr/>
          <p:nvPr/>
        </p:nvSpPr>
        <p:spPr>
          <a:xfrm>
            <a:off x="822960" y="82296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14110d"/>
                </a:solidFill>
                <a:effectLst/>
                <a:uFillTx/>
                <a:latin typeface="Georgia"/>
              </a:rPr>
              <a:t>Two Intuitive Ways to Use Nullify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ounded Rectangle 4"/>
          <p:cNvSpPr/>
          <p:nvPr/>
        </p:nvSpPr>
        <p:spPr>
          <a:xfrm>
            <a:off x="822960" y="1645920"/>
            <a:ext cx="5120280" cy="443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ounded Rectangle 5"/>
          <p:cNvSpPr/>
          <p:nvPr/>
        </p:nvSpPr>
        <p:spPr>
          <a:xfrm>
            <a:off x="1097280" y="1874520"/>
            <a:ext cx="2925720" cy="31968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059669"/>
                </a:solidFill>
                <a:effectLst/>
                <a:uFillTx/>
                <a:latin typeface="Consolas"/>
              </a:rPr>
              <a:t>[ WEB INTERFACE ]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6"/>
          <p:cNvSpPr/>
          <p:nvPr/>
        </p:nvSpPr>
        <p:spPr>
          <a:xfrm>
            <a:off x="1097280" y="2331720"/>
            <a:ext cx="457164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Luxury Web Dashboard (localhost:8000)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35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• Drag-and-Drop Scanning: Drop any file to see real-time analysis in milliseconds.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35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• Live Confidence Radar: See risk percentage and threat family classification clearly.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35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• Built-in Demo Samples: One-click buttons to test safe trojans, ransomware, and benign files.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35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• 1-Click YARA Copy: Instantly copy auto-generated rules to your clipboard.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ounded Rectangle 7"/>
          <p:cNvSpPr/>
          <p:nvPr/>
        </p:nvSpPr>
        <p:spPr>
          <a:xfrm>
            <a:off x="6245280" y="1645920"/>
            <a:ext cx="5120280" cy="4434480"/>
          </a:xfrm>
          <a:prstGeom prst="roundRect">
            <a:avLst>
              <a:gd name="adj" fmla="val 16667"/>
            </a:avLst>
          </a:prstGeom>
          <a:solidFill>
            <a:srgbClr val="14110d"/>
          </a:solidFill>
          <a:ln w="12700">
            <a:solidFill>
              <a:srgbClr val="322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8"/>
          <p:cNvSpPr/>
          <p:nvPr/>
        </p:nvSpPr>
        <p:spPr>
          <a:xfrm>
            <a:off x="6519600" y="1920240"/>
            <a:ext cx="45716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10b981"/>
                </a:solidFill>
                <a:effectLst/>
                <a:uFillTx/>
                <a:latin typeface="Consolas"/>
              </a:rPr>
              <a:t>[ TERMINAL INTERFACE ]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1" lang="en-US" sz="2000" strike="noStrike" u="none">
                <a:solidFill>
                  <a:srgbClr val="faf8f5"/>
                </a:solidFill>
                <a:effectLst/>
                <a:uFillTx/>
                <a:latin typeface="Segoe UI"/>
              </a:rPr>
              <a:t>Single-Command CLI ($ nullify)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11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$ nullify</a:t>
            </a:r>
            <a:br>
              <a:rPr sz="1100"/>
            </a:br>
            <a:r>
              <a:rPr b="0" lang="en-US" sz="11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========================================</a:t>
            </a:r>
            <a:br>
              <a:rPr sz="1100"/>
            </a:br>
            <a:r>
              <a:rPr b="0" lang="en-US" sz="11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   See it. Trace it. Nullify it.</a:t>
            </a:r>
            <a:br>
              <a:rPr sz="1100"/>
            </a:br>
            <a:r>
              <a:rPr b="0" lang="en-US" sz="11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========================================</a:t>
            </a:r>
            <a:br>
              <a:rPr sz="1100"/>
            </a:br>
            <a:r>
              <a:rPr b="0" lang="en-US" sz="11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[1] Quick Scan</a:t>
            </a:r>
            <a:br>
              <a:rPr sz="1100"/>
            </a:br>
            <a:r>
              <a:rPr b="0" lang="en-US" sz="11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[2] Deep Detonation</a:t>
            </a:r>
            <a:br>
              <a:rPr sz="1100"/>
            </a:br>
            <a:r>
              <a:rPr b="0" lang="en-US" sz="11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[3] Behavioral Log</a:t>
            </a:r>
            <a:br>
              <a:rPr sz="1100"/>
            </a:br>
            <a:r>
              <a:rPr b="0" lang="en-US" sz="11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[4] Batch Scan Folder</a:t>
            </a:r>
            <a:br>
              <a:rPr sz="1100"/>
            </a:br>
            <a:r>
              <a:rPr b="0" lang="en-US" sz="11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[5] Launch Web Console</a:t>
            </a:r>
            <a:br>
              <a:rPr sz="1100"/>
            </a:br>
            <a:r>
              <a:rPr b="0" lang="en-US" sz="11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[0] Exit</a:t>
            </a:r>
            <a:br>
              <a:rPr sz="1100"/>
            </a:br>
            <a:br>
              <a:rPr sz="1100"/>
            </a:br>
            <a:r>
              <a:rPr b="0" lang="en-US" sz="11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Select option: 1</a:t>
            </a:r>
            <a:br>
              <a:rPr sz="1100"/>
            </a:br>
            <a:r>
              <a:rPr b="0" lang="en-US" sz="11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&gt; Scanning suspicious_binary.exe ...</a:t>
            </a:r>
            <a:br>
              <a:rPr sz="1100"/>
            </a:br>
            <a:r>
              <a:rPr b="0" lang="en-US" sz="11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&gt; VERDICT: MALICIOUS (98.4% Confidence)</a:t>
            </a:r>
            <a:br>
              <a:rPr sz="1100"/>
            </a:br>
            <a:r>
              <a:rPr b="0" lang="en-US" sz="110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&gt; Parsed in 0.1ms • YARA Rule Created!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9"/>
          <p:cNvSpPr/>
          <p:nvPr/>
        </p:nvSpPr>
        <p:spPr>
          <a:xfrm>
            <a:off x="822960" y="6263640"/>
            <a:ext cx="10545480" cy="9000"/>
          </a:xfrm>
          <a:prstGeom prst="rect">
            <a:avLst/>
          </a:prstGeom>
          <a:solidFill>
            <a:srgbClr val="e2dc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10"/>
          <p:cNvSpPr/>
          <p:nvPr/>
        </p:nvSpPr>
        <p:spPr>
          <a:xfrm>
            <a:off x="822960" y="6327720"/>
            <a:ext cx="1054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827c73"/>
                </a:solidFill>
                <a:effectLst/>
                <a:uFillTx/>
                <a:latin typeface="Consolas"/>
              </a:rPr>
              <a:t>EGATE  ●  NULLIFY AUTONOMOUS DEFENSE</a:t>
            </a:r>
            <a:r>
              <a:rPr b="0" i="1" lang="en-US" sz="1000" strike="noStrike" u="none">
                <a:solidFill>
                  <a:srgbClr val="555048"/>
                </a:solidFill>
                <a:effectLst/>
                <a:uFillTx/>
                <a:latin typeface="Georgia"/>
              </a:rPr>
              <a:t>                               See it. Trace it. Nullify it.                               </a:t>
            </a:r>
            <a:r>
              <a:rPr b="0" lang="en-US" sz="950" strike="noStrike" u="none">
                <a:solidFill>
                  <a:srgbClr val="827c73"/>
                </a:solidFill>
                <a:effectLst/>
                <a:uFillTx/>
                <a:latin typeface="Consolas"/>
              </a:rPr>
              <a:t>10 /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8f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2"/>
          <p:cNvSpPr/>
          <p:nvPr/>
        </p:nvSpPr>
        <p:spPr>
          <a:xfrm>
            <a:off x="822960" y="5029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059669"/>
                </a:solidFill>
                <a:effectLst/>
                <a:uFillTx/>
                <a:latin typeface="Consolas"/>
              </a:rPr>
              <a:t>●  SECURITY &amp; PRIVACY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3"/>
          <p:cNvSpPr/>
          <p:nvPr/>
        </p:nvSpPr>
        <p:spPr>
          <a:xfrm>
            <a:off x="822960" y="82296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14110d"/>
                </a:solidFill>
                <a:effectLst/>
                <a:uFillTx/>
                <a:latin typeface="Georgia"/>
              </a:rPr>
              <a:t>Your Data Never Leaves Your Network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ounded Rectangle 4"/>
          <p:cNvSpPr/>
          <p:nvPr/>
        </p:nvSpPr>
        <p:spPr>
          <a:xfrm>
            <a:off x="822960" y="1645920"/>
            <a:ext cx="3382920" cy="443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Rounded Rectangle 5"/>
          <p:cNvSpPr/>
          <p:nvPr/>
        </p:nvSpPr>
        <p:spPr>
          <a:xfrm>
            <a:off x="1097280" y="1920240"/>
            <a:ext cx="2011320" cy="319680"/>
          </a:xfrm>
          <a:prstGeom prst="roundRect">
            <a:avLst>
              <a:gd name="adj" fmla="val 16667"/>
            </a:avLst>
          </a:prstGeom>
          <a:solidFill>
            <a:srgbClr val="f5f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059669"/>
                </a:solidFill>
                <a:effectLst/>
                <a:uFillTx/>
                <a:latin typeface="Consolas"/>
              </a:rPr>
              <a:t>[ PRIVACY ]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6"/>
          <p:cNvSpPr/>
          <p:nvPr/>
        </p:nvSpPr>
        <p:spPr>
          <a:xfrm>
            <a:off x="1097280" y="2423160"/>
            <a:ext cx="28342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059669"/>
                </a:solidFill>
                <a:effectLst/>
                <a:uFillTx/>
                <a:latin typeface="Segoe UI"/>
              </a:rPr>
              <a:t>100% Local Execution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1" lang="en-US" sz="14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Zero Cloud Telemetry Leakage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135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Hospitals, defense contractors, and banks cannot upload confidential files to public cloud APIs. Nullify runs 100% on your hardware. Not a single byte is sent over the internet.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ounded Rectangle 7"/>
          <p:cNvSpPr/>
          <p:nvPr/>
        </p:nvSpPr>
        <p:spPr>
          <a:xfrm>
            <a:off x="4434840" y="1645920"/>
            <a:ext cx="3382920" cy="443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Rounded Rectangle 8"/>
          <p:cNvSpPr/>
          <p:nvPr/>
        </p:nvSpPr>
        <p:spPr>
          <a:xfrm>
            <a:off x="4709160" y="1920240"/>
            <a:ext cx="2011320" cy="319680"/>
          </a:xfrm>
          <a:prstGeom prst="roundRect">
            <a:avLst>
              <a:gd name="adj" fmla="val 16667"/>
            </a:avLst>
          </a:prstGeom>
          <a:solidFill>
            <a:srgbClr val="f5f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2563eb"/>
                </a:solidFill>
                <a:effectLst/>
                <a:uFillTx/>
                <a:latin typeface="Consolas"/>
              </a:rPr>
              <a:t>[ INTEGRATION ]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9"/>
          <p:cNvSpPr/>
          <p:nvPr/>
        </p:nvSpPr>
        <p:spPr>
          <a:xfrm>
            <a:off x="4709160" y="2423160"/>
            <a:ext cx="28342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2563eb"/>
                </a:solidFill>
                <a:effectLst/>
                <a:uFillTx/>
                <a:latin typeface="Segoe UI"/>
              </a:rPr>
              <a:t>SIEM &amp; SOAR Ready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1" lang="en-US" sz="14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Production REST API Built In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135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Built with FastAPI and OpenAPI. Exposes clean REST endpoints so your security operations team can integrate it with Splunk, Microsoft Sentinel, or Cortex XSOAR in minutes.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10"/>
          <p:cNvSpPr/>
          <p:nvPr/>
        </p:nvSpPr>
        <p:spPr>
          <a:xfrm>
            <a:off x="8046720" y="1645920"/>
            <a:ext cx="3382920" cy="443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dcd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Rounded Rectangle 11"/>
          <p:cNvSpPr/>
          <p:nvPr/>
        </p:nvSpPr>
        <p:spPr>
          <a:xfrm>
            <a:off x="8321040" y="1920240"/>
            <a:ext cx="2011320" cy="319680"/>
          </a:xfrm>
          <a:prstGeom prst="roundRect">
            <a:avLst>
              <a:gd name="adj" fmla="val 16667"/>
            </a:avLst>
          </a:prstGeom>
          <a:solidFill>
            <a:srgbClr val="f5f1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d97706"/>
                </a:solidFill>
                <a:effectLst/>
                <a:uFillTx/>
                <a:latin typeface="Consolas"/>
              </a:rPr>
              <a:t>[ DEPLOYMENT ]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2"/>
          <p:cNvSpPr/>
          <p:nvPr/>
        </p:nvSpPr>
        <p:spPr>
          <a:xfrm>
            <a:off x="8321040" y="2423160"/>
            <a:ext cx="28342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d97706"/>
                </a:solidFill>
                <a:effectLst/>
                <a:uFillTx/>
                <a:latin typeface="Segoe UI"/>
              </a:rPr>
              <a:t>Air-Gapped &amp; Offline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1" lang="en-US" sz="1400" strike="noStrike" u="none">
                <a:solidFill>
                  <a:srgbClr val="14110d"/>
                </a:solidFill>
                <a:effectLst/>
                <a:uFillTx/>
                <a:latin typeface="Segoe UI"/>
              </a:rPr>
              <a:t>Docker &amp; Containerized Core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1350" strike="noStrike" u="none">
                <a:solidFill>
                  <a:srgbClr val="555048"/>
                </a:solidFill>
                <a:effectLst/>
                <a:uFillTx/>
                <a:latin typeface="Segoe UI"/>
              </a:rPr>
              <a:t>Ships as a lightweight Docker container or standalone binary. Operates seamlessly inside secure, offline, air-gapped data centers with zero external dependencies.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13"/>
          <p:cNvSpPr/>
          <p:nvPr/>
        </p:nvSpPr>
        <p:spPr>
          <a:xfrm>
            <a:off x="822960" y="6263640"/>
            <a:ext cx="10545480" cy="9000"/>
          </a:xfrm>
          <a:prstGeom prst="rect">
            <a:avLst/>
          </a:prstGeom>
          <a:solidFill>
            <a:srgbClr val="e2dc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14"/>
          <p:cNvSpPr/>
          <p:nvPr/>
        </p:nvSpPr>
        <p:spPr>
          <a:xfrm>
            <a:off x="822960" y="6327720"/>
            <a:ext cx="1054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827c73"/>
                </a:solidFill>
                <a:effectLst/>
                <a:uFillTx/>
                <a:latin typeface="Consolas"/>
              </a:rPr>
              <a:t>EGATE  ●  NULLIFY AUTONOMOUS DEFENSE</a:t>
            </a:r>
            <a:r>
              <a:rPr b="0" i="1" lang="en-US" sz="1000" strike="noStrike" u="none">
                <a:solidFill>
                  <a:srgbClr val="555048"/>
                </a:solidFill>
                <a:effectLst/>
                <a:uFillTx/>
                <a:latin typeface="Georgia"/>
              </a:rPr>
              <a:t>                               See it. Trace it. Nullify it.                               </a:t>
            </a:r>
            <a:r>
              <a:rPr b="0" lang="en-US" sz="950" strike="noStrike" u="none">
                <a:solidFill>
                  <a:srgbClr val="827c73"/>
                </a:solidFill>
                <a:effectLst/>
                <a:uFillTx/>
                <a:latin typeface="Consolas"/>
              </a:rPr>
              <a:t>11 /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1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Rounded Rectangle 2"/>
          <p:cNvSpPr/>
          <p:nvPr/>
        </p:nvSpPr>
        <p:spPr>
          <a:xfrm>
            <a:off x="548640" y="548640"/>
            <a:ext cx="11094120" cy="5760360"/>
          </a:xfrm>
          <a:prstGeom prst="roundRect">
            <a:avLst>
              <a:gd name="adj" fmla="val 16667"/>
            </a:avLst>
          </a:prstGeom>
          <a:solidFill>
            <a:srgbClr val="14110d"/>
          </a:solidFill>
          <a:ln w="19050">
            <a:solidFill>
              <a:srgbClr val="322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Rounded Rectangle 3"/>
          <p:cNvSpPr/>
          <p:nvPr/>
        </p:nvSpPr>
        <p:spPr>
          <a:xfrm>
            <a:off x="1005840" y="914400"/>
            <a:ext cx="237708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14" name="Picture 4" descr="egate logo.png"/>
          <p:cNvPicPr/>
          <p:nvPr/>
        </p:nvPicPr>
        <p:blipFill>
          <a:blip r:embed="rId1"/>
          <a:stretch/>
        </p:blipFill>
        <p:spPr>
          <a:xfrm>
            <a:off x="1603440" y="960120"/>
            <a:ext cx="11822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Rounded Rectangle 5"/>
          <p:cNvSpPr/>
          <p:nvPr/>
        </p:nvSpPr>
        <p:spPr>
          <a:xfrm>
            <a:off x="3566160" y="1234440"/>
            <a:ext cx="2559960" cy="365400"/>
          </a:xfrm>
          <a:prstGeom prst="roundRect">
            <a:avLst>
              <a:gd name="adj" fmla="val 16667"/>
            </a:avLst>
          </a:prstGeom>
          <a:solidFill>
            <a:srgbClr val="1f1a14"/>
          </a:solidFill>
          <a:ln w="12700">
            <a:solidFill>
              <a:srgbClr val="322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10b981"/>
                </a:solidFill>
                <a:effectLst/>
                <a:uFillTx/>
                <a:latin typeface="Consolas"/>
              </a:rPr>
              <a:t>●  READY FOR LIVE DEMO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Rounded Rectangle 6"/>
          <p:cNvSpPr/>
          <p:nvPr/>
        </p:nvSpPr>
        <p:spPr>
          <a:xfrm>
            <a:off x="6263640" y="1234440"/>
            <a:ext cx="2194200" cy="365400"/>
          </a:xfrm>
          <a:prstGeom prst="roundRect">
            <a:avLst>
              <a:gd name="adj" fmla="val 16667"/>
            </a:avLst>
          </a:prstGeom>
          <a:solidFill>
            <a:srgbClr val="1f1a14"/>
          </a:solidFill>
          <a:ln w="12700">
            <a:solidFill>
              <a:srgbClr val="322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bfb9af"/>
                </a:solidFill>
                <a:effectLst/>
                <a:uFillTx/>
                <a:latin typeface="Consolas"/>
              </a:rPr>
              <a:t>EGATE &amp; NULLIFY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7"/>
          <p:cNvSpPr/>
          <p:nvPr/>
        </p:nvSpPr>
        <p:spPr>
          <a:xfrm>
            <a:off x="1005840" y="2148840"/>
            <a:ext cx="100580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400" strike="noStrike" u="none">
                <a:solidFill>
                  <a:srgbClr val="faf8f5"/>
                </a:solidFill>
                <a:effectLst/>
                <a:uFillTx/>
                <a:latin typeface="Georgia"/>
              </a:rPr>
              <a:t>Let's Run a Live Test.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2000" strike="noStrike" u="none">
                <a:solidFill>
                  <a:srgbClr val="bfb9af"/>
                </a:solidFill>
                <a:effectLst/>
                <a:uFillTx/>
                <a:latin typeface="Segoe UI"/>
              </a:rPr>
              <a:t>Pick any file. Watch Nullify inspect, classify, and neutralize it in milliseconds.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ounded Rectangle 8"/>
          <p:cNvSpPr/>
          <p:nvPr/>
        </p:nvSpPr>
        <p:spPr>
          <a:xfrm>
            <a:off x="1005840" y="3931920"/>
            <a:ext cx="3291480" cy="1325520"/>
          </a:xfrm>
          <a:prstGeom prst="roundRect">
            <a:avLst>
              <a:gd name="adj" fmla="val 16667"/>
            </a:avLst>
          </a:prstGeom>
          <a:solidFill>
            <a:srgbClr val="1f1a14"/>
          </a:solidFill>
          <a:ln w="12700">
            <a:solidFill>
              <a:srgbClr val="322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9"/>
          <p:cNvSpPr/>
          <p:nvPr/>
        </p:nvSpPr>
        <p:spPr>
          <a:xfrm>
            <a:off x="1234440" y="4069080"/>
            <a:ext cx="28342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10b981"/>
                </a:solidFill>
                <a:effectLst/>
                <a:uFillTx/>
                <a:latin typeface="Consolas"/>
              </a:rPr>
              <a:t>[ 01 // PRODUCTION ]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1" lang="en-US" sz="1550" strike="noStrike" u="none">
                <a:solidFill>
                  <a:srgbClr val="faf8f5"/>
                </a:solidFill>
                <a:effectLst/>
                <a:uFillTx/>
                <a:latin typeface="Segoe UI"/>
              </a:rPr>
              <a:t>Fully Functional Now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trike="noStrike" u="none">
                <a:solidFill>
                  <a:srgbClr val="bfb9af"/>
                </a:solidFill>
                <a:effectLst/>
                <a:uFillTx/>
                <a:latin typeface="Segoe UI"/>
              </a:rPr>
              <a:t>Web console, CLI, and C-engine are compiled and running live right now.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10"/>
          <p:cNvSpPr/>
          <p:nvPr/>
        </p:nvSpPr>
        <p:spPr>
          <a:xfrm>
            <a:off x="4480560" y="3931920"/>
            <a:ext cx="3291480" cy="1325520"/>
          </a:xfrm>
          <a:prstGeom prst="roundRect">
            <a:avLst>
              <a:gd name="adj" fmla="val 16667"/>
            </a:avLst>
          </a:prstGeom>
          <a:solidFill>
            <a:srgbClr val="1f1a14"/>
          </a:solidFill>
          <a:ln w="12700">
            <a:solidFill>
              <a:srgbClr val="322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11"/>
          <p:cNvSpPr/>
          <p:nvPr/>
        </p:nvSpPr>
        <p:spPr>
          <a:xfrm>
            <a:off x="4709160" y="4069080"/>
            <a:ext cx="28342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10b981"/>
                </a:solidFill>
                <a:effectLst/>
                <a:uFillTx/>
                <a:latin typeface="Consolas"/>
              </a:rPr>
              <a:t>[ 02 // QUALITY ]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1" lang="en-US" sz="1550" strike="noStrike" u="none">
                <a:solidFill>
                  <a:srgbClr val="faf8f5"/>
                </a:solidFill>
                <a:effectLst/>
                <a:uFillTx/>
                <a:latin typeface="Segoe UI"/>
              </a:rPr>
              <a:t>62 / 62 Tests Green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trike="noStrike" u="none">
                <a:solidFill>
                  <a:srgbClr val="bfb9af"/>
                </a:solidFill>
                <a:effectLst/>
                <a:uFillTx/>
                <a:latin typeface="Segoe UI"/>
              </a:rPr>
              <a:t>Comprehensive automated test suite guarantees zero regressions.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12"/>
          <p:cNvSpPr/>
          <p:nvPr/>
        </p:nvSpPr>
        <p:spPr>
          <a:xfrm>
            <a:off x="7955280" y="3931920"/>
            <a:ext cx="3291480" cy="1325520"/>
          </a:xfrm>
          <a:prstGeom prst="roundRect">
            <a:avLst>
              <a:gd name="adj" fmla="val 16667"/>
            </a:avLst>
          </a:prstGeom>
          <a:solidFill>
            <a:srgbClr val="1f1a14"/>
          </a:solidFill>
          <a:ln w="12700">
            <a:solidFill>
              <a:srgbClr val="322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13"/>
          <p:cNvSpPr/>
          <p:nvPr/>
        </p:nvSpPr>
        <p:spPr>
          <a:xfrm>
            <a:off x="8183880" y="4069080"/>
            <a:ext cx="28342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trike="noStrike" u="none">
                <a:solidFill>
                  <a:srgbClr val="10b981"/>
                </a:solidFill>
                <a:effectLst/>
                <a:uFillTx/>
                <a:latin typeface="Consolas"/>
              </a:rPr>
              <a:t>[ 03 // OPEN CODE ]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b="1" lang="en-US" sz="1550" strike="noStrike" u="none">
                <a:solidFill>
                  <a:srgbClr val="faf8f5"/>
                </a:solidFill>
                <a:effectLst/>
                <a:uFillTx/>
                <a:latin typeface="Segoe UI"/>
              </a:rPr>
              <a:t>Verified on GitHub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200" strike="noStrike" u="none">
                <a:solidFill>
                  <a:srgbClr val="bfb9af"/>
                </a:solidFill>
                <a:effectLst/>
                <a:uFillTx/>
                <a:latin typeface="Segoe UI"/>
              </a:rPr>
              <a:t>Clean, documented, production-ready codebase ready for inspection.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ounded Rectangle 14"/>
          <p:cNvSpPr/>
          <p:nvPr/>
        </p:nvSpPr>
        <p:spPr>
          <a:xfrm>
            <a:off x="1005840" y="5394960"/>
            <a:ext cx="10179720" cy="685440"/>
          </a:xfrm>
          <a:prstGeom prst="roundRect">
            <a:avLst>
              <a:gd name="adj" fmla="val 16667"/>
            </a:avLst>
          </a:prstGeom>
          <a:solidFill>
            <a:srgbClr val="1f1a14"/>
          </a:solidFill>
          <a:ln w="12700">
            <a:solidFill>
              <a:srgbClr val="322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15"/>
          <p:cNvSpPr/>
          <p:nvPr/>
        </p:nvSpPr>
        <p:spPr>
          <a:xfrm>
            <a:off x="1188720" y="5532120"/>
            <a:ext cx="9783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0b981"/>
                </a:solidFill>
                <a:effectLst/>
                <a:uFillTx/>
                <a:latin typeface="Consolas"/>
              </a:rPr>
              <a:t>TRY IT LIVE: </a:t>
            </a:r>
            <a:r>
              <a:rPr b="0" lang="en-US" sz="1200" strike="noStrike" u="none">
                <a:solidFill>
                  <a:srgbClr val="faf8f5"/>
                </a:solidFill>
                <a:effectLst/>
                <a:uFillTx/>
                <a:latin typeface="Consolas"/>
              </a:rPr>
              <a:t>Terminal: $ nullify   |   Web: http://localhost:8000   |   GitHub: Nate-br/nullify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16"/>
          <p:cNvSpPr/>
          <p:nvPr/>
        </p:nvSpPr>
        <p:spPr>
          <a:xfrm>
            <a:off x="822960" y="6263640"/>
            <a:ext cx="10545480" cy="9000"/>
          </a:xfrm>
          <a:prstGeom prst="rect">
            <a:avLst/>
          </a:prstGeom>
          <a:solidFill>
            <a:srgbClr val="322b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17"/>
          <p:cNvSpPr/>
          <p:nvPr/>
        </p:nvSpPr>
        <p:spPr>
          <a:xfrm>
            <a:off x="822960" y="6327720"/>
            <a:ext cx="1054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50" strike="noStrike" u="none">
                <a:solidFill>
                  <a:srgbClr val="7d776e"/>
                </a:solidFill>
                <a:effectLst/>
                <a:uFillTx/>
                <a:latin typeface="Consolas"/>
              </a:rPr>
              <a:t>EGATE  ●  NULLIFY AUTONOMOUS DEFENSE</a:t>
            </a:r>
            <a:r>
              <a:rPr b="0" i="1" lang="en-US" sz="1000" strike="noStrike" u="none">
                <a:solidFill>
                  <a:srgbClr val="bfb9af"/>
                </a:solidFill>
                <a:effectLst/>
                <a:uFillTx/>
                <a:latin typeface="Georgia"/>
              </a:rPr>
              <a:t>                               See it. Trace it. Nullify it.                               </a:t>
            </a:r>
            <a:r>
              <a:rPr b="0" lang="en-US" sz="950" strike="noStrike" u="none">
                <a:solidFill>
                  <a:srgbClr val="7d776e"/>
                </a:solidFill>
                <a:effectLst/>
                <a:uFillTx/>
                <a:latin typeface="Consolas"/>
              </a:rPr>
              <a:t>12 / 12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2026-09-15T10:58:26Z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